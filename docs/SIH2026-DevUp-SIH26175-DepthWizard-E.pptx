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project5.zaidansari.tech" TargetMode="External"/><Relationship Id="rId5" Type="http://schemas.openxmlformats.org/officeDocument/2006/relationships/hyperlink" Target="https://project5.zaidansari.tech/documentation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6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4.png"/><Relationship Id="rId14" Type="http://schemas.openxmlformats.org/officeDocument/2006/relationships/image" Target="../media/image5.png"/><Relationship Id="rId15" Type="http://schemas.openxmlformats.org/officeDocument/2006/relationships/image" Target="../media/image7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27.png"/><Relationship Id="rId24" Type="http://schemas.openxmlformats.org/officeDocument/2006/relationships/image" Target="../media/image28.png"/><Relationship Id="rId25" Type="http://schemas.openxmlformats.org/officeDocument/2006/relationships/image" Target="../media/image29.png"/><Relationship Id="rId26" Type="http://schemas.openxmlformats.org/officeDocument/2006/relationships/image" Target="../media/image30.png"/><Relationship Id="rId27" Type="http://schemas.openxmlformats.org/officeDocument/2006/relationships/hyperlink" Target="https://project5.zaidansari.tech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8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14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hyperlink" Target="https://youtu.be/4NpR74MS5oE" TargetMode="External"/><Relationship Id="rId9" Type="http://schemas.openxmlformats.org/officeDocument/2006/relationships/hyperlink" Target="https://project5.zaidansari.tech" TargetMode="External"/><Relationship Id="rId10" Type="http://schemas.openxmlformats.org/officeDocument/2006/relationships/hyperlink" Target="https://project5.zaidansari.tech/documentation/" TargetMode="External"/><Relationship Id="rId11" Type="http://schemas.openxmlformats.org/officeDocument/2006/relationships/hyperlink" Target="https://github.com/zaidnansari2011/sih2026-depthwizard/blob/master/docs/evidence-pack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Relationship Id="rId7" Type="http://schemas.openxmlformats.org/officeDocument/2006/relationships/hyperlink" Target="https://project5.zaidansari.tech/document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1620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:</a:t>
            </a:r>
            <a:r>
              <a:rPr b="1" u="none" sz="2000">
                <a:solidFill>
                  <a:srgbClr val="2B4A74"/>
                </a:solidFill>
                <a:latin typeface="Arial"/>
              </a:rPr>
              <a:t> SIH26175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 :</a:t>
            </a:r>
            <a:r>
              <a:rPr b="1" u="none" sz="2000">
                <a:solidFill>
                  <a:srgbClr val="2B4A74"/>
                </a:solidFill>
                <a:latin typeface="Arial"/>
              </a:rPr>
              <a:t> DepthWizard - Single-View Height Estimation and 3D Flythrough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:</a:t>
            </a:r>
            <a:r>
              <a:rPr b="1" u="none" sz="2000">
                <a:solidFill>
                  <a:srgbClr val="2B4A74"/>
                </a:solidFill>
                <a:latin typeface="Arial"/>
              </a:rPr>
              <a:t> Disaster Management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:</a:t>
            </a:r>
            <a:r>
              <a:rPr b="1" u="none" sz="2000">
                <a:solidFill>
                  <a:srgbClr val="2B4A74"/>
                </a:solidFill>
                <a:latin typeface="Arial"/>
              </a:rPr>
              <a:t> Software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 :</a:t>
            </a:r>
            <a:r>
              <a:rPr b="1" u="none" sz="2000">
                <a:solidFill>
                  <a:srgbClr val="2B4A74"/>
                </a:solidFill>
                <a:latin typeface="Arial"/>
              </a:rPr>
              <a:t> 129655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:</a:t>
            </a:r>
            <a:r>
              <a:rPr b="1" u="none" sz="2000">
                <a:solidFill>
                  <a:srgbClr val="2B4A74"/>
                </a:solidFill>
                <a:latin typeface="Arial"/>
              </a:rPr>
              <a:t> Dev Up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65760" y="5440680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 i="0">
                <a:solidFill>
                  <a:srgbClr val="C1440E"/>
                </a:solidFill>
                <a:latin typeface="Franklin Gothic Demi Cond"/>
              </a:rPr>
              <a:t>LIVE  </a:t>
            </a:r>
            <a:r>
              <a:rPr sz="840" b="0" i="0">
                <a:solidFill>
                  <a:srgbClr val="2E6E92"/>
                </a:solidFill>
                <a:latin typeface="Segoe UI Semibold"/>
                <a:hlinkClick r:id="rId4"/>
              </a:rPr>
              <a:t>project5.zaidansari.tech</a:t>
            </a:r>
            <a:r>
              <a:rPr sz="940" b="0" i="0">
                <a:solidFill>
                  <a:srgbClr val="C1440E"/>
                </a:solidFill>
                <a:latin typeface="Franklin Gothic Demi Cond"/>
              </a:rPr>
              <a:t>      DOCS  </a:t>
            </a:r>
            <a:r>
              <a:rPr sz="840" b="0" i="0">
                <a:solidFill>
                  <a:srgbClr val="2E6E92"/>
                </a:solidFill>
                <a:latin typeface="Segoe UI Semibold"/>
                <a:hlinkClick r:id="rId5"/>
              </a:rPr>
              <a:t>project5.zaidansari.tech/documentation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691640" y="256032"/>
            <a:ext cx="7955279" cy="768096"/>
          </a:xfrm>
          <a:prstGeom prst="roundRect">
            <a:avLst>
              <a:gd name="adj" fmla="val 11904"/>
            </a:avLst>
          </a:prstGeom>
          <a:solidFill>
            <a:srgbClr val="ECF1F5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892808" y="402336"/>
            <a:ext cx="2651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500" b="0" i="0">
                <a:solidFill>
                  <a:srgbClr val="0E2A3F"/>
                </a:solidFill>
                <a:latin typeface="Franklin Gothic Demi"/>
              </a:rPr>
              <a:t>DEPTH</a:t>
            </a:r>
            <a:r>
              <a:rPr sz="2500" b="0" i="0">
                <a:solidFill>
                  <a:srgbClr val="C1440E"/>
                </a:solidFill>
                <a:latin typeface="Franklin Gothic Demi"/>
              </a:rPr>
              <a:t>WIZARD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402336"/>
            <a:ext cx="18288" cy="493776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27448" y="384048"/>
            <a:ext cx="47000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"/>
              </a:rPr>
              <a:t>One satellite image in, a measurable 3D surface out. </a:t>
            </a:r>
            <a:r>
              <a:rPr sz="1250" b="1" i="0">
                <a:solidFill>
                  <a:srgbClr val="C1440E"/>
                </a:solidFill>
                <a:latin typeface="Segoe UI"/>
              </a:rPr>
              <a:t>Height, how sure we are, and a scene to check it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115568"/>
            <a:ext cx="3931920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THE 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115568"/>
            <a:ext cx="7251192" cy="310896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OUR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499616"/>
            <a:ext cx="3931920" cy="2724912"/>
          </a:xfrm>
          <a:prstGeom prst="roundRect">
            <a:avLst>
              <a:gd name="adj" fmla="val 335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93776" y="1591056"/>
            <a:ext cx="45720" cy="457200"/>
          </a:xfrm>
          <a:prstGeom prst="rect">
            <a:avLst/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792" y="1554480"/>
            <a:ext cx="35661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19" b="0" i="1">
                <a:solidFill>
                  <a:srgbClr val="141B22"/>
                </a:solidFill>
                <a:latin typeface="Segoe UI"/>
              </a:rPr>
              <a:t>“[Stereo, LiDAR and InSAR] can be cost-prohibitive, dependent on specific sensor availability, and computationally intensive.”</a:t>
            </a:r>
            <a:r>
              <a:rPr sz="800" b="0" i="0">
                <a:solidFill>
                  <a:srgbClr val="55636E"/>
                </a:solidFill>
                <a:latin typeface="Segoe UI Semibold"/>
              </a:rPr>
              <a:t>
— ISRO, problem statement SIH26175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121408"/>
            <a:ext cx="3749039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48640" y="2212848"/>
            <a:ext cx="329184" cy="274320"/>
          </a:xfrm>
          <a:prstGeom prst="roundRect">
            <a:avLst>
              <a:gd name="adj" fmla="val 16666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2167127"/>
            <a:ext cx="31821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Archives with no height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2359152"/>
            <a:ext cx="3182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 b="0" i="0">
                <a:solidFill>
                  <a:srgbClr val="2A3540"/>
                </a:solidFill>
                <a:latin typeface="Segoe UI"/>
              </a:rPr>
              <a:t>Stereo and LiDAR cannot be flown into the past. Decades of Cartosat archive carry no height.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734056"/>
            <a:ext cx="3749039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48640" y="2825496"/>
            <a:ext cx="329184" cy="274320"/>
          </a:xfrm>
          <a:prstGeom prst="roundRect">
            <a:avLst>
              <a:gd name="adj" fmla="val 16666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2779775"/>
            <a:ext cx="31821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Relative depth, not metres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2971800"/>
            <a:ext cx="3182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 b="0" i="0">
                <a:solidFill>
                  <a:srgbClr val="2A3540"/>
                </a:solidFill>
                <a:latin typeface="Segoe UI"/>
              </a:rPr>
              <a:t>Depth models learn from ground-level photos. From orbit they give shape, but no metric scale.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346704"/>
            <a:ext cx="3749039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48640" y="3438144"/>
            <a:ext cx="329184" cy="274320"/>
          </a:xfrm>
          <a:prstGeom prst="roundRect">
            <a:avLst>
              <a:gd name="adj" fmla="val 16666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3392424"/>
            <a:ext cx="31821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No confidence, no 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3584448"/>
            <a:ext cx="3182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 b="0" i="0">
                <a:solidFill>
                  <a:srgbClr val="2A3540"/>
                </a:solidFill>
                <a:latin typeface="Segoe UI"/>
              </a:rPr>
              <a:t>A bare height hides where it is wrong, and a checkpoint is not a scene an analyst can open.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" y="3977639"/>
            <a:ext cx="932688" cy="182880"/>
          </a:xfrm>
          <a:prstGeom prst="roundRect">
            <a:avLst>
              <a:gd name="adj" fmla="val 25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60" b="0" i="0">
                <a:solidFill>
                  <a:srgbClr val="FFFFFF"/>
                </a:solidFill>
                <a:latin typeface="Franklin Gothic Demi Cond"/>
              </a:rPr>
              <a:t>WHO FEELS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3950208"/>
            <a:ext cx="272491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0" i="0">
                <a:solidFill>
                  <a:srgbClr val="141B22"/>
                </a:solidFill>
                <a:latin typeface="Segoe UI Semibold"/>
              </a:rPr>
              <a:t>SAC analysts · disaster responders · planners · foresters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1499616"/>
            <a:ext cx="7251192" cy="2724912"/>
          </a:xfrm>
          <a:prstGeom prst="roundRect">
            <a:avLst>
              <a:gd name="adj" fmla="val 335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663440" y="1572768"/>
            <a:ext cx="2282952" cy="1042415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7" name="Oval 36"/>
          <p:cNvSpPr/>
          <p:nvPr/>
        </p:nvSpPr>
        <p:spPr>
          <a:xfrm>
            <a:off x="4754880" y="1645920"/>
            <a:ext cx="402336" cy="40233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38" name="Picture 37" descr="image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440" y="1742480"/>
            <a:ext cx="209214" cy="20921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230368" y="1682495"/>
            <a:ext cx="16245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One image to a metric DSM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1455" y="2103120"/>
            <a:ext cx="2026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2A3540"/>
                </a:solidFill>
                <a:latin typeface="Segoe UI"/>
              </a:rPr>
              <a:t>Depth Anything V2, fine-tuned on airborne-LiDAR heights. GeoTIFF out, metadata or not.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56120" y="1572768"/>
            <a:ext cx="2282952" cy="1042415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42" name="Oval 41"/>
          <p:cNvSpPr/>
          <p:nvPr/>
        </p:nvSpPr>
        <p:spPr>
          <a:xfrm>
            <a:off x="7147560" y="1645920"/>
            <a:ext cx="402336" cy="402336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43" name="Picture 42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120" y="1742480"/>
            <a:ext cx="209214" cy="20921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623047" y="1682495"/>
            <a:ext cx="16245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Confidence, not just height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84136" y="2103120"/>
            <a:ext cx="2026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2A3540"/>
                </a:solidFill>
                <a:latin typeface="Segoe UI"/>
              </a:rPr>
              <a:t>A per-pixel sigma beside every height, so the model says where it is unsure.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48799" y="1572768"/>
            <a:ext cx="2282952" cy="1042415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47" name="Oval 46"/>
          <p:cNvSpPr/>
          <p:nvPr/>
        </p:nvSpPr>
        <p:spPr>
          <a:xfrm>
            <a:off x="9540239" y="1645920"/>
            <a:ext cx="402336" cy="40233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48" name="Picture 47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6800" y="1742480"/>
            <a:ext cx="209214" cy="20921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015727" y="1682495"/>
            <a:ext cx="16245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A navigable 3D scene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76816" y="2103120"/>
            <a:ext cx="2026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2A3540"/>
                </a:solidFill>
                <a:latin typeface="Segoe UI"/>
              </a:rPr>
              <a:t>three.js flythrough with measure, flood and drag-to-compare-against-LiDAR tools.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3440" y="2688336"/>
            <a:ext cx="2282952" cy="1042415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52" name="Oval 51"/>
          <p:cNvSpPr/>
          <p:nvPr/>
        </p:nvSpPr>
        <p:spPr>
          <a:xfrm>
            <a:off x="4754880" y="2761487"/>
            <a:ext cx="402336" cy="402336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53" name="Picture 52" descr="rul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1440" y="2858048"/>
            <a:ext cx="209214" cy="20921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230368" y="2798064"/>
            <a:ext cx="16245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Validation inside the product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91455" y="3218688"/>
            <a:ext cx="2026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2A3540"/>
                </a:solidFill>
                <a:latin typeface="Segoe UI"/>
              </a:rPr>
              <a:t>RMSE, MAE and correlation against LiDAR — per terrain class, not one flattering average.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56120" y="2688336"/>
            <a:ext cx="2282952" cy="1042415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57" name="Oval 56"/>
          <p:cNvSpPr/>
          <p:nvPr/>
        </p:nvSpPr>
        <p:spPr>
          <a:xfrm>
            <a:off x="7147560" y="2761487"/>
            <a:ext cx="402336" cy="40233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58" name="Picture 57" descr="map-pinn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4120" y="2858048"/>
            <a:ext cx="209214" cy="20921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3047" y="2798064"/>
            <a:ext cx="16245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Absolute heights, two ways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84136" y="3218688"/>
            <a:ext cx="2026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2A3540"/>
                </a:solidFill>
                <a:latin typeface="Segoe UI"/>
              </a:rPr>
              <a:t>Copernicus GLO-30 for any GeoTIFF, or ground control points via a power-law fit.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48799" y="2688336"/>
            <a:ext cx="2282952" cy="1042415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2" name="Oval 61"/>
          <p:cNvSpPr/>
          <p:nvPr/>
        </p:nvSpPr>
        <p:spPr>
          <a:xfrm>
            <a:off x="9540239" y="2761487"/>
            <a:ext cx="402336" cy="402336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63" name="Picture 62" descr="wifi-o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6800" y="2858048"/>
            <a:ext cx="209214" cy="20921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015727" y="2798064"/>
            <a:ext cx="16245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Deployable, not a demo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76816" y="3218688"/>
            <a:ext cx="2026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2A3540"/>
                </a:solidFill>
                <a:latin typeface="Segoe UI"/>
              </a:rPr>
              <a:t>No GPU needed. The viewer is one HTML file that opens from disk, offline.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663440" y="3813048"/>
            <a:ext cx="7068312" cy="347472"/>
          </a:xfrm>
          <a:prstGeom prst="roundRect">
            <a:avLst>
              <a:gd name="adj" fmla="val 13157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4736592" y="3877056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Franklin Gothic Demi Cond"/>
              </a:rPr>
              <a:t>THE GAP WE CLOSE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08192" y="3831336"/>
            <a:ext cx="555040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2A3540"/>
                </a:solidFill>
                <a:latin typeface="Segoe UI"/>
              </a:rPr>
              <a:t>The single-view papers we build on stop at weights and a score. </a:t>
            </a:r>
            <a:r>
              <a:rPr sz="880" b="0" i="0">
                <a:solidFill>
                  <a:srgbClr val="141B22"/>
                </a:solidFill>
                <a:latin typeface="Segoe UI Semibold"/>
              </a:rPr>
              <a:t>We ship metric height, calibrated confidence and a no-GPU 3D viewer</a:t>
            </a:r>
            <a:r>
              <a:rPr sz="880" b="0" i="0">
                <a:solidFill>
                  <a:srgbClr val="2A3540"/>
                </a:solidFill>
                <a:latin typeface="Segoe UI"/>
              </a:rPr>
              <a:t> — compared row by row on slide 6.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760" y="4315968"/>
            <a:ext cx="11457432" cy="274320"/>
          </a:xfrm>
          <a:prstGeom prst="roundRect">
            <a:avLst>
              <a:gd name="adj" fmla="val 50000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THE IDEA, RUNNING: ONE ARCHIVED IMAGE IN, A MEASURABLE SURFACE OUT — CAPTURES OF OUR PROTOTYPE, NOT MOCK-UPS</a:t>
            </a:r>
          </a:p>
        </p:txBody>
      </p:sp>
      <p:pic>
        <p:nvPicPr>
          <p:cNvPr id="70" name="Picture 69" descr="omaha_inpu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4663440"/>
            <a:ext cx="1591056" cy="1591056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71" name="Rounded Rectangle 70"/>
          <p:cNvSpPr/>
          <p:nvPr/>
        </p:nvSpPr>
        <p:spPr>
          <a:xfrm>
            <a:off x="365760" y="4663440"/>
            <a:ext cx="1046073" cy="237744"/>
          </a:xfrm>
          <a:prstGeom prst="roundRect">
            <a:avLst>
              <a:gd name="adj" fmla="val 15384"/>
            </a:avLst>
          </a:prstGeom>
          <a:solidFill>
            <a:srgbClr val="55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BEFORE · INPUT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2020824" y="5303520"/>
            <a:ext cx="274320" cy="310896"/>
          </a:xfrm>
          <a:prstGeom prst="rightArrow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73" name="Picture 72" descr="omaha_height_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59152" y="4663440"/>
            <a:ext cx="3017520" cy="1591056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74" name="Rounded Rectangle 73"/>
          <p:cNvSpPr/>
          <p:nvPr/>
        </p:nvSpPr>
        <p:spPr>
          <a:xfrm>
            <a:off x="2359152" y="4663440"/>
            <a:ext cx="1468526" cy="237744"/>
          </a:xfrm>
          <a:prstGeom prst="roundRect">
            <a:avLst>
              <a:gd name="adj" fmla="val 15384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AFTER · HEIGHT, IN 3D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59152" y="62910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Same tile: roofs, tree crowns and kerbs at 0.3 m.</a:t>
            </a:r>
          </a:p>
        </p:txBody>
      </p:sp>
      <p:pic>
        <p:nvPicPr>
          <p:cNvPr id="76" name="Picture 75" descr="omaha_sigma_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4688" y="4663440"/>
            <a:ext cx="3017520" cy="1591056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77" name="Rounded Rectangle 76"/>
          <p:cNvSpPr/>
          <p:nvPr/>
        </p:nvSpPr>
        <p:spPr>
          <a:xfrm>
            <a:off x="5504688" y="4663440"/>
            <a:ext cx="1287475" cy="237744"/>
          </a:xfrm>
          <a:prstGeom prst="roundRect">
            <a:avLst>
              <a:gd name="adj" fmla="val 15384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AFTER · CONFIDENCE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62910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Where the estimate is weak, the sigma says so.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291072"/>
            <a:ext cx="18653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One Omaha tile, as flown.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86799" y="4754879"/>
            <a:ext cx="18288" cy="1408176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81" name="Picture 80" descr="sikkim_hilly_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5672" y="4663440"/>
            <a:ext cx="3017520" cy="1591056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82" name="Rounded Rectangle 81"/>
          <p:cNvSpPr/>
          <p:nvPr/>
        </p:nvSpPr>
        <p:spPr>
          <a:xfrm>
            <a:off x="8805672" y="4663440"/>
            <a:ext cx="1468526" cy="237744"/>
          </a:xfrm>
          <a:prstGeom prst="roundRect">
            <a:avLst>
              <a:gd name="adj" fmla="val 1538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SIKKIM, INDIA · HILLY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05672" y="62910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967 m of relief across 2 km.</a:t>
            </a:r>
            <a:r>
              <a:rPr sz="700" b="0" i="0">
                <a:solidFill>
                  <a:srgbClr val="55636E"/>
                </a:solidFill>
                <a:latin typeface="Segoe UI"/>
              </a:rPr>
              <a:t>  Imagery © Maxar, CC BY-NC 4.0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486400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ARCHITECTURE — ONE IMAGE TO A CHECKED SURFACE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517904"/>
            <a:ext cx="5486400" cy="3986784"/>
          </a:xfrm>
          <a:prstGeom prst="roundRect">
            <a:avLst>
              <a:gd name="adj" fmla="val 2293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475488" y="1609344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INPUT LAYER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75488" y="1810512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4" name="Oval 17413"/>
          <p:cNvSpPr/>
          <p:nvPr/>
        </p:nvSpPr>
        <p:spPr>
          <a:xfrm>
            <a:off x="548640" y="187451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15" name="Picture 17414" descr="file-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9" y="1927189"/>
            <a:ext cx="114117" cy="114117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804672" y="185623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GeoTIFF with
geo metadata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2231136" y="1865376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8" name="Oval 17417"/>
          <p:cNvSpPr/>
          <p:nvPr/>
        </p:nvSpPr>
        <p:spPr>
          <a:xfrm>
            <a:off x="2304288" y="187451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19" name="Picture 17418" descr="image-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6957" y="1927189"/>
            <a:ext cx="114117" cy="114117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2560320" y="185623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Plain PNG / JPG,
no metadata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986783" y="1865376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2" name="Oval 17421"/>
          <p:cNvSpPr/>
          <p:nvPr/>
        </p:nvSpPr>
        <p:spPr>
          <a:xfrm>
            <a:off x="4059935" y="187451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3" name="Picture 17422" descr="satell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605" y="1927189"/>
            <a:ext cx="114117" cy="114117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4315968" y="185623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Cartosat-2S,
0.6 m</a:t>
            </a:r>
          </a:p>
        </p:txBody>
      </p:sp>
      <p:sp>
        <p:nvSpPr>
          <p:cNvPr id="17425" name="Down Arrow 17424"/>
          <p:cNvSpPr/>
          <p:nvPr/>
        </p:nvSpPr>
        <p:spPr>
          <a:xfrm>
            <a:off x="3035808" y="2176272"/>
            <a:ext cx="146304" cy="82296"/>
          </a:xfrm>
          <a:prstGeom prst="down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6" name="Rounded Rectangle 17425"/>
          <p:cNvSpPr/>
          <p:nvPr/>
        </p:nvSpPr>
        <p:spPr>
          <a:xfrm>
            <a:off x="475488" y="2276856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NORMALISATION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75488" y="2478024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8" name="Oval 17427"/>
          <p:cNvSpPr/>
          <p:nvPr/>
        </p:nvSpPr>
        <p:spPr>
          <a:xfrm>
            <a:off x="548640" y="2542032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9" name="Picture 17428" descr="rul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309" y="2594701"/>
            <a:ext cx="114117" cy="114117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804672" y="2523744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Ground sample distance
read from metadata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3108960" y="2532888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2" name="Oval 17431"/>
          <p:cNvSpPr/>
          <p:nvPr/>
        </p:nvSpPr>
        <p:spPr>
          <a:xfrm>
            <a:off x="3182112" y="2542032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3" name="Picture 17432" descr="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4781" y="2594701"/>
            <a:ext cx="114117" cy="114117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3438144" y="2523744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Auto-zoom and resample
to a 0.3 m scale</a:t>
            </a:r>
          </a:p>
        </p:txBody>
      </p:sp>
      <p:sp>
        <p:nvSpPr>
          <p:cNvPr id="17435" name="Down Arrow 17434"/>
          <p:cNvSpPr/>
          <p:nvPr/>
        </p:nvSpPr>
        <p:spPr>
          <a:xfrm>
            <a:off x="3035808" y="2843784"/>
            <a:ext cx="146304" cy="82296"/>
          </a:xfrm>
          <a:prstGeom prst="down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6" name="Rounded Rectangle 17435"/>
          <p:cNvSpPr/>
          <p:nvPr/>
        </p:nvSpPr>
        <p:spPr>
          <a:xfrm>
            <a:off x="475488" y="2944368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MODEL CORE — DEPTH ANYTHING V2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75488" y="3145536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8" name="Oval 17437"/>
          <p:cNvSpPr/>
          <p:nvPr/>
        </p:nvSpPr>
        <p:spPr>
          <a:xfrm>
            <a:off x="548640" y="3209544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9" name="Picture 17438" descr="cp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309" y="3262213"/>
            <a:ext cx="114117" cy="114117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804672" y="31912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ViT encoder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2231136" y="3200400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2" name="Oval 17441"/>
          <p:cNvSpPr/>
          <p:nvPr/>
        </p:nvSpPr>
        <p:spPr>
          <a:xfrm>
            <a:off x="2304288" y="3209544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3" name="Picture 17442" descr="workflo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6957" y="3262213"/>
            <a:ext cx="114117" cy="114117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2560320" y="31912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DPT neck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3986783" y="3200400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6" name="Oval 17445"/>
          <p:cNvSpPr/>
          <p:nvPr/>
        </p:nvSpPr>
        <p:spPr>
          <a:xfrm>
            <a:off x="4059935" y="3209544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7" name="Picture 17446" descr="datab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2605" y="3262213"/>
            <a:ext cx="114117" cy="114117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315968" y="31912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Fine-tuned on
DFC2019 + GAMUS</a:t>
            </a:r>
          </a:p>
        </p:txBody>
      </p:sp>
      <p:sp>
        <p:nvSpPr>
          <p:cNvPr id="17449" name="Down Arrow 17448"/>
          <p:cNvSpPr/>
          <p:nvPr/>
        </p:nvSpPr>
        <p:spPr>
          <a:xfrm>
            <a:off x="3035808" y="3511296"/>
            <a:ext cx="146304" cy="82296"/>
          </a:xfrm>
          <a:prstGeom prst="down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0" name="Rounded Rectangle 17449"/>
          <p:cNvSpPr/>
          <p:nvPr/>
        </p:nvSpPr>
        <p:spPr>
          <a:xfrm>
            <a:off x="475488" y="3611879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DUAL HEAD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75488" y="3813048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2" name="Oval 17451"/>
          <p:cNvSpPr/>
          <p:nvPr/>
        </p:nvSpPr>
        <p:spPr>
          <a:xfrm>
            <a:off x="548640" y="3877056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3" name="Picture 17452" descr="mountain-sn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309" y="3929725"/>
            <a:ext cx="114117" cy="114117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04672" y="3858768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Height mu,
per pixel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3108960" y="3867911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6" name="Oval 17455"/>
          <p:cNvSpPr/>
          <p:nvPr/>
        </p:nvSpPr>
        <p:spPr>
          <a:xfrm>
            <a:off x="3182112" y="3877056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7" name="Picture 17456" descr="shield-che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4781" y="3929725"/>
            <a:ext cx="114117" cy="114117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3438144" y="3858768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Log-variance sigma,
per pixel</a:t>
            </a:r>
          </a:p>
        </p:txBody>
      </p:sp>
      <p:sp>
        <p:nvSpPr>
          <p:cNvPr id="17459" name="Down Arrow 17458"/>
          <p:cNvSpPr/>
          <p:nvPr/>
        </p:nvSpPr>
        <p:spPr>
          <a:xfrm>
            <a:off x="3035808" y="4178807"/>
            <a:ext cx="146304" cy="82296"/>
          </a:xfrm>
          <a:prstGeom prst="down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0" name="Rounded Rectangle 17459"/>
          <p:cNvSpPr/>
          <p:nvPr/>
        </p:nvSpPr>
        <p:spPr>
          <a:xfrm>
            <a:off x="475488" y="4279391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POST-PROCESS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475488" y="4480559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2" name="Oval 17461"/>
          <p:cNvSpPr/>
          <p:nvPr/>
        </p:nvSpPr>
        <p:spPr>
          <a:xfrm>
            <a:off x="548640" y="4544567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3" name="Picture 17462" descr="box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309" y="4597237"/>
            <a:ext cx="114117" cy="114117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804672" y="4526279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518 px tiling,
overlap blend, TTA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3108960" y="4535423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6" name="Oval 17465"/>
          <p:cNvSpPr/>
          <p:nvPr/>
        </p:nvSpPr>
        <p:spPr>
          <a:xfrm>
            <a:off x="3182112" y="4544567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7" name="Picture 17466" descr="map-pinn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4781" y="4597237"/>
            <a:ext cx="114117" cy="114117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3438144" y="4526279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Scale anchor: GLO-30
or ground control</a:t>
            </a:r>
          </a:p>
        </p:txBody>
      </p:sp>
      <p:sp>
        <p:nvSpPr>
          <p:cNvPr id="17469" name="Down Arrow 17468"/>
          <p:cNvSpPr/>
          <p:nvPr/>
        </p:nvSpPr>
        <p:spPr>
          <a:xfrm>
            <a:off x="3035808" y="4846319"/>
            <a:ext cx="146304" cy="82296"/>
          </a:xfrm>
          <a:prstGeom prst="down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0" name="Rounded Rectangle 17469"/>
          <p:cNvSpPr/>
          <p:nvPr/>
        </p:nvSpPr>
        <p:spPr>
          <a:xfrm>
            <a:off x="475488" y="4946903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OUTPUT LAYER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475488" y="5148071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2" name="Oval 17471"/>
          <p:cNvSpPr/>
          <p:nvPr/>
        </p:nvSpPr>
        <p:spPr>
          <a:xfrm>
            <a:off x="548640" y="521207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3" name="Picture 17472" descr="file-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9" y="5264749"/>
            <a:ext cx="114117" cy="114117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804672" y="5193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Absolute DSM /
relative DSM</a:t>
            </a:r>
          </a:p>
        </p:txBody>
      </p:sp>
      <p:sp>
        <p:nvSpPr>
          <p:cNvPr id="17475" name="Rectangle 17474"/>
          <p:cNvSpPr/>
          <p:nvPr/>
        </p:nvSpPr>
        <p:spPr>
          <a:xfrm>
            <a:off x="2231136" y="5202935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6" name="Oval 17475"/>
          <p:cNvSpPr/>
          <p:nvPr/>
        </p:nvSpPr>
        <p:spPr>
          <a:xfrm>
            <a:off x="2304288" y="521207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7" name="Picture 17476" descr="gau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56957" y="5264749"/>
            <a:ext cx="114117" cy="114117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2560320" y="5193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Sigma map</a:t>
            </a:r>
          </a:p>
        </p:txBody>
      </p:sp>
      <p:sp>
        <p:nvSpPr>
          <p:cNvPr id="17479" name="Rectangle 17478"/>
          <p:cNvSpPr/>
          <p:nvPr/>
        </p:nvSpPr>
        <p:spPr>
          <a:xfrm>
            <a:off x="3986783" y="5202935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0" name="Oval 17479"/>
          <p:cNvSpPr/>
          <p:nvPr/>
        </p:nvSpPr>
        <p:spPr>
          <a:xfrm>
            <a:off x="4059935" y="521207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1" name="Picture 17480" descr="monito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2605" y="5264749"/>
            <a:ext cx="114117" cy="114117"/>
          </a:xfrm>
          <a:prstGeom prst="rect">
            <a:avLst/>
          </a:prstGeom>
        </p:spPr>
      </p:pic>
      <p:sp>
        <p:nvSpPr>
          <p:cNvPr id="17482" name="TextBox 17481"/>
          <p:cNvSpPr txBox="1"/>
          <p:nvPr/>
        </p:nvSpPr>
        <p:spPr>
          <a:xfrm>
            <a:off x="4315968" y="5193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three.js scene,
live error map</a:t>
            </a:r>
          </a:p>
        </p:txBody>
      </p:sp>
      <p:sp>
        <p:nvSpPr>
          <p:cNvPr id="17483" name="Rounded Rectangle 17482"/>
          <p:cNvSpPr/>
          <p:nvPr/>
        </p:nvSpPr>
        <p:spPr>
          <a:xfrm>
            <a:off x="6126480" y="1115568"/>
            <a:ext cx="2697480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HOW IT RUNS — HARDWARE, API, DATA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6126480" y="1517904"/>
            <a:ext cx="2697480" cy="3986784"/>
          </a:xfrm>
          <a:prstGeom prst="roundRect">
            <a:avLst>
              <a:gd name="adj" fmla="val 3389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5" name="Rounded Rectangle 17484"/>
          <p:cNvSpPr/>
          <p:nvPr/>
        </p:nvSpPr>
        <p:spPr>
          <a:xfrm>
            <a:off x="6236208" y="16276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1</a:t>
            </a:r>
          </a:p>
        </p:txBody>
      </p:sp>
      <p:sp>
        <p:nvSpPr>
          <p:cNvPr id="17486" name="Rectangle 17485"/>
          <p:cNvSpPr/>
          <p:nvPr/>
        </p:nvSpPr>
        <p:spPr>
          <a:xfrm>
            <a:off x="6373368" y="1938528"/>
            <a:ext cx="18288" cy="640080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7" name="TextBox 17486"/>
          <p:cNvSpPr txBox="1"/>
          <p:nvPr/>
        </p:nvSpPr>
        <p:spPr>
          <a:xfrm>
            <a:off x="6638544" y="1645920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Trained on one consumer GPU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6638544" y="190195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A3540"/>
                </a:solidFill>
                <a:latin typeface="Segoe UI"/>
              </a:rPr>
              <a:t>RTX 3060, 12 GB. Backbone: Depth Anything V2 Small, Apache 2.0, 24.8 M parameters.</a:t>
            </a:r>
          </a:p>
        </p:txBody>
      </p:sp>
      <p:sp>
        <p:nvSpPr>
          <p:cNvPr id="17489" name="Rounded Rectangle 17488"/>
          <p:cNvSpPr/>
          <p:nvPr/>
        </p:nvSpPr>
        <p:spPr>
          <a:xfrm>
            <a:off x="6236208" y="259689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2</a:t>
            </a:r>
          </a:p>
        </p:txBody>
      </p:sp>
      <p:sp>
        <p:nvSpPr>
          <p:cNvPr id="17490" name="Rectangle 17489"/>
          <p:cNvSpPr/>
          <p:nvPr/>
        </p:nvSpPr>
        <p:spPr>
          <a:xfrm>
            <a:off x="6373368" y="2907791"/>
            <a:ext cx="18288" cy="640080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1" name="TextBox 17490"/>
          <p:cNvSpPr txBox="1"/>
          <p:nvPr/>
        </p:nvSpPr>
        <p:spPr>
          <a:xfrm>
            <a:off x="6638544" y="2615184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Exported for CPU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6638544" y="2871215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A3540"/>
                </a:solidFill>
                <a:latin typeface="Segoe UI"/>
              </a:rPr>
              <a:t>ONNX, int8-quantised to 36.8 MB. Inference needs no GPU at all.</a:t>
            </a:r>
          </a:p>
        </p:txBody>
      </p:sp>
      <p:sp>
        <p:nvSpPr>
          <p:cNvPr id="17493" name="Rounded Rectangle 17492"/>
          <p:cNvSpPr/>
          <p:nvPr/>
        </p:nvSpPr>
        <p:spPr>
          <a:xfrm>
            <a:off x="6236208" y="356616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3</a:t>
            </a:r>
          </a:p>
        </p:txBody>
      </p:sp>
      <p:sp>
        <p:nvSpPr>
          <p:cNvPr id="17494" name="Rectangle 17493"/>
          <p:cNvSpPr/>
          <p:nvPr/>
        </p:nvSpPr>
        <p:spPr>
          <a:xfrm>
            <a:off x="6373368" y="3877056"/>
            <a:ext cx="18288" cy="640080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5" name="TextBox 17494"/>
          <p:cNvSpPr txBox="1"/>
          <p:nvPr/>
        </p:nvSpPr>
        <p:spPr>
          <a:xfrm>
            <a:off x="6638544" y="358444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Served over HTTP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6638544" y="38404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A3540"/>
                </a:solidFill>
                <a:latin typeface="Segoe UI"/>
              </a:rPr>
              <a:t>POST /api/upload takes TIF, PNG or JPG; /api/result returns the DSM. Live on a two-core CPU host.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6236208" y="45354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4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6638544" y="4553712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Files, not a database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6638544" y="4809744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A3540"/>
                </a:solidFill>
                <a:latin typeface="Segoe UI"/>
              </a:rPr>
              <a:t>GeoTIFF DSM and sigma, float32 scene tiles. The viewer is one 15 MB HTML file that opens from disk.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9098280" y="1115568"/>
            <a:ext cx="2724912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DESIGN CHOICES, AND WHY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9098280" y="1517904"/>
            <a:ext cx="2724912" cy="3986784"/>
          </a:xfrm>
          <a:prstGeom prst="roundRect">
            <a:avLst>
              <a:gd name="adj" fmla="val 335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02" name="Rounded Rectangle 17501"/>
          <p:cNvSpPr/>
          <p:nvPr/>
        </p:nvSpPr>
        <p:spPr>
          <a:xfrm>
            <a:off x="9189719" y="1627632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03" name="Oval 17502"/>
          <p:cNvSpPr/>
          <p:nvPr/>
        </p:nvSpPr>
        <p:spPr>
          <a:xfrm>
            <a:off x="9281160" y="1682496"/>
            <a:ext cx="365760" cy="365760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504" name="Picture 17503" descr="gau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8942" y="1770278"/>
            <a:ext cx="190195" cy="190195"/>
          </a:xfrm>
          <a:prstGeom prst="rect">
            <a:avLst/>
          </a:prstGeom>
        </p:spPr>
      </p:pic>
      <p:sp>
        <p:nvSpPr>
          <p:cNvPr id="17505" name="TextBox 17504"/>
          <p:cNvSpPr txBox="1"/>
          <p:nvPr/>
        </p:nvSpPr>
        <p:spPr>
          <a:xfrm>
            <a:off x="9720072" y="1728216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Metres learned from LiDAR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9281159" y="2048256"/>
            <a:ext cx="23591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 b="0" i="0">
                <a:solidFill>
                  <a:srgbClr val="2A3540"/>
                </a:solidFill>
                <a:latin typeface="Segoe UI"/>
              </a:rPr>
              <a:t>Fine-tuning on airborne-LiDAR heights makes the output metric directly; a DEM supplies the ground under it.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9189719" y="2596896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08" name="Oval 17507"/>
          <p:cNvSpPr/>
          <p:nvPr/>
        </p:nvSpPr>
        <p:spPr>
          <a:xfrm>
            <a:off x="9281160" y="2651759"/>
            <a:ext cx="365760" cy="365760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509" name="Picture 17508" descr="shield-che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8942" y="2739542"/>
            <a:ext cx="190195" cy="190195"/>
          </a:xfrm>
          <a:prstGeom prst="rect">
            <a:avLst/>
          </a:prstGeom>
        </p:spPr>
      </p:pic>
      <p:sp>
        <p:nvSpPr>
          <p:cNvPr id="17510" name="TextBox 17509"/>
          <p:cNvSpPr txBox="1"/>
          <p:nvPr/>
        </p:nvSpPr>
        <p:spPr>
          <a:xfrm>
            <a:off x="9720072" y="2697479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Uncertainty as an output</a:t>
            </a:r>
          </a:p>
        </p:txBody>
      </p:sp>
      <p:sp>
        <p:nvSpPr>
          <p:cNvPr id="17511" name="TextBox 17510"/>
          <p:cNvSpPr txBox="1"/>
          <p:nvPr/>
        </p:nvSpPr>
        <p:spPr>
          <a:xfrm>
            <a:off x="9281159" y="3017520"/>
            <a:ext cx="23591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 b="0" i="0">
                <a:solidFill>
                  <a:srgbClr val="2A3540"/>
                </a:solidFill>
                <a:latin typeface="Segoe UI"/>
              </a:rPr>
              <a:t>A twin head predicts sigma beside every height (heteroscedastic NLL with beta-NLL), so doubt is visible.</a:t>
            </a:r>
          </a:p>
        </p:txBody>
      </p:sp>
      <p:sp>
        <p:nvSpPr>
          <p:cNvPr id="17512" name="Rounded Rectangle 17511"/>
          <p:cNvSpPr/>
          <p:nvPr/>
        </p:nvSpPr>
        <p:spPr>
          <a:xfrm>
            <a:off x="9189719" y="3566160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13" name="Oval 17512"/>
          <p:cNvSpPr/>
          <p:nvPr/>
        </p:nvSpPr>
        <p:spPr>
          <a:xfrm>
            <a:off x="9281160" y="3621024"/>
            <a:ext cx="365760" cy="365760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514" name="Picture 17513" descr="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942" y="3708806"/>
            <a:ext cx="190195" cy="190195"/>
          </a:xfrm>
          <a:prstGeom prst="rect">
            <a:avLst/>
          </a:prstGeom>
        </p:spPr>
      </p:pic>
      <p:sp>
        <p:nvSpPr>
          <p:cNvPr id="17515" name="TextBox 17514"/>
          <p:cNvSpPr txBox="1"/>
          <p:nvPr/>
        </p:nvSpPr>
        <p:spPr>
          <a:xfrm>
            <a:off x="9720072" y="3666744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Built for ISRO's 0.6 m</a:t>
            </a:r>
          </a:p>
        </p:txBody>
      </p:sp>
      <p:sp>
        <p:nvSpPr>
          <p:cNvPr id="17516" name="TextBox 17515"/>
          <p:cNvSpPr txBox="1"/>
          <p:nvPr/>
        </p:nvSpPr>
        <p:spPr>
          <a:xfrm>
            <a:off x="9281159" y="3986784"/>
            <a:ext cx="23591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 b="0" i="0">
                <a:solidFill>
                  <a:srgbClr val="2A3540"/>
                </a:solidFill>
                <a:latin typeface="Segoe UI"/>
              </a:rPr>
              <a:t>Auto-zoom reads a GeoTIFF's resolution and resamples Cartosat-2S to the scale the model learned.</a:t>
            </a:r>
          </a:p>
        </p:txBody>
      </p:sp>
      <p:sp>
        <p:nvSpPr>
          <p:cNvPr id="17517" name="Rounded Rectangle 17516"/>
          <p:cNvSpPr/>
          <p:nvPr/>
        </p:nvSpPr>
        <p:spPr>
          <a:xfrm>
            <a:off x="9189719" y="4535424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18" name="Oval 17517"/>
          <p:cNvSpPr/>
          <p:nvPr/>
        </p:nvSpPr>
        <p:spPr>
          <a:xfrm>
            <a:off x="9281160" y="4590288"/>
            <a:ext cx="365760" cy="365760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519" name="Picture 17518" descr="cp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8942" y="4678070"/>
            <a:ext cx="190195" cy="190195"/>
          </a:xfrm>
          <a:prstGeom prst="rect">
            <a:avLst/>
          </a:prstGeom>
        </p:spPr>
      </p:pic>
      <p:sp>
        <p:nvSpPr>
          <p:cNvPr id="17520" name="TextBox 17519"/>
          <p:cNvSpPr txBox="1"/>
          <p:nvPr/>
        </p:nvSpPr>
        <p:spPr>
          <a:xfrm>
            <a:off x="9720072" y="4636008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Chosen by measurement</a:t>
            </a:r>
          </a:p>
        </p:txBody>
      </p:sp>
      <p:sp>
        <p:nvSpPr>
          <p:cNvPr id="17521" name="TextBox 17520"/>
          <p:cNvSpPr txBox="1"/>
          <p:nvPr/>
        </p:nvSpPr>
        <p:spPr>
          <a:xfrm>
            <a:off x="9281159" y="4956048"/>
            <a:ext cx="23591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 b="0" i="0">
                <a:solidFill>
                  <a:srgbClr val="2A3540"/>
                </a:solidFill>
                <a:latin typeface="Segoe UI"/>
              </a:rPr>
              <a:t>Regression, binned and head-tail-cut heads were all trained and scored; the simplest held its own, so it ships.</a:t>
            </a:r>
          </a:p>
        </p:txBody>
      </p:sp>
      <p:sp>
        <p:nvSpPr>
          <p:cNvPr id="17522" name="Rounded Rectangle 17521"/>
          <p:cNvSpPr/>
          <p:nvPr/>
        </p:nvSpPr>
        <p:spPr>
          <a:xfrm>
            <a:off x="365760" y="5541264"/>
            <a:ext cx="5486400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HOW IT IS VALIDATED</a:t>
            </a:r>
          </a:p>
        </p:txBody>
      </p:sp>
      <p:sp>
        <p:nvSpPr>
          <p:cNvPr id="17523" name="TextBox 17522"/>
          <p:cNvSpPr txBox="1"/>
          <p:nvPr/>
        </p:nvSpPr>
        <p:spPr>
          <a:xfrm>
            <a:off x="420624" y="5870448"/>
            <a:ext cx="53766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10" b="1" i="0">
                <a:solidFill>
                  <a:srgbClr val="141B22"/>
                </a:solidFill>
                <a:latin typeface="Segoe UI Semibold"/>
              </a:rPr>
              <a:t>Split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region-disjoint, not random — adjacent tiles share buildings.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10" b="1" i="0">
                <a:solidFill>
                  <a:srgbClr val="141B22"/>
                </a:solidFill>
                <a:latin typeface="Segoe UI Semibold"/>
              </a:rPr>
              <a:t>Scored on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whole held-out tiles against airborne LiDAR, never on crops.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10" b="1" i="0">
                <a:solidFill>
                  <a:srgbClr val="141B22"/>
                </a:solidFill>
                <a:latin typeface="Segoe UI Semibold"/>
              </a:rPr>
              <a:t>Reported per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urban / sparse / forested / mixed, and per height band.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10" b="1" i="0">
                <a:solidFill>
                  <a:srgbClr val="141B22"/>
                </a:solidFill>
                <a:latin typeface="Segoe UI Semibold"/>
              </a:rPr>
              <a:t>Held back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no trained model is scored on the test split until the end.</a:t>
            </a:r>
          </a:p>
        </p:txBody>
      </p:sp>
      <p:sp>
        <p:nvSpPr>
          <p:cNvPr id="17524" name="Rounded Rectangle 17523"/>
          <p:cNvSpPr/>
          <p:nvPr/>
        </p:nvSpPr>
        <p:spPr>
          <a:xfrm>
            <a:off x="6126480" y="5541264"/>
            <a:ext cx="4636007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40" b="0" i="0">
                <a:solidFill>
                  <a:srgbClr val="FFFFFF"/>
                </a:solidFill>
                <a:latin typeface="Franklin Gothic Demi Cond"/>
              </a:rPr>
              <a:t>TECHNOLOGY STACK — EVERY DEPENDENCY FREE AND OPEN</a:t>
            </a:r>
          </a:p>
        </p:txBody>
      </p:sp>
      <p:pic>
        <p:nvPicPr>
          <p:cNvPr id="17525" name="Picture 17524" descr="pytho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69926" y="5888736"/>
            <a:ext cx="292608" cy="292608"/>
          </a:xfrm>
          <a:prstGeom prst="rect">
            <a:avLst/>
          </a:prstGeom>
        </p:spPr>
      </p:pic>
      <p:sp>
        <p:nvSpPr>
          <p:cNvPr id="17526" name="TextBox 17525"/>
          <p:cNvSpPr txBox="1"/>
          <p:nvPr/>
        </p:nvSpPr>
        <p:spPr>
          <a:xfrm>
            <a:off x="6126480" y="6236208"/>
            <a:ext cx="5795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Python 3.10</a:t>
            </a:r>
          </a:p>
        </p:txBody>
      </p:sp>
      <p:pic>
        <p:nvPicPr>
          <p:cNvPr id="17527" name="Picture 17526" descr="pytorch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49427" y="5888736"/>
            <a:ext cx="292608" cy="292608"/>
          </a:xfrm>
          <a:prstGeom prst="rect">
            <a:avLst/>
          </a:prstGeom>
        </p:spPr>
      </p:pic>
      <p:sp>
        <p:nvSpPr>
          <p:cNvPr id="17528" name="TextBox 17527"/>
          <p:cNvSpPr txBox="1"/>
          <p:nvPr/>
        </p:nvSpPr>
        <p:spPr>
          <a:xfrm>
            <a:off x="6705981" y="6236208"/>
            <a:ext cx="5795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PyTorch</a:t>
            </a:r>
          </a:p>
        </p:txBody>
      </p:sp>
      <p:pic>
        <p:nvPicPr>
          <p:cNvPr id="17529" name="Picture 17528" descr="huggingfac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28928" y="5888736"/>
            <a:ext cx="292608" cy="292608"/>
          </a:xfrm>
          <a:prstGeom prst="rect">
            <a:avLst/>
          </a:prstGeom>
        </p:spPr>
      </p:pic>
      <p:sp>
        <p:nvSpPr>
          <p:cNvPr id="17530" name="TextBox 17529"/>
          <p:cNvSpPr txBox="1"/>
          <p:nvPr/>
        </p:nvSpPr>
        <p:spPr>
          <a:xfrm>
            <a:off x="7285482" y="6236208"/>
            <a:ext cx="5795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Hugging Face</a:t>
            </a:r>
          </a:p>
        </p:txBody>
      </p:sp>
      <p:pic>
        <p:nvPicPr>
          <p:cNvPr id="17531" name="Picture 17530" descr="onnx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8429" y="5888736"/>
            <a:ext cx="292608" cy="292608"/>
          </a:xfrm>
          <a:prstGeom prst="rect">
            <a:avLst/>
          </a:prstGeom>
        </p:spPr>
      </p:pic>
      <p:sp>
        <p:nvSpPr>
          <p:cNvPr id="17532" name="TextBox 17531"/>
          <p:cNvSpPr txBox="1"/>
          <p:nvPr/>
        </p:nvSpPr>
        <p:spPr>
          <a:xfrm>
            <a:off x="7864983" y="6236208"/>
            <a:ext cx="5795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ONNX Runtime</a:t>
            </a:r>
          </a:p>
        </p:txBody>
      </p:sp>
      <p:pic>
        <p:nvPicPr>
          <p:cNvPr id="17533" name="Picture 17532" descr="numpy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87930" y="5888736"/>
            <a:ext cx="292608" cy="292608"/>
          </a:xfrm>
          <a:prstGeom prst="rect">
            <a:avLst/>
          </a:prstGeom>
        </p:spPr>
      </p:pic>
      <p:sp>
        <p:nvSpPr>
          <p:cNvPr id="17534" name="TextBox 17533"/>
          <p:cNvSpPr txBox="1"/>
          <p:nvPr/>
        </p:nvSpPr>
        <p:spPr>
          <a:xfrm>
            <a:off x="8444484" y="6236208"/>
            <a:ext cx="5795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NumPy / SciPy</a:t>
            </a:r>
          </a:p>
        </p:txBody>
      </p:sp>
      <p:pic>
        <p:nvPicPr>
          <p:cNvPr id="17535" name="Picture 17534" descr="databas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67431" y="5888736"/>
            <a:ext cx="292608" cy="292608"/>
          </a:xfrm>
          <a:prstGeom prst="rect">
            <a:avLst/>
          </a:prstGeom>
        </p:spPr>
      </p:pic>
      <p:sp>
        <p:nvSpPr>
          <p:cNvPr id="17536" name="TextBox 17535"/>
          <p:cNvSpPr txBox="1"/>
          <p:nvPr/>
        </p:nvSpPr>
        <p:spPr>
          <a:xfrm>
            <a:off x="9023985" y="6236208"/>
            <a:ext cx="5795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GDAL / rasterio</a:t>
            </a:r>
          </a:p>
        </p:txBody>
      </p:sp>
      <p:pic>
        <p:nvPicPr>
          <p:cNvPr id="17537" name="Picture 17536" descr="threedotj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46932" y="5888736"/>
            <a:ext cx="292608" cy="292608"/>
          </a:xfrm>
          <a:prstGeom prst="rect">
            <a:avLst/>
          </a:prstGeom>
        </p:spPr>
      </p:pic>
      <p:sp>
        <p:nvSpPr>
          <p:cNvPr id="17538" name="TextBox 17537"/>
          <p:cNvSpPr txBox="1"/>
          <p:nvPr/>
        </p:nvSpPr>
        <p:spPr>
          <a:xfrm>
            <a:off x="9603486" y="6236208"/>
            <a:ext cx="5795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three.js</a:t>
            </a:r>
          </a:p>
        </p:txBody>
      </p:sp>
      <p:pic>
        <p:nvPicPr>
          <p:cNvPr id="17539" name="Picture 17538" descr="docker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26433" y="5888736"/>
            <a:ext cx="292608" cy="292608"/>
          </a:xfrm>
          <a:prstGeom prst="rect">
            <a:avLst/>
          </a:prstGeom>
        </p:spPr>
      </p:pic>
      <p:sp>
        <p:nvSpPr>
          <p:cNvPr id="17540" name="TextBox 17539"/>
          <p:cNvSpPr txBox="1"/>
          <p:nvPr/>
        </p:nvSpPr>
        <p:spPr>
          <a:xfrm>
            <a:off x="10182987" y="6236208"/>
            <a:ext cx="5795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Docker</a:t>
            </a:r>
          </a:p>
        </p:txBody>
      </p:sp>
      <p:pic>
        <p:nvPicPr>
          <p:cNvPr id="17541" name="Picture 17540" descr="live_qr.png">
            <a:hlinkClick r:id="rId27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972800" y="5559552"/>
            <a:ext cx="786384" cy="786384"/>
          </a:xfrm>
          <a:prstGeom prst="rect">
            <a:avLst/>
          </a:prstGeom>
        </p:spPr>
      </p:pic>
      <p:sp>
        <p:nvSpPr>
          <p:cNvPr id="17542" name="TextBox 17541"/>
          <p:cNvSpPr txBox="1"/>
          <p:nvPr/>
        </p:nvSpPr>
        <p:spPr>
          <a:xfrm>
            <a:off x="10789920" y="6355080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55636E"/>
                </a:solidFill>
                <a:latin typeface="Segoe UI Semibold"/>
              </a:rPr>
              <a:t>Scan: live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1" name="Oval 17410"/>
          <p:cNvSpPr/>
          <p:nvPr/>
        </p:nvSpPr>
        <p:spPr>
          <a:xfrm>
            <a:off x="493776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12" name="Picture 17411" descr="circle-check-b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" y="1303934"/>
            <a:ext cx="190195" cy="190195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950976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TECHNICALLY PROVEN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50976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Built and measured: slide 7.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5755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3385565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17" name="Picture 17416" descr="wifi-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3348" y="1303934"/>
            <a:ext cx="190195" cy="190195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3842765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OPERATIONALLY SIMPLE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842765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One image, CPU only, works offline.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4934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6277356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2" name="Picture 17421" descr="indian-rup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138" y="1303934"/>
            <a:ext cx="190195" cy="190195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6734556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ECONOMICALLY VIABLE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734556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₹0 licences, runs on existing PCs.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904113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6" name="Oval 17425"/>
          <p:cNvSpPr/>
          <p:nvPr/>
        </p:nvSpPr>
        <p:spPr>
          <a:xfrm>
            <a:off x="9169146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7" name="Picture 17426" descr="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6928" y="1303934"/>
            <a:ext cx="190195" cy="190195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9626346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ALREADY WORKING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626346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All three ISRO milestones are built.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65760" y="1792224"/>
            <a:ext cx="5577840" cy="292608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THE HARD PROBLEMS, AND HOW EACH IS HANDLED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65760" y="2157984"/>
            <a:ext cx="5577840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2" name="Rectangle 17431"/>
          <p:cNvSpPr/>
          <p:nvPr/>
        </p:nvSpPr>
        <p:spPr>
          <a:xfrm>
            <a:off x="365760" y="2212848"/>
            <a:ext cx="54864" cy="676656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530352" y="2221991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 b="0" i="0">
                <a:solidFill>
                  <a:srgbClr val="C1440E"/>
                </a:solidFill>
                <a:latin typeface="Franklin Gothic Demi Cond"/>
              </a:rPr>
              <a:t>PROBLEM  </a:t>
            </a:r>
            <a:r>
              <a:rPr sz="940" b="0" i="0">
                <a:solidFill>
                  <a:srgbClr val="141B22"/>
                </a:solidFill>
                <a:latin typeface="Segoe UI Semibold"/>
              </a:rPr>
              <a:t>ISRO judges on 0.6 m Cartosat-2S; open LiDAR training imagery is 0.3 m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30352" y="2459736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1E8E5A"/>
                </a:solidFill>
                <a:latin typeface="Franklin Gothic Demi Cond"/>
              </a:rPr>
              <a:t>HANDLED  </a:t>
            </a:r>
            <a:r>
              <a:rPr sz="890" b="0" i="0">
                <a:solidFill>
                  <a:srgbClr val="2A3540"/>
                </a:solidFill>
                <a:latin typeface="Segoe UI"/>
              </a:rPr>
              <a:t>Auto-zoom reads the GeoTIFF's pixel size and resamples to the scale the model learned. Its cost at 0.6 m is measured on the shipped model (slide 7); fine-tuning on 0.6 m-degraded tiles is next.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65760" y="2999232"/>
            <a:ext cx="5577840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6" name="Rectangle 17435"/>
          <p:cNvSpPr/>
          <p:nvPr/>
        </p:nvSpPr>
        <p:spPr>
          <a:xfrm>
            <a:off x="365760" y="3054096"/>
            <a:ext cx="54864" cy="676656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530352" y="3063239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 b="0" i="0">
                <a:solidFill>
                  <a:srgbClr val="C1440E"/>
                </a:solidFill>
                <a:latin typeface="Franklin Gothic Demi Cond"/>
              </a:rPr>
              <a:t>PROBLEM  </a:t>
            </a:r>
            <a:r>
              <a:rPr sz="940" b="0" i="0">
                <a:solidFill>
                  <a:srgbClr val="141B22"/>
                </a:solidFill>
                <a:latin typeface="Segoe UI Semibold"/>
              </a:rPr>
              <a:t>Cartosat-2S colour is not the aerial colour the model learned from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30352" y="3300984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1E8E5A"/>
                </a:solidFill>
                <a:latin typeface="Franklin Gothic Demi Cond"/>
              </a:rPr>
              <a:t>HANDLED  </a:t>
            </a:r>
            <a:r>
              <a:rPr sz="890" b="0" i="0">
                <a:solidFill>
                  <a:srgbClr val="2A3540"/>
                </a:solidFill>
                <a:latin typeface="Segoe UI"/>
              </a:rPr>
              <a:t>Training jitters brightness, contrast and gamma to mimic sensor and haze; any band count loads. The cost on real Cartosat colour is not yet measured.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65760" y="3840480"/>
            <a:ext cx="5577840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0" name="Rectangle 17439"/>
          <p:cNvSpPr/>
          <p:nvPr/>
        </p:nvSpPr>
        <p:spPr>
          <a:xfrm>
            <a:off x="365760" y="3895344"/>
            <a:ext cx="54864" cy="676656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530352" y="3904488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 b="0" i="0">
                <a:solidFill>
                  <a:srgbClr val="C1440E"/>
                </a:solidFill>
                <a:latin typeface="Franklin Gothic Demi Cond"/>
              </a:rPr>
              <a:t>PROBLEM  </a:t>
            </a:r>
            <a:r>
              <a:rPr sz="940" b="0" i="0">
                <a:solidFill>
                  <a:srgbClr val="141B22"/>
                </a:solidFill>
                <a:latin typeface="Segoe UI Semibold"/>
              </a:rPr>
              <a:t>One image has no stereo parallax, so which heights can be trusted?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530352" y="4142232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1E8E5A"/>
                </a:solidFill>
                <a:latin typeface="Franklin Gothic Demi Cond"/>
              </a:rPr>
              <a:t>HANDLED  </a:t>
            </a:r>
            <a:r>
              <a:rPr sz="890" b="0" i="0">
                <a:solidFill>
                  <a:srgbClr val="2A3540"/>
                </a:solidFill>
                <a:latin typeface="Segoe UI"/>
              </a:rPr>
              <a:t>Every pixel ships with an uncertainty (σ), calibrated against LiDAR. Unsure pixels are flagged for the analyst, not hidden.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365760" y="4681728"/>
            <a:ext cx="5577840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4" name="Rectangle 17443"/>
          <p:cNvSpPr/>
          <p:nvPr/>
        </p:nvSpPr>
        <p:spPr>
          <a:xfrm>
            <a:off x="365760" y="4736592"/>
            <a:ext cx="54864" cy="676656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530352" y="4745736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 b="0" i="0">
                <a:solidFill>
                  <a:srgbClr val="C1440E"/>
                </a:solidFill>
                <a:latin typeface="Franklin Gothic Demi Cond"/>
              </a:rPr>
              <a:t>PROBLEM  </a:t>
            </a:r>
            <a:r>
              <a:rPr sz="940" b="0" i="0">
                <a:solidFill>
                  <a:srgbClr val="141B22"/>
                </a:solidFill>
                <a:latin typeface="Segoe UI Semibold"/>
              </a:rPr>
              <a:t>An absolute DSM needs ground elevation a single image cannot give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530352" y="4983480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1E8E5A"/>
                </a:solidFill>
                <a:latin typeface="Franklin Gothic Demi Cond"/>
              </a:rPr>
              <a:t>HANDLED  </a:t>
            </a:r>
            <a:r>
              <a:rPr sz="890" b="0" i="0">
                <a:solidFill>
                  <a:srgbClr val="2A3540"/>
                </a:solidFill>
                <a:latin typeface="Segoe UI"/>
              </a:rPr>
              <a:t>Copernicus GLO-30 terrain plus our above-ground heights, on by default. GLO-30's own error (&lt; 4 m, LE90) is inherited, and stated.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365760" y="5522976"/>
            <a:ext cx="5577840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8" name="Rectangle 17447"/>
          <p:cNvSpPr/>
          <p:nvPr/>
        </p:nvSpPr>
        <p:spPr>
          <a:xfrm>
            <a:off x="365760" y="5577840"/>
            <a:ext cx="54864" cy="676656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530352" y="5586984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 b="0" i="0">
                <a:solidFill>
                  <a:srgbClr val="C1440E"/>
                </a:solidFill>
                <a:latin typeface="Franklin Gothic Demi Cond"/>
              </a:rPr>
              <a:t>PROBLEM  </a:t>
            </a:r>
            <a:r>
              <a:rPr sz="940" b="0" i="0">
                <a:solidFill>
                  <a:srgbClr val="141B22"/>
                </a:solidFill>
                <a:latin typeface="Segoe UI Semibold"/>
              </a:rPr>
              <a:t>Field offices have no GPU and often no reliable internet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530352" y="5824728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1E8E5A"/>
                </a:solidFill>
                <a:latin typeface="Franklin Gothic Demi Cond"/>
              </a:rPr>
              <a:t>HANDLED  </a:t>
            </a:r>
            <a:r>
              <a:rPr sz="890" b="0" i="0">
                <a:solidFill>
                  <a:srgbClr val="2A3540"/>
                </a:solidFill>
                <a:latin typeface="Segoe UI"/>
              </a:rPr>
              <a:t>Inference runs on an ordinary desktop CPU, about a minute per km²; results open in a 3-D viewer that ships as one offline HTML file.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6272784" y="1792224"/>
            <a:ext cx="5550407" cy="292608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OPEN RISKS, AND WHAT ANSWERS EACH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6272784" y="2157984"/>
            <a:ext cx="5550407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3" name="Oval 17452"/>
          <p:cNvSpPr/>
          <p:nvPr/>
        </p:nvSpPr>
        <p:spPr>
          <a:xfrm>
            <a:off x="6345936" y="2185415"/>
            <a:ext cx="219456" cy="219456"/>
          </a:xfrm>
          <a:prstGeom prst="ellipse">
            <a:avLst/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4" name="Picture 17453" descr="triangle-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605" y="2238085"/>
            <a:ext cx="114117" cy="114117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6638544" y="2194560"/>
            <a:ext cx="50749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Segoe UI Semibold"/>
              </a:rPr>
              <a:t>No Indian ground truth exists yet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6455664" y="2468879"/>
            <a:ext cx="5367527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7" name="Rectangle 17456"/>
          <p:cNvSpPr/>
          <p:nvPr/>
        </p:nvSpPr>
        <p:spPr>
          <a:xfrm>
            <a:off x="6455664" y="2505456"/>
            <a:ext cx="54864" cy="51206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6601968" y="2496312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2A3540"/>
                </a:solidFill>
                <a:latin typeface="Segoe UI"/>
              </a:rPr>
              <a:t>Over India we can only compare against another model, Google Open Buildings, so we report agreement, not accuracy. </a:t>
            </a:r>
            <a:r>
              <a:rPr sz="880" b="0" i="0">
                <a:solidFill>
                  <a:srgbClr val="141B22"/>
                </a:solidFill>
                <a:latin typeface="Segoe UI Semibold"/>
              </a:rPr>
              <a:t>Answered by </a:t>
            </a:r>
            <a:r>
              <a:rPr sz="880" b="0" i="0">
                <a:solidFill>
                  <a:srgbClr val="2A3540"/>
                </a:solidFill>
                <a:latin typeface="Segoe UI"/>
              </a:rPr>
              <a:t>SAC stereo or DGPS control points in the pilot (below).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6272784" y="3108960"/>
            <a:ext cx="5550407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0" name="Oval 17459"/>
          <p:cNvSpPr/>
          <p:nvPr/>
        </p:nvSpPr>
        <p:spPr>
          <a:xfrm>
            <a:off x="6345936" y="3136391"/>
            <a:ext cx="219456" cy="219456"/>
          </a:xfrm>
          <a:prstGeom prst="ellipse">
            <a:avLst/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1" name="Picture 17460" descr="triangle-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605" y="3189061"/>
            <a:ext cx="114117" cy="114117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6638544" y="3145536"/>
            <a:ext cx="50749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Segoe UI Semibold"/>
              </a:rPr>
              <a:t>Tall buildings compress toward the mean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6455664" y="3419856"/>
            <a:ext cx="5367527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4" name="Rectangle 17463"/>
          <p:cNvSpPr/>
          <p:nvPr/>
        </p:nvSpPr>
        <p:spPr>
          <a:xfrm>
            <a:off x="6455664" y="3456432"/>
            <a:ext cx="54864" cy="51206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5" name="TextBox 17464"/>
          <p:cNvSpPr txBox="1"/>
          <p:nvPr/>
        </p:nvSpPr>
        <p:spPr>
          <a:xfrm>
            <a:off x="6601968" y="3447288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2A3540"/>
                </a:solidFill>
                <a:latin typeface="Segoe UI"/>
              </a:rPr>
              <a:t>Open training data holds few towers (tallest 83 m), so they are under-called. </a:t>
            </a:r>
            <a:r>
              <a:rPr sz="880" b="0" i="0">
                <a:solidFill>
                  <a:srgbClr val="141B22"/>
                </a:solidFill>
                <a:latin typeface="Segoe UI Semibold"/>
              </a:rPr>
              <a:t>Partly answered by </a:t>
            </a:r>
            <a:r>
              <a:rPr sz="880" b="0" i="0">
                <a:solidFill>
                  <a:srgbClr val="2A3540"/>
                </a:solidFill>
                <a:latin typeface="Segoe UI"/>
              </a:rPr>
              <a:t>ISRO's GAMUS (it moved the gap significantly) and a control-point fit; fully, only by tall-building LiDAR.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6272784" y="4078224"/>
            <a:ext cx="5550407" cy="274320"/>
          </a:xfrm>
          <a:prstGeom prst="roundRect">
            <a:avLst>
              <a:gd name="adj" fmla="val 50000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DEPLOYMENT PLAN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6272784" y="4425696"/>
            <a:ext cx="1319022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8" name="Rounded Rectangle 17467"/>
          <p:cNvSpPr/>
          <p:nvPr/>
        </p:nvSpPr>
        <p:spPr>
          <a:xfrm>
            <a:off x="6345936" y="4489704"/>
            <a:ext cx="237744" cy="237744"/>
          </a:xfrm>
          <a:prstGeom prst="roundRect">
            <a:avLst>
              <a:gd name="adj" fmla="val 15384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"/>
              </a:rPr>
              <a:t>1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6638544" y="4480560"/>
            <a:ext cx="89839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Pilot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6345936" y="4754880"/>
            <a:ext cx="119100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2A3540"/>
                </a:solidFill>
                <a:latin typeface="Segoe UI"/>
              </a:rPr>
              <a:t>Open Bhoonidhi CartoDEM and LISS-4 tiles; per-terrain metrics.</a:t>
            </a:r>
          </a:p>
        </p:txBody>
      </p:sp>
      <p:sp>
        <p:nvSpPr>
          <p:cNvPr id="17471" name="Right Arrow 17470"/>
          <p:cNvSpPr/>
          <p:nvPr/>
        </p:nvSpPr>
        <p:spPr>
          <a:xfrm>
            <a:off x="7582662" y="4782312"/>
            <a:ext cx="109728" cy="128016"/>
          </a:xfrm>
          <a:prstGeom prst="right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2" name="Rounded Rectangle 17471"/>
          <p:cNvSpPr/>
          <p:nvPr/>
        </p:nvSpPr>
        <p:spPr>
          <a:xfrm>
            <a:off x="7683246" y="4425696"/>
            <a:ext cx="1319022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3" name="Rounded Rectangle 17472"/>
          <p:cNvSpPr/>
          <p:nvPr/>
        </p:nvSpPr>
        <p:spPr>
          <a:xfrm>
            <a:off x="7756398" y="4489704"/>
            <a:ext cx="237744" cy="237744"/>
          </a:xfrm>
          <a:prstGeom prst="roundRect">
            <a:avLst>
              <a:gd name="adj" fmla="val 15384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"/>
              </a:rPr>
              <a:t>2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8049006" y="4480560"/>
            <a:ext cx="89839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Validate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7756398" y="4754880"/>
            <a:ext cx="119100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2A3540"/>
                </a:solidFill>
                <a:latin typeface="Segoe UI"/>
              </a:rPr>
              <a:t>SAC Cartosat stereo or DGPS turns the Sikkim check into accuracy.</a:t>
            </a:r>
          </a:p>
        </p:txBody>
      </p:sp>
      <p:sp>
        <p:nvSpPr>
          <p:cNvPr id="17476" name="Right Arrow 17475"/>
          <p:cNvSpPr/>
          <p:nvPr/>
        </p:nvSpPr>
        <p:spPr>
          <a:xfrm>
            <a:off x="8993124" y="4782312"/>
            <a:ext cx="109728" cy="128016"/>
          </a:xfrm>
          <a:prstGeom prst="right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7" name="Rounded Rectangle 17476"/>
          <p:cNvSpPr/>
          <p:nvPr/>
        </p:nvSpPr>
        <p:spPr>
          <a:xfrm>
            <a:off x="9093708" y="4425696"/>
            <a:ext cx="1319022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8" name="Rounded Rectangle 17477"/>
          <p:cNvSpPr/>
          <p:nvPr/>
        </p:nvSpPr>
        <p:spPr>
          <a:xfrm>
            <a:off x="9166860" y="4489704"/>
            <a:ext cx="237744" cy="237744"/>
          </a:xfrm>
          <a:prstGeom prst="roundRect">
            <a:avLst>
              <a:gd name="adj" fmla="val 15384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"/>
              </a:rPr>
              <a:t>3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9459468" y="4480560"/>
            <a:ext cx="89839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Integrate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9166860" y="4754880"/>
            <a:ext cx="119100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2A3540"/>
                </a:solidFill>
                <a:latin typeface="Segoe UI"/>
              </a:rPr>
              <a:t>Container behind an internal API; the viewer opens from disk.</a:t>
            </a:r>
          </a:p>
        </p:txBody>
      </p:sp>
      <p:sp>
        <p:nvSpPr>
          <p:cNvPr id="17481" name="Right Arrow 17480"/>
          <p:cNvSpPr/>
          <p:nvPr/>
        </p:nvSpPr>
        <p:spPr>
          <a:xfrm>
            <a:off x="10403586" y="4782312"/>
            <a:ext cx="109728" cy="128016"/>
          </a:xfrm>
          <a:prstGeom prst="right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2" name="Rounded Rectangle 17481"/>
          <p:cNvSpPr/>
          <p:nvPr/>
        </p:nvSpPr>
        <p:spPr>
          <a:xfrm>
            <a:off x="10504170" y="4425696"/>
            <a:ext cx="1319022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3" name="Rounded Rectangle 17482"/>
          <p:cNvSpPr/>
          <p:nvPr/>
        </p:nvSpPr>
        <p:spPr>
          <a:xfrm>
            <a:off x="10577322" y="4489704"/>
            <a:ext cx="237744" cy="237744"/>
          </a:xfrm>
          <a:prstGeom prst="roundRect">
            <a:avLst>
              <a:gd name="adj" fmla="val 15384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"/>
              </a:rPr>
              <a:t>4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10869930" y="4480560"/>
            <a:ext cx="89839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Scale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10577322" y="4754880"/>
            <a:ext cx="119100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2A3540"/>
                </a:solidFill>
                <a:latin typeface="Segoe UI"/>
              </a:rPr>
              <a:t>Batch the archive: every scene gains a height layer.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6272784" y="5340096"/>
            <a:ext cx="2720339" cy="256032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COST ESTIMATE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6309360" y="5650992"/>
            <a:ext cx="2647187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830" b="0" i="0">
                <a:solidFill>
                  <a:srgbClr val="141B22"/>
                </a:solidFill>
                <a:latin typeface="Segoe UI Semibold"/>
              </a:rPr>
              <a:t>Licences  </a:t>
            </a:r>
            <a:r>
              <a:rPr sz="830" b="0" i="0">
                <a:solidFill>
                  <a:srgbClr val="2A3540"/>
                </a:solidFill>
                <a:latin typeface="Segoe UI"/>
              </a:rPr>
              <a:t>₹0 — every dependency open source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830" b="0" i="0">
                <a:solidFill>
                  <a:srgbClr val="141B22"/>
                </a:solidFill>
                <a:latin typeface="Segoe UI Semibold"/>
              </a:rPr>
              <a:t>Training  </a:t>
            </a:r>
            <a:r>
              <a:rPr sz="830" b="0" i="0">
                <a:solidFill>
                  <a:srgbClr val="2A3540"/>
                </a:solidFill>
                <a:latin typeface="Segoe UI"/>
              </a:rPr>
              <a:t>one consumer RTX 3060 GPU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830" b="0" i="0">
                <a:solidFill>
                  <a:srgbClr val="141B22"/>
                </a:solidFill>
                <a:latin typeface="Segoe UI Semibold"/>
              </a:rPr>
              <a:t>Compute  </a:t>
            </a:r>
            <a:r>
              <a:rPr sz="830" b="0" i="0">
                <a:solidFill>
                  <a:srgbClr val="2A3540"/>
                </a:solidFill>
                <a:latin typeface="Segoe UI"/>
              </a:rPr>
              <a:t>~1 min per km² on a desktop CPU*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830" b="0" i="0">
                <a:solidFill>
                  <a:srgbClr val="141B22"/>
                </a:solidFill>
                <a:latin typeface="Segoe UI Semibold"/>
              </a:rPr>
              <a:t>Hosting  </a:t>
            </a:r>
            <a:r>
              <a:rPr sz="830" b="0" i="0">
                <a:solidFill>
                  <a:srgbClr val="2A3540"/>
                </a:solidFill>
                <a:latin typeface="Segoe UI"/>
              </a:rPr>
              <a:t>one two-core CPU server, live today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830" b="0" i="0">
                <a:solidFill>
                  <a:srgbClr val="141B22"/>
                </a:solidFill>
                <a:latin typeface="Segoe UI Semibold"/>
              </a:rPr>
              <a:t>Imagery  </a:t>
            </a:r>
            <a:r>
              <a:rPr sz="830" b="0" i="0">
                <a:solidFill>
                  <a:srgbClr val="2A3540"/>
                </a:solidFill>
                <a:latin typeface="Segoe UI"/>
              </a:rPr>
              <a:t>already flown and already paid for</a:t>
            </a:r>
          </a:p>
        </p:txBody>
      </p:sp>
      <p:sp>
        <p:nvSpPr>
          <p:cNvPr id="17488" name="Rounded Rectangle 17487"/>
          <p:cNvSpPr/>
          <p:nvPr/>
        </p:nvSpPr>
        <p:spPr>
          <a:xfrm>
            <a:off x="9102852" y="5340096"/>
            <a:ext cx="2720339" cy="256032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TESTING PLAN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9139428" y="5650992"/>
            <a:ext cx="2647187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830" b="0" i="0">
                <a:solidFill>
                  <a:srgbClr val="1E8E5A"/>
                </a:solidFill>
                <a:latin typeface="Segoe UI Semibold"/>
              </a:rPr>
              <a:t>Done  </a:t>
            </a:r>
            <a:r>
              <a:rPr sz="830" b="0" i="0">
                <a:solidFill>
                  <a:srgbClr val="2A3540"/>
                </a:solidFill>
                <a:latin typeface="Segoe UI"/>
              </a:rPr>
              <a:t>region-disjoint LiDAR validation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830" b="0" i="0">
                <a:solidFill>
                  <a:srgbClr val="1E8E5A"/>
                </a:solidFill>
                <a:latin typeface="Segoe UI Semibold"/>
              </a:rPr>
              <a:t>Done  </a:t>
            </a:r>
            <a:r>
              <a:rPr sz="830" b="0" i="0">
                <a:solidFill>
                  <a:srgbClr val="2A3540"/>
                </a:solidFill>
                <a:latin typeface="Segoe UI"/>
              </a:rPr>
              <a:t>second city, with a 338 m buffer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830" b="0" i="0">
                <a:solidFill>
                  <a:srgbClr val="1E8E5A"/>
                </a:solidFill>
                <a:latin typeface="Segoe UI Semibold"/>
              </a:rPr>
              <a:t>Done  </a:t>
            </a:r>
            <a:r>
              <a:rPr sz="830" b="0" i="0">
                <a:solidFill>
                  <a:srgbClr val="2A3540"/>
                </a:solidFill>
                <a:latin typeface="Segoe UI"/>
              </a:rPr>
              <a:t>ISRO's 0.6 m, simulated, on the shipped model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830" b="0" i="0">
                <a:solidFill>
                  <a:srgbClr val="2E6E92"/>
                </a:solidFill>
                <a:latin typeface="Segoe UI Semibold"/>
              </a:rPr>
              <a:t>Next  </a:t>
            </a:r>
            <a:r>
              <a:rPr sz="830" b="0" i="0">
                <a:solidFill>
                  <a:srgbClr val="2A3540"/>
                </a:solidFill>
                <a:latin typeface="Segoe UI"/>
              </a:rPr>
              <a:t>held-out test split, scored once</a:t>
            </a:r>
          </a:p>
          <a:p>
            <a:pPr algn="l">
              <a:lnSpc>
                <a:spcPct val="100000"/>
              </a:lnSpc>
              <a:spcAft>
                <a:spcPts val="120"/>
              </a:spcAft>
            </a:pPr>
            <a:r>
              <a:rPr sz="830" b="0" i="0">
                <a:solidFill>
                  <a:srgbClr val="2E6E92"/>
                </a:solidFill>
                <a:latin typeface="Segoe UI Semibold"/>
              </a:rPr>
              <a:t>Next  </a:t>
            </a:r>
            <a:r>
              <a:rPr sz="830" b="0" i="0">
                <a:solidFill>
                  <a:srgbClr val="2A3540"/>
                </a:solidFill>
                <a:latin typeface="Segoe UI"/>
              </a:rPr>
              <a:t>Indian truth: SAC stereo or DGPS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6272784" y="6400800"/>
            <a:ext cx="55504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5636E"/>
                </a:solidFill>
                <a:latin typeface="Segoe UI"/>
              </a:rPr>
              <a:t>*Derived: 5.0 s per 1024 px tile (0.094 km²), single pass, measured on a desktop CPU.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577840" cy="310896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DISASTER USE CASE — BUILT, ON INDIAN TERRAIN</a:t>
            </a:r>
          </a:p>
        </p:txBody>
      </p:sp>
      <p:pic>
        <p:nvPicPr>
          <p:cNvPr id="17411" name="Picture 17410" descr="sikkim_flood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81328"/>
            <a:ext cx="5577840" cy="2065866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17412" name="Rounded Rectangle 17411"/>
          <p:cNvSpPr/>
          <p:nvPr/>
        </p:nvSpPr>
        <p:spPr>
          <a:xfrm>
            <a:off x="4023360" y="1481328"/>
            <a:ext cx="1649577" cy="237744"/>
          </a:xfrm>
          <a:prstGeom prst="roundRect">
            <a:avLst>
              <a:gd name="adj" fmla="val 15384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SIKKIM · LIVE FLOOD TOOL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3089994"/>
            <a:ext cx="5394959" cy="384048"/>
          </a:xfrm>
          <a:prstGeom prst="roundRect">
            <a:avLst>
              <a:gd name="adj" fmla="val 14285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548640" y="3135714"/>
            <a:ext cx="16520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89E3C"/>
                </a:solidFill>
                <a:latin typeface="Franklin Gothic Demi"/>
              </a:rPr>
              <a:t>1,143 m  </a:t>
            </a:r>
            <a:r>
              <a:rPr sz="860" b="0" i="0">
                <a:solidFill>
                  <a:srgbClr val="FFFFFF"/>
                </a:solidFill>
                <a:latin typeface="Franklin Gothic Demi Cond"/>
              </a:rPr>
              <a:t>WATER LEVEL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255520" y="3163146"/>
            <a:ext cx="9144" cy="237744"/>
          </a:xfrm>
          <a:prstGeom prst="rect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2346960" y="3135714"/>
            <a:ext cx="16520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89E3C"/>
                </a:solidFill>
                <a:latin typeface="Franklin Gothic Demi"/>
              </a:rPr>
              <a:t>20.5 %  </a:t>
            </a:r>
            <a:r>
              <a:rPr sz="860" b="0" i="0">
                <a:solidFill>
                  <a:srgbClr val="FFFFFF"/>
                </a:solidFill>
                <a:latin typeface="Franklin Gothic Demi Cond"/>
              </a:rPr>
              <a:t>GROUND UNDER WATER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4053840" y="3163146"/>
            <a:ext cx="9144" cy="237744"/>
          </a:xfrm>
          <a:prstGeom prst="rect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4145280" y="3135714"/>
            <a:ext cx="16520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89E3C"/>
                </a:solidFill>
                <a:latin typeface="Franklin Gothic Demi"/>
              </a:rPr>
              <a:t>44  </a:t>
            </a:r>
            <a:r>
              <a:rPr sz="860" b="0" i="0">
                <a:solidFill>
                  <a:srgbClr val="FFFFFF"/>
                </a:solidFill>
                <a:latin typeface="Franklin Gothic Demi Cond"/>
              </a:rPr>
              <a:t>BUILDINGS FLOODED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65760" y="3583770"/>
            <a:ext cx="55778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Raise the water and the viewer counts ground under water and buildings flooded</a:t>
            </a:r>
            <a:r>
              <a:rPr sz="860" b="0" i="0">
                <a:solidFill>
                  <a:srgbClr val="55636E"/>
                </a:solidFill>
                <a:latin typeface="Segoe UI"/>
              </a:rPr>
              <a:t>, and flags the ones too close to call from its own sigma. Ground from Copernicus GLO-30; a flat-water model, labelled as one. Imagery © Maxar, CC BY-NC 4.0.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4041648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WHO IT SERVES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65760" y="4407408"/>
            <a:ext cx="17983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2" name="Oval 17421"/>
          <p:cNvSpPr/>
          <p:nvPr/>
        </p:nvSpPr>
        <p:spPr>
          <a:xfrm>
            <a:off x="429768" y="4453128"/>
            <a:ext cx="274320" cy="27432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3" name="Picture 17422" descr="sir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" y="4518964"/>
            <a:ext cx="142646" cy="142646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768096" y="4480560"/>
            <a:ext cx="1322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 b="0" i="0">
                <a:solidFill>
                  <a:srgbClr val="141B22"/>
                </a:solidFill>
                <a:latin typeface="Franklin Gothic Demi Cond"/>
              </a:rPr>
              <a:t>DISASTER RESPONSE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57200" y="4709160"/>
            <a:ext cx="1633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19" b="0" i="0">
                <a:solidFill>
                  <a:srgbClr val="2A3540"/>
                </a:solidFill>
                <a:latin typeface="Segoe UI"/>
              </a:rPr>
              <a:t>Post-event surfaces without waiting for a stereo pair.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255519" y="4407408"/>
            <a:ext cx="17983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7" name="Oval 17426"/>
          <p:cNvSpPr/>
          <p:nvPr/>
        </p:nvSpPr>
        <p:spPr>
          <a:xfrm>
            <a:off x="2319528" y="4453128"/>
            <a:ext cx="274320" cy="274320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8" name="Picture 17427" descr="satell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5364" y="4518964"/>
            <a:ext cx="142646" cy="142646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2657855" y="4480560"/>
            <a:ext cx="1322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 b="0" i="0">
                <a:solidFill>
                  <a:srgbClr val="141B22"/>
                </a:solidFill>
                <a:latin typeface="Franklin Gothic Demi Cond"/>
              </a:rPr>
              <a:t>ISRO AND SAC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2346960" y="4709160"/>
            <a:ext cx="1633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19" b="0" i="0">
                <a:solidFill>
                  <a:srgbClr val="2A3540"/>
                </a:solidFill>
                <a:latin typeface="Segoe UI"/>
              </a:rPr>
              <a:t>Height for the single-view Cartosat archive.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145280" y="4407408"/>
            <a:ext cx="17983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2" name="Oval 17431"/>
          <p:cNvSpPr/>
          <p:nvPr/>
        </p:nvSpPr>
        <p:spPr>
          <a:xfrm>
            <a:off x="4209287" y="4453128"/>
            <a:ext cx="274320" cy="274320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3" name="Picture 17432" descr="building-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5124" y="4518964"/>
            <a:ext cx="142646" cy="142646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4547616" y="4480560"/>
            <a:ext cx="1322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 b="0" i="0">
                <a:solidFill>
                  <a:srgbClr val="141B22"/>
                </a:solidFill>
                <a:latin typeface="Franklin Gothic Demi Cond"/>
              </a:rPr>
              <a:t>URBAN PLANNING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236720" y="4709160"/>
            <a:ext cx="1633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19" b="0" i="0">
                <a:solidFill>
                  <a:srgbClr val="2A3540"/>
                </a:solidFill>
                <a:latin typeface="Segoe UI"/>
              </a:rPr>
              <a:t>Building heights for FSI and shadow checks (AMRUT).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65760" y="502920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7" name="Oval 17436"/>
          <p:cNvSpPr/>
          <p:nvPr/>
        </p:nvSpPr>
        <p:spPr>
          <a:xfrm>
            <a:off x="429768" y="5074920"/>
            <a:ext cx="274320" cy="274320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8" name="Picture 17437" descr="le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" y="5140756"/>
            <a:ext cx="142646" cy="142646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768096" y="5102352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 b="0" i="0">
                <a:solidFill>
                  <a:srgbClr val="141B22"/>
                </a:solidFill>
                <a:latin typeface="Franklin Gothic Demi Cond"/>
              </a:rPr>
              <a:t>FORESTRY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57200" y="5330952"/>
            <a:ext cx="25786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19" b="0" i="0">
                <a:solidFill>
                  <a:srgbClr val="2A3540"/>
                </a:solidFill>
                <a:latin typeface="Segoe UI"/>
              </a:rPr>
              <a:t>Canopy height proxies for biomass and encroachment.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200400" y="502920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2" name="Oval 17441"/>
          <p:cNvSpPr/>
          <p:nvPr/>
        </p:nvSpPr>
        <p:spPr>
          <a:xfrm>
            <a:off x="3264408" y="5074920"/>
            <a:ext cx="274320" cy="274320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3" name="Picture 17442" descr="radio-tow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0244" y="5140756"/>
            <a:ext cx="142646" cy="142646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3602736" y="5102352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40" b="0" i="0">
                <a:solidFill>
                  <a:srgbClr val="141B22"/>
                </a:solidFill>
                <a:latin typeface="Franklin Gothic Demi Cond"/>
              </a:rPr>
              <a:t>TELECOM ROLLOUT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3291840" y="5330952"/>
            <a:ext cx="25786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19" b="0" i="0">
                <a:solidFill>
                  <a:srgbClr val="2A3540"/>
                </a:solidFill>
                <a:latin typeface="Segoe UI"/>
              </a:rPr>
              <a:t>Line-of-sight and tower siting without a LiDAR survey.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6126480" y="1115568"/>
            <a:ext cx="5696712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BEFORE AND AFTER, FOR THE PEOPLE WHO USE IT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7443215" y="1499616"/>
            <a:ext cx="1792224" cy="256032"/>
          </a:xfrm>
          <a:prstGeom prst="roundRect">
            <a:avLst>
              <a:gd name="adj" fmla="val 17857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Franklin Gothic Demi Cond"/>
              </a:rPr>
              <a:t>TODAY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9272015" y="1499616"/>
            <a:ext cx="2551176" cy="256032"/>
          </a:xfrm>
          <a:prstGeom prst="roundRect">
            <a:avLst>
              <a:gd name="adj" fmla="val 17857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Franklin Gothic Demi Cond"/>
              </a:rPr>
              <a:t>WITH DEPTHWIZARD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126480" y="1810512"/>
            <a:ext cx="1280160" cy="585216"/>
          </a:xfrm>
          <a:prstGeom prst="roundRect">
            <a:avLst>
              <a:gd name="adj" fmla="val 781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0" name="Rounded Rectangle 17449"/>
          <p:cNvSpPr/>
          <p:nvPr/>
        </p:nvSpPr>
        <p:spPr>
          <a:xfrm>
            <a:off x="6199632" y="1883664"/>
            <a:ext cx="453542" cy="164592"/>
          </a:xfrm>
          <a:prstGeom prst="roundRect">
            <a:avLst>
              <a:gd name="adj" fmla="val 27777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20" b="0" i="0">
                <a:solidFill>
                  <a:srgbClr val="FFFFFF"/>
                </a:solidFill>
                <a:latin typeface="Franklin Gothic Demi Cond"/>
              </a:rPr>
              <a:t>SOCIAL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199632" y="2084831"/>
            <a:ext cx="11704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 b="0" i="0">
                <a:solidFill>
                  <a:srgbClr val="141B22"/>
                </a:solidFill>
                <a:latin typeface="Segoe UI Semibold"/>
              </a:rPr>
              <a:t>Disaster response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7443215" y="1810512"/>
            <a:ext cx="1792224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7516367" y="1874519"/>
            <a:ext cx="16459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55636E"/>
                </a:solidFill>
                <a:latin typeface="Segoe UI"/>
              </a:rPr>
              <a:t>Wait for a stereo pair or a survey flight.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9272015" y="1810512"/>
            <a:ext cx="2551176" cy="585216"/>
          </a:xfrm>
          <a:prstGeom prst="roundRect">
            <a:avLst>
              <a:gd name="adj" fmla="val 7812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9345167" y="1874519"/>
            <a:ext cx="240487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A surface from one post-event image — about a minute per tile on a CPU web host.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6126480" y="2432304"/>
            <a:ext cx="1280160" cy="585216"/>
          </a:xfrm>
          <a:prstGeom prst="roundRect">
            <a:avLst>
              <a:gd name="adj" fmla="val 781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7" name="Rounded Rectangle 17456"/>
          <p:cNvSpPr/>
          <p:nvPr/>
        </p:nvSpPr>
        <p:spPr>
          <a:xfrm>
            <a:off x="6199632" y="2505456"/>
            <a:ext cx="453542" cy="164592"/>
          </a:xfrm>
          <a:prstGeom prst="roundRect">
            <a:avLst>
              <a:gd name="adj" fmla="val 27777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20" b="0" i="0">
                <a:solidFill>
                  <a:srgbClr val="FFFFFF"/>
                </a:solidFill>
                <a:latin typeface="Franklin Gothic Demi Cond"/>
              </a:rPr>
              <a:t>SOCIAL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199632" y="2706624"/>
            <a:ext cx="11704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 b="0" i="0">
                <a:solidFill>
                  <a:srgbClr val="141B22"/>
                </a:solidFill>
                <a:latin typeface="Segoe UI Semibold"/>
              </a:rPr>
              <a:t>Trust in the number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7443215" y="2432304"/>
            <a:ext cx="1792224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7516367" y="2496312"/>
            <a:ext cx="16459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55636E"/>
                </a:solidFill>
                <a:latin typeface="Segoe UI"/>
              </a:rPr>
              <a:t>One height, no error bar.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9272015" y="2432304"/>
            <a:ext cx="2551176" cy="585216"/>
          </a:xfrm>
          <a:prstGeom prst="roundRect">
            <a:avLst>
              <a:gd name="adj" fmla="val 7812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2" name="TextBox 17461"/>
          <p:cNvSpPr txBox="1"/>
          <p:nvPr/>
        </p:nvSpPr>
        <p:spPr>
          <a:xfrm>
            <a:off x="9345167" y="2496312"/>
            <a:ext cx="240487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Height plus a per-pixel sigma that ranks where it is likely wrong.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6126480" y="3054096"/>
            <a:ext cx="1280160" cy="585216"/>
          </a:xfrm>
          <a:prstGeom prst="roundRect">
            <a:avLst>
              <a:gd name="adj" fmla="val 781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4" name="Rounded Rectangle 17463"/>
          <p:cNvSpPr/>
          <p:nvPr/>
        </p:nvSpPr>
        <p:spPr>
          <a:xfrm>
            <a:off x="6199632" y="3127248"/>
            <a:ext cx="574243" cy="164592"/>
          </a:xfrm>
          <a:prstGeom prst="roundRect">
            <a:avLst>
              <a:gd name="adj" fmla="val 27777"/>
            </a:avLst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20" b="0" i="0">
                <a:solidFill>
                  <a:srgbClr val="FFFFFF"/>
                </a:solidFill>
                <a:latin typeface="Franklin Gothic Demi Cond"/>
              </a:rPr>
              <a:t>ECONOMIC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6199632" y="3328415"/>
            <a:ext cx="11704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 b="0" i="0">
                <a:solidFill>
                  <a:srgbClr val="141B22"/>
                </a:solidFill>
                <a:latin typeface="Segoe UI Semibold"/>
              </a:rPr>
              <a:t>The archive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7443215" y="3054096"/>
            <a:ext cx="1792224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7" name="TextBox 17466"/>
          <p:cNvSpPr txBox="1"/>
          <p:nvPr/>
        </p:nvSpPr>
        <p:spPr>
          <a:xfrm>
            <a:off x="7516367" y="3118103"/>
            <a:ext cx="16459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55636E"/>
                </a:solidFill>
                <a:latin typeface="Segoe UI"/>
              </a:rPr>
              <a:t>Decades of single-view Cartosat with no height.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9272015" y="3054096"/>
            <a:ext cx="2551176" cy="585216"/>
          </a:xfrm>
          <a:prstGeom prst="roundRect">
            <a:avLst>
              <a:gd name="adj" fmla="val 7812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9" name="TextBox 17468"/>
          <p:cNvSpPr txBox="1"/>
          <p:nvPr/>
        </p:nvSpPr>
        <p:spPr>
          <a:xfrm>
            <a:off x="9345167" y="3118103"/>
            <a:ext cx="240487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Every archived scene can gain a height layer, with no new tasking.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6126480" y="3675887"/>
            <a:ext cx="1280160" cy="585216"/>
          </a:xfrm>
          <a:prstGeom prst="roundRect">
            <a:avLst>
              <a:gd name="adj" fmla="val 781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1" name="Rounded Rectangle 17470"/>
          <p:cNvSpPr/>
          <p:nvPr/>
        </p:nvSpPr>
        <p:spPr>
          <a:xfrm>
            <a:off x="6199632" y="3749039"/>
            <a:ext cx="574243" cy="164592"/>
          </a:xfrm>
          <a:prstGeom prst="roundRect">
            <a:avLst>
              <a:gd name="adj" fmla="val 27777"/>
            </a:avLst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20" b="0" i="0">
                <a:solidFill>
                  <a:srgbClr val="FFFFFF"/>
                </a:solidFill>
                <a:latin typeface="Franklin Gothic Demi Cond"/>
              </a:rPr>
              <a:t>ECONOMIC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199632" y="3950207"/>
            <a:ext cx="11704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 b="0" i="0">
                <a:solidFill>
                  <a:srgbClr val="141B22"/>
                </a:solidFill>
                <a:latin typeface="Segoe UI Semibold"/>
              </a:rPr>
              <a:t>Municipal bodies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7443215" y="3675887"/>
            <a:ext cx="1792224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7516367" y="3739896"/>
            <a:ext cx="16459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55636E"/>
                </a:solidFill>
                <a:latin typeface="Segoe UI"/>
              </a:rPr>
              <a:t>Building heights need a survey budget.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9272015" y="3675887"/>
            <a:ext cx="2551176" cy="585216"/>
          </a:xfrm>
          <a:prstGeom prst="roundRect">
            <a:avLst>
              <a:gd name="adj" fmla="val 7812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6" name="TextBox 17475"/>
          <p:cNvSpPr txBox="1"/>
          <p:nvPr/>
        </p:nvSpPr>
        <p:spPr>
          <a:xfrm>
            <a:off x="9345167" y="3739896"/>
            <a:ext cx="240487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Free and open; 36.8 MB runs offline on a laptop CPU.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6126480" y="4297680"/>
            <a:ext cx="1280160" cy="585216"/>
          </a:xfrm>
          <a:prstGeom prst="roundRect">
            <a:avLst>
              <a:gd name="adj" fmla="val 781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8" name="Rounded Rectangle 17477"/>
          <p:cNvSpPr/>
          <p:nvPr/>
        </p:nvSpPr>
        <p:spPr>
          <a:xfrm>
            <a:off x="6199632" y="4370832"/>
            <a:ext cx="875995" cy="164592"/>
          </a:xfrm>
          <a:prstGeom prst="roundRect">
            <a:avLst>
              <a:gd name="adj" fmla="val 27777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20" b="0" i="0">
                <a:solidFill>
                  <a:srgbClr val="FFFFFF"/>
                </a:solidFill>
                <a:latin typeface="Franklin Gothic Demi Cond"/>
              </a:rPr>
              <a:t>ENVIRONMENTAL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6199632" y="4572000"/>
            <a:ext cx="11704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 b="0" i="0">
                <a:solidFill>
                  <a:srgbClr val="141B22"/>
                </a:solidFill>
                <a:latin typeface="Segoe UI Semibold"/>
              </a:rPr>
              <a:t>Survey flights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7443215" y="4297680"/>
            <a:ext cx="1792224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1" name="TextBox 17480"/>
          <p:cNvSpPr txBox="1"/>
          <p:nvPr/>
        </p:nvSpPr>
        <p:spPr>
          <a:xfrm>
            <a:off x="7516367" y="4361688"/>
            <a:ext cx="16459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55636E"/>
                </a:solidFill>
                <a:latin typeface="Segoe UI"/>
              </a:rPr>
              <a:t>New LiDAR or stereo sorties to fly.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9272015" y="4297680"/>
            <a:ext cx="2551176" cy="585216"/>
          </a:xfrm>
          <a:prstGeom prst="roundRect">
            <a:avLst>
              <a:gd name="adj" fmla="val 7812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3" name="TextBox 17482"/>
          <p:cNvSpPr txBox="1"/>
          <p:nvPr/>
        </p:nvSpPr>
        <p:spPr>
          <a:xfrm>
            <a:off x="9345167" y="4361688"/>
            <a:ext cx="240487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None: it reuses imagery already flown.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6126480" y="4919472"/>
            <a:ext cx="1280160" cy="585216"/>
          </a:xfrm>
          <a:prstGeom prst="roundRect">
            <a:avLst>
              <a:gd name="adj" fmla="val 781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5" name="Rounded Rectangle 17484"/>
          <p:cNvSpPr/>
          <p:nvPr/>
        </p:nvSpPr>
        <p:spPr>
          <a:xfrm>
            <a:off x="6199632" y="4992624"/>
            <a:ext cx="875995" cy="164592"/>
          </a:xfrm>
          <a:prstGeom prst="roundRect">
            <a:avLst>
              <a:gd name="adj" fmla="val 27777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20" b="0" i="0">
                <a:solidFill>
                  <a:srgbClr val="FFFFFF"/>
                </a:solidFill>
                <a:latin typeface="Franklin Gothic Demi Cond"/>
              </a:rPr>
              <a:t>ENVIRONMENTAL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6199632" y="5193792"/>
            <a:ext cx="11704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 b="0" i="0">
                <a:solidFill>
                  <a:srgbClr val="141B22"/>
                </a:solidFill>
                <a:latin typeface="Segoe UI Semibold"/>
              </a:rPr>
              <a:t>Forest cover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7443215" y="4919472"/>
            <a:ext cx="1792224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8" name="TextBox 17487"/>
          <p:cNvSpPr txBox="1"/>
          <p:nvPr/>
        </p:nvSpPr>
        <p:spPr>
          <a:xfrm>
            <a:off x="7516367" y="4983480"/>
            <a:ext cx="16459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55636E"/>
                </a:solidFill>
                <a:latin typeface="Segoe UI"/>
              </a:rPr>
              <a:t>Canopy height needs airborne LiDAR.</a:t>
            </a:r>
          </a:p>
        </p:txBody>
      </p:sp>
      <p:sp>
        <p:nvSpPr>
          <p:cNvPr id="17489" name="Rounded Rectangle 17488"/>
          <p:cNvSpPr/>
          <p:nvPr/>
        </p:nvSpPr>
        <p:spPr>
          <a:xfrm>
            <a:off x="9272015" y="4919472"/>
            <a:ext cx="2551176" cy="585216"/>
          </a:xfrm>
          <a:prstGeom prst="roundRect">
            <a:avLst>
              <a:gd name="adj" fmla="val 7812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0" name="TextBox 17489"/>
          <p:cNvSpPr txBox="1"/>
          <p:nvPr/>
        </p:nvSpPr>
        <p:spPr>
          <a:xfrm>
            <a:off x="9345167" y="4983480"/>
            <a:ext cx="240487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A canopy-height proxy from optical imagery alone.</a:t>
            </a:r>
          </a:p>
        </p:txBody>
      </p:sp>
      <p:sp>
        <p:nvSpPr>
          <p:cNvPr id="17491" name="Rounded Rectangle 17490"/>
          <p:cNvSpPr/>
          <p:nvPr/>
        </p:nvSpPr>
        <p:spPr>
          <a:xfrm>
            <a:off x="365760" y="5687568"/>
            <a:ext cx="2782062" cy="658368"/>
          </a:xfrm>
          <a:prstGeom prst="roundRect">
            <a:avLst>
              <a:gd name="adj" fmla="val 972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2" name="TextBox 17491"/>
          <p:cNvSpPr txBox="1"/>
          <p:nvPr/>
        </p:nvSpPr>
        <p:spPr>
          <a:xfrm>
            <a:off x="512064" y="5769864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0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new flights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512064" y="6108192"/>
            <a:ext cx="252603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input is imagery already flown and paid for</a:t>
            </a:r>
          </a:p>
        </p:txBody>
      </p:sp>
      <p:sp>
        <p:nvSpPr>
          <p:cNvPr id="17494" name="Rounded Rectangle 17493"/>
          <p:cNvSpPr/>
          <p:nvPr/>
        </p:nvSpPr>
        <p:spPr>
          <a:xfrm>
            <a:off x="3257550" y="5687568"/>
            <a:ext cx="2782062" cy="658368"/>
          </a:xfrm>
          <a:prstGeom prst="roundRect">
            <a:avLst>
              <a:gd name="adj" fmla="val 972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5" name="TextBox 17494"/>
          <p:cNvSpPr txBox="1"/>
          <p:nvPr/>
        </p:nvSpPr>
        <p:spPr>
          <a:xfrm>
            <a:off x="3403854" y="5769864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1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image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3403854" y="6108192"/>
            <a:ext cx="252603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no stereo pair, no revisit wait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6149340" y="5687568"/>
            <a:ext cx="2782062" cy="658368"/>
          </a:xfrm>
          <a:prstGeom prst="roundRect">
            <a:avLst>
              <a:gd name="adj" fmla="val 972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8" name="TextBox 17497"/>
          <p:cNvSpPr txBox="1"/>
          <p:nvPr/>
        </p:nvSpPr>
        <p:spPr>
          <a:xfrm>
            <a:off x="6295644" y="5769864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1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min / km²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6295644" y="6108192"/>
            <a:ext cx="252603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on a desktop CPU, single pass*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9041130" y="5687568"/>
            <a:ext cx="2782062" cy="658368"/>
          </a:xfrm>
          <a:prstGeom prst="roundRect">
            <a:avLst>
              <a:gd name="adj" fmla="val 972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01" name="TextBox 17500"/>
          <p:cNvSpPr txBox="1"/>
          <p:nvPr/>
        </p:nvSpPr>
        <p:spPr>
          <a:xfrm>
            <a:off x="9187434" y="5769864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0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licence fees</a:t>
            </a:r>
          </a:p>
        </p:txBody>
      </p:sp>
      <p:sp>
        <p:nvSpPr>
          <p:cNvPr id="17502" name="TextBox 17501"/>
          <p:cNvSpPr txBox="1"/>
          <p:nvPr/>
        </p:nvSpPr>
        <p:spPr>
          <a:xfrm>
            <a:off x="9187434" y="6108192"/>
            <a:ext cx="252603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any state agency can adopt it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365760" y="6373368"/>
            <a:ext cx="11457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141B22"/>
                </a:solidFill>
                <a:latin typeface="Segoe UI Semibold"/>
              </a:rPr>
              <a:t>Scales by batch, on CPUs agencies already own: the whole archive, not one scene.</a:t>
            </a:r>
            <a:r>
              <a:rPr sz="819" b="0" i="0">
                <a:solidFill>
                  <a:srgbClr val="55636E"/>
                </a:solidFill>
                <a:latin typeface="Segoe UI"/>
              </a:rPr>
              <a:t>   *Derived: 5.0 s per 1024 px tile (0.094 km²) measured on a desktop CPU.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RESEARCH THAT CHANGED WHAT WE BUILT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81328"/>
            <a:ext cx="3639312" cy="2011680"/>
          </a:xfrm>
          <a:prstGeom prst="roundRect">
            <a:avLst>
              <a:gd name="adj" fmla="val 454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75488" y="1527048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Depth Anything V2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Yang et al., NeurIPS 2024. The backbone we fine-tune.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75488" y="1911096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HTC-DC Net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Chen et al., TGRS 2023. Head-tail cut, distribution constraints.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75488" y="2295144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Depth Any Canopy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Rege Cambrin et al., ECCV-W 2024. The recipe for aerial height.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75488" y="2679192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Beta-NLL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Seitzer et al., ICLR 2022. Keeps the mean head learning.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75488" y="3063240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IM2HEIGHT, TSE-Net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Mou &amp; Zhu 2018; Chen &amp; Zhu 2025, both arXiv. Prior single-view height.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3639312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DATA AND REFERENCE SURFACES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65760" y="4005072"/>
            <a:ext cx="3639312" cy="2395728"/>
          </a:xfrm>
          <a:prstGeom prst="roundRect">
            <a:avLst>
              <a:gd name="adj" fmla="val 3816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475488" y="4050791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DFC2019 Track 1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US3D at 0.3 m GSD with airborne LiDAR truth.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75488" y="4434840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GAMUS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ISRO's recommended set. 6,204 tiles, 0.33 m, DC and Philadelphia.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75488" y="4818888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Copernicus GLO-30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Free 30 m global DEM; the absolute metric anchor.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75488" y="5202936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GlobalBuildingAtlas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Published 5.9 m RMSE over Asia — the external bar.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75488" y="5586983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Google Open Buildings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A cross-check over India, never used as truth.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75488" y="5971031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Maxar Open Data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Sikkim imagery, CC BY-NC 4.0, © Maxar Technologies.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206240" y="1115568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TRIED, MEASURED, REJECTED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206240" y="1481328"/>
            <a:ext cx="3639312" cy="2011680"/>
          </a:xfrm>
          <a:prstGeom prst="roundRect">
            <a:avLst>
              <a:gd name="adj" fmla="val 454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4315968" y="1527048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Ordinal / binned head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All heads land at a 0.43–0.49 slope. No gain.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315968" y="1911096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Shadow photogrammetry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Oracle shadows reach r 0.503; our earlier net, 0.787.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315968" y="2295144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LDS tail reweighting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Pixels above 20 m are 7.5% but carry 78.8% of error.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315968" y="2679192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Two-model ensemble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Error correlation 0.925 — averaging buys nothing.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315968" y="3063240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Global de-compression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A rescale moves error, it does not remove it.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206240" y="3639312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PROBES WE RAN, AND WHAT EACH CLOSED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206240" y="4005072"/>
            <a:ext cx="3639312" cy="2011680"/>
          </a:xfrm>
          <a:prstGeom prst="roundRect">
            <a:avLst>
              <a:gd name="adj" fmla="val 454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4315968" y="4050791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01 Tall buildings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Data, not capacity. Open 0.3 m sets hold few towers.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315968" y="4434840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03 Guided filtering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Squaring off roofs made every metric worse.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315968" y="4818888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04 Where detail went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Detail follows the ground area one token covers.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315968" y="5202936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05b ISRO's 0.6 m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Shipped model, 80 tiles: +15% per building after auto-zoom.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315968" y="5586983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41B22"/>
                </a:solidFill>
                <a:latin typeface="Segoe UI Semibold"/>
              </a:rPr>
              <a:t>06 Height compression 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Measured: 0.473 × truth + 2.66 m.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046720" y="1115568"/>
            <a:ext cx="3776471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HOW WE COMPARE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046720" y="1481328"/>
            <a:ext cx="1700601" cy="402336"/>
          </a:xfrm>
          <a:prstGeom prst="roundRect">
            <a:avLst>
              <a:gd name="adj" fmla="val 11363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Franklin Gothic Demi"/>
              </a:rPr>
              <a:t>PARAMETER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9783897" y="1481328"/>
            <a:ext cx="643188" cy="402336"/>
          </a:xfrm>
          <a:prstGeom prst="roundRect">
            <a:avLst>
              <a:gd name="adj" fmla="val 11363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STEREO OR LIDAR SURVEY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10463662" y="1481328"/>
            <a:ext cx="643188" cy="402336"/>
          </a:xfrm>
          <a:prstGeom prst="roundRect">
            <a:avLst>
              <a:gd name="adj" fmla="val 11363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PUBLISHED SINGLE-VIEW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11143427" y="1481328"/>
            <a:ext cx="643188" cy="402336"/>
          </a:xfrm>
          <a:prstGeom prst="roundRect">
            <a:avLst>
              <a:gd name="adj" fmla="val 11363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Franklin Gothic Demi Cond"/>
              </a:rPr>
              <a:t>DEPTHWIZARD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8046720" y="1929384"/>
            <a:ext cx="1700601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8138160" y="1975103"/>
            <a:ext cx="15177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One archived image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9783897" y="1929384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7" name="Picture 17446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339" y="2002536"/>
            <a:ext cx="146304" cy="146304"/>
          </a:xfrm>
          <a:prstGeom prst="rect">
            <a:avLst/>
          </a:prstGeom>
        </p:spPr>
      </p:pic>
      <p:sp>
        <p:nvSpPr>
          <p:cNvPr id="17448" name="Rounded Rectangle 17447"/>
          <p:cNvSpPr/>
          <p:nvPr/>
        </p:nvSpPr>
        <p:spPr>
          <a:xfrm>
            <a:off x="10463662" y="1929384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9" name="Picture 17448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2104" y="2002536"/>
            <a:ext cx="146304" cy="146304"/>
          </a:xfrm>
          <a:prstGeom prst="rect">
            <a:avLst/>
          </a:prstGeom>
        </p:spPr>
      </p:pic>
      <p:sp>
        <p:nvSpPr>
          <p:cNvPr id="17450" name="Rounded Rectangle 17449"/>
          <p:cNvSpPr/>
          <p:nvPr/>
        </p:nvSpPr>
        <p:spPr>
          <a:xfrm>
            <a:off x="11143427" y="1929384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1" name="Picture 17450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1988819"/>
            <a:ext cx="173736" cy="173736"/>
          </a:xfrm>
          <a:prstGeom prst="rect">
            <a:avLst/>
          </a:prstGeom>
        </p:spPr>
      </p:pic>
      <p:sp>
        <p:nvSpPr>
          <p:cNvPr id="17452" name="Rounded Rectangle 17451"/>
          <p:cNvSpPr/>
          <p:nvPr/>
        </p:nvSpPr>
        <p:spPr>
          <a:xfrm>
            <a:off x="8046720" y="2258568"/>
            <a:ext cx="1700601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8138160" y="2304287"/>
            <a:ext cx="15177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Absolute metric height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9783897" y="2258568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5" name="Picture 17454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339" y="2331720"/>
            <a:ext cx="146304" cy="146304"/>
          </a:xfrm>
          <a:prstGeom prst="rect">
            <a:avLst/>
          </a:prstGeom>
        </p:spPr>
      </p:pic>
      <p:sp>
        <p:nvSpPr>
          <p:cNvPr id="17456" name="Rounded Rectangle 17455"/>
          <p:cNvSpPr/>
          <p:nvPr/>
        </p:nvSpPr>
        <p:spPr>
          <a:xfrm>
            <a:off x="10463662" y="2258568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7" name="Picture 17456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2104" y="2331720"/>
            <a:ext cx="146304" cy="146304"/>
          </a:xfrm>
          <a:prstGeom prst="rect">
            <a:avLst/>
          </a:prstGeom>
        </p:spPr>
      </p:pic>
      <p:sp>
        <p:nvSpPr>
          <p:cNvPr id="17458" name="Rounded Rectangle 17457"/>
          <p:cNvSpPr/>
          <p:nvPr/>
        </p:nvSpPr>
        <p:spPr>
          <a:xfrm>
            <a:off x="11143427" y="2258568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9" name="Picture 17458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2318003"/>
            <a:ext cx="173736" cy="173736"/>
          </a:xfrm>
          <a:prstGeom prst="rect">
            <a:avLst/>
          </a:prstGeom>
        </p:spPr>
      </p:pic>
      <p:sp>
        <p:nvSpPr>
          <p:cNvPr id="17460" name="Rounded Rectangle 17459"/>
          <p:cNvSpPr/>
          <p:nvPr/>
        </p:nvSpPr>
        <p:spPr>
          <a:xfrm>
            <a:off x="8046720" y="2587751"/>
            <a:ext cx="1700601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1" name="TextBox 17460"/>
          <p:cNvSpPr txBox="1"/>
          <p:nvPr/>
        </p:nvSpPr>
        <p:spPr>
          <a:xfrm>
            <a:off x="8138160" y="2633471"/>
            <a:ext cx="15177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Per-pixel uncertainty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9783897" y="2587751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3" name="Picture 17462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339" y="2660903"/>
            <a:ext cx="146304" cy="146304"/>
          </a:xfrm>
          <a:prstGeom prst="rect">
            <a:avLst/>
          </a:prstGeom>
        </p:spPr>
      </p:pic>
      <p:sp>
        <p:nvSpPr>
          <p:cNvPr id="17464" name="Rounded Rectangle 17463"/>
          <p:cNvSpPr/>
          <p:nvPr/>
        </p:nvSpPr>
        <p:spPr>
          <a:xfrm>
            <a:off x="10463662" y="2587751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5" name="Picture 17464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2660903"/>
            <a:ext cx="146304" cy="146304"/>
          </a:xfrm>
          <a:prstGeom prst="rect">
            <a:avLst/>
          </a:prstGeom>
        </p:spPr>
      </p:pic>
      <p:sp>
        <p:nvSpPr>
          <p:cNvPr id="17466" name="Rounded Rectangle 17465"/>
          <p:cNvSpPr/>
          <p:nvPr/>
        </p:nvSpPr>
        <p:spPr>
          <a:xfrm>
            <a:off x="11143427" y="2587751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7" name="Picture 17466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2647187"/>
            <a:ext cx="173736" cy="173736"/>
          </a:xfrm>
          <a:prstGeom prst="rect">
            <a:avLst/>
          </a:prstGeom>
        </p:spPr>
      </p:pic>
      <p:sp>
        <p:nvSpPr>
          <p:cNvPr id="17468" name="Rounded Rectangle 17467"/>
          <p:cNvSpPr/>
          <p:nvPr/>
        </p:nvSpPr>
        <p:spPr>
          <a:xfrm>
            <a:off x="8046720" y="2916935"/>
            <a:ext cx="1700601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9" name="TextBox 17468"/>
          <p:cNvSpPr txBox="1"/>
          <p:nvPr/>
        </p:nvSpPr>
        <p:spPr>
          <a:xfrm>
            <a:off x="8138160" y="2962655"/>
            <a:ext cx="15177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Scored per terrain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9783897" y="2916935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1" name="Picture 17470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339" y="2990087"/>
            <a:ext cx="146304" cy="146304"/>
          </a:xfrm>
          <a:prstGeom prst="rect">
            <a:avLst/>
          </a:prstGeom>
        </p:spPr>
      </p:pic>
      <p:sp>
        <p:nvSpPr>
          <p:cNvPr id="17472" name="Rounded Rectangle 17471"/>
          <p:cNvSpPr/>
          <p:nvPr/>
        </p:nvSpPr>
        <p:spPr>
          <a:xfrm>
            <a:off x="10463662" y="2916935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3" name="Picture 17472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2990087"/>
            <a:ext cx="146304" cy="146304"/>
          </a:xfrm>
          <a:prstGeom prst="rect">
            <a:avLst/>
          </a:prstGeom>
        </p:spPr>
      </p:pic>
      <p:sp>
        <p:nvSpPr>
          <p:cNvPr id="17474" name="Rounded Rectangle 17473"/>
          <p:cNvSpPr/>
          <p:nvPr/>
        </p:nvSpPr>
        <p:spPr>
          <a:xfrm>
            <a:off x="11143427" y="2916935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5" name="Picture 17474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2976371"/>
            <a:ext cx="173736" cy="173736"/>
          </a:xfrm>
          <a:prstGeom prst="rect">
            <a:avLst/>
          </a:prstGeom>
        </p:spPr>
      </p:pic>
      <p:sp>
        <p:nvSpPr>
          <p:cNvPr id="17476" name="Rounded Rectangle 17475"/>
          <p:cNvSpPr/>
          <p:nvPr/>
        </p:nvSpPr>
        <p:spPr>
          <a:xfrm>
            <a:off x="8046720" y="3246119"/>
            <a:ext cx="1700601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8138160" y="3291839"/>
            <a:ext cx="15177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Runs with no GPU</a:t>
            </a:r>
          </a:p>
        </p:txBody>
      </p:sp>
      <p:sp>
        <p:nvSpPr>
          <p:cNvPr id="17478" name="Rounded Rectangle 17477"/>
          <p:cNvSpPr/>
          <p:nvPr/>
        </p:nvSpPr>
        <p:spPr>
          <a:xfrm>
            <a:off x="9783897" y="3246119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9" name="Picture 17478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339" y="3319271"/>
            <a:ext cx="146304" cy="146304"/>
          </a:xfrm>
          <a:prstGeom prst="rect">
            <a:avLst/>
          </a:prstGeom>
        </p:spPr>
      </p:pic>
      <p:sp>
        <p:nvSpPr>
          <p:cNvPr id="17480" name="Rounded Rectangle 17479"/>
          <p:cNvSpPr/>
          <p:nvPr/>
        </p:nvSpPr>
        <p:spPr>
          <a:xfrm>
            <a:off x="10463662" y="3246119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1" name="Picture 17480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3319271"/>
            <a:ext cx="146304" cy="146304"/>
          </a:xfrm>
          <a:prstGeom prst="rect">
            <a:avLst/>
          </a:prstGeom>
        </p:spPr>
      </p:pic>
      <p:sp>
        <p:nvSpPr>
          <p:cNvPr id="17482" name="Rounded Rectangle 17481"/>
          <p:cNvSpPr/>
          <p:nvPr/>
        </p:nvSpPr>
        <p:spPr>
          <a:xfrm>
            <a:off x="11143427" y="3246119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3" name="Picture 17482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3305555"/>
            <a:ext cx="173736" cy="173736"/>
          </a:xfrm>
          <a:prstGeom prst="rect">
            <a:avLst/>
          </a:prstGeom>
        </p:spPr>
      </p:pic>
      <p:sp>
        <p:nvSpPr>
          <p:cNvPr id="17484" name="Rounded Rectangle 17483"/>
          <p:cNvSpPr/>
          <p:nvPr/>
        </p:nvSpPr>
        <p:spPr>
          <a:xfrm>
            <a:off x="8046720" y="3575303"/>
            <a:ext cx="1700601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5" name="TextBox 17484"/>
          <p:cNvSpPr txBox="1"/>
          <p:nvPr/>
        </p:nvSpPr>
        <p:spPr>
          <a:xfrm>
            <a:off x="8138160" y="3621023"/>
            <a:ext cx="15177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3D viewer shipped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9783897" y="3575303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7" name="Picture 17486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339" y="3648455"/>
            <a:ext cx="146304" cy="146304"/>
          </a:xfrm>
          <a:prstGeom prst="rect">
            <a:avLst/>
          </a:prstGeom>
        </p:spPr>
      </p:pic>
      <p:sp>
        <p:nvSpPr>
          <p:cNvPr id="17488" name="Rounded Rectangle 17487"/>
          <p:cNvSpPr/>
          <p:nvPr/>
        </p:nvSpPr>
        <p:spPr>
          <a:xfrm>
            <a:off x="10463662" y="3575303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9" name="Picture 17488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3648455"/>
            <a:ext cx="146304" cy="146304"/>
          </a:xfrm>
          <a:prstGeom prst="rect">
            <a:avLst/>
          </a:prstGeom>
        </p:spPr>
      </p:pic>
      <p:sp>
        <p:nvSpPr>
          <p:cNvPr id="17490" name="Rounded Rectangle 17489"/>
          <p:cNvSpPr/>
          <p:nvPr/>
        </p:nvSpPr>
        <p:spPr>
          <a:xfrm>
            <a:off x="11143427" y="3575303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1" name="Picture 17490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3634739"/>
            <a:ext cx="173736" cy="173736"/>
          </a:xfrm>
          <a:prstGeom prst="rect">
            <a:avLst/>
          </a:prstGeom>
        </p:spPr>
      </p:pic>
      <p:sp>
        <p:nvSpPr>
          <p:cNvPr id="17492" name="Rounded Rectangle 17491"/>
          <p:cNvSpPr/>
          <p:nvPr/>
        </p:nvSpPr>
        <p:spPr>
          <a:xfrm>
            <a:off x="8046720" y="3904487"/>
            <a:ext cx="1700601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3" name="TextBox 17492"/>
          <p:cNvSpPr txBox="1"/>
          <p:nvPr/>
        </p:nvSpPr>
        <p:spPr>
          <a:xfrm>
            <a:off x="8138160" y="3950207"/>
            <a:ext cx="15177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Failure modes published</a:t>
            </a:r>
          </a:p>
        </p:txBody>
      </p:sp>
      <p:sp>
        <p:nvSpPr>
          <p:cNvPr id="17494" name="Rounded Rectangle 17493"/>
          <p:cNvSpPr/>
          <p:nvPr/>
        </p:nvSpPr>
        <p:spPr>
          <a:xfrm>
            <a:off x="9783897" y="3904487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5" name="Picture 17494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339" y="3977639"/>
            <a:ext cx="146304" cy="146304"/>
          </a:xfrm>
          <a:prstGeom prst="rect">
            <a:avLst/>
          </a:prstGeom>
        </p:spPr>
      </p:pic>
      <p:sp>
        <p:nvSpPr>
          <p:cNvPr id="17496" name="Rounded Rectangle 17495"/>
          <p:cNvSpPr/>
          <p:nvPr/>
        </p:nvSpPr>
        <p:spPr>
          <a:xfrm>
            <a:off x="10463662" y="3904487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7" name="Picture 17496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2104" y="3977639"/>
            <a:ext cx="146304" cy="146304"/>
          </a:xfrm>
          <a:prstGeom prst="rect">
            <a:avLst/>
          </a:prstGeom>
        </p:spPr>
      </p:pic>
      <p:sp>
        <p:nvSpPr>
          <p:cNvPr id="17498" name="Rounded Rectangle 17497"/>
          <p:cNvSpPr/>
          <p:nvPr/>
        </p:nvSpPr>
        <p:spPr>
          <a:xfrm>
            <a:off x="11143427" y="3904487"/>
            <a:ext cx="643188" cy="292608"/>
          </a:xfrm>
          <a:prstGeom prst="roundRect">
            <a:avLst>
              <a:gd name="adj" fmla="val 12500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9" name="Picture 17498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3963924"/>
            <a:ext cx="173736" cy="173736"/>
          </a:xfrm>
          <a:prstGeom prst="rect">
            <a:avLst/>
          </a:prstGeom>
        </p:spPr>
      </p:pic>
      <p:pic>
        <p:nvPicPr>
          <p:cNvPr id="17500" name="Picture 17499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867" y="4274820"/>
            <a:ext cx="155448" cy="155448"/>
          </a:xfrm>
          <a:prstGeom prst="rect">
            <a:avLst/>
          </a:prstGeom>
        </p:spPr>
      </p:pic>
      <p:sp>
        <p:nvSpPr>
          <p:cNvPr id="17501" name="TextBox 17500"/>
          <p:cNvSpPr txBox="1"/>
          <p:nvPr/>
        </p:nvSpPr>
        <p:spPr>
          <a:xfrm>
            <a:off x="8284464" y="426110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yes</a:t>
            </a:r>
          </a:p>
        </p:txBody>
      </p:sp>
      <p:pic>
        <p:nvPicPr>
          <p:cNvPr id="17502" name="Picture 17501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2850" y="4274820"/>
            <a:ext cx="155448" cy="155448"/>
          </a:xfrm>
          <a:prstGeom prst="rect">
            <a:avLst/>
          </a:prstGeom>
        </p:spPr>
      </p:pic>
      <p:sp>
        <p:nvSpPr>
          <p:cNvPr id="17503" name="TextBox 17502"/>
          <p:cNvSpPr txBox="1"/>
          <p:nvPr/>
        </p:nvSpPr>
        <p:spPr>
          <a:xfrm>
            <a:off x="8829446" y="426110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partial</a:t>
            </a:r>
          </a:p>
        </p:txBody>
      </p:sp>
      <p:pic>
        <p:nvPicPr>
          <p:cNvPr id="17504" name="Picture 1750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028" y="4274820"/>
            <a:ext cx="155448" cy="155448"/>
          </a:xfrm>
          <a:prstGeom prst="rect">
            <a:avLst/>
          </a:prstGeom>
        </p:spPr>
      </p:pic>
      <p:sp>
        <p:nvSpPr>
          <p:cNvPr id="17505" name="TextBox 17504"/>
          <p:cNvSpPr txBox="1"/>
          <p:nvPr/>
        </p:nvSpPr>
        <p:spPr>
          <a:xfrm>
            <a:off x="9564624" y="426110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no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8101584" y="4489704"/>
            <a:ext cx="366674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141B22"/>
                </a:solidFill>
                <a:latin typeface="Segoe UI Semibold"/>
              </a:rPr>
              <a:t>Two rows the alternatives win. </a:t>
            </a:r>
            <a:r>
              <a:rPr sz="840" b="0" i="0">
                <a:solidFill>
                  <a:srgbClr val="2A3540"/>
                </a:solidFill>
                <a:latin typeface="Segoe UI"/>
              </a:rPr>
              <a:t>A stereo survey gives absolute height directly and ships mature viewers — the table is only useful to a panel if the rows we lose are still in it.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8046720" y="4965192"/>
            <a:ext cx="3776471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EVIDENCE BEHIND EVERY NUMBER</a:t>
            </a:r>
          </a:p>
        </p:txBody>
      </p:sp>
      <p:sp>
        <p:nvSpPr>
          <p:cNvPr id="17508" name="TextBox 17507"/>
          <p:cNvSpPr txBox="1"/>
          <p:nvPr/>
        </p:nvSpPr>
        <p:spPr>
          <a:xfrm>
            <a:off x="8101584" y="5294376"/>
            <a:ext cx="271576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90" b="0" i="0">
                <a:solidFill>
                  <a:srgbClr val="141B22"/>
                </a:solidFill>
                <a:latin typeface="Segoe UI Semibold"/>
              </a:rPr>
              <a:t>Slide 7 is our preliminary work. </a:t>
            </a:r>
            <a:r>
              <a:rPr sz="890" b="0" i="0">
                <a:solidFill>
                  <a:srgbClr val="2A3540"/>
                </a:solidFill>
                <a:latin typeface="Segoe UI"/>
              </a:rPr>
              <a:t>Each figure on it regenerates from the evidence pack in the repository, and the documentation site walks through data, training, evaluation and failures in full.</a:t>
            </a:r>
          </a:p>
        </p:txBody>
      </p:sp>
      <p:pic>
        <p:nvPicPr>
          <p:cNvPr id="17509" name="Picture 17508" descr="pitch_qr.png">
            <a:hlinkClick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1944" y="5312664"/>
            <a:ext cx="841248" cy="841248"/>
          </a:xfrm>
          <a:prstGeom prst="rect">
            <a:avLst/>
          </a:prstGeom>
        </p:spPr>
      </p:pic>
      <p:sp>
        <p:nvSpPr>
          <p:cNvPr id="17510" name="TextBox 17509"/>
          <p:cNvSpPr txBox="1"/>
          <p:nvPr/>
        </p:nvSpPr>
        <p:spPr>
          <a:xfrm>
            <a:off x="10799064" y="6163055"/>
            <a:ext cx="120700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55636E"/>
                </a:solidFill>
                <a:latin typeface="Segoe UI Semibold"/>
              </a:rPr>
              <a:t>Scan: pitch video</a:t>
            </a:r>
          </a:p>
        </p:txBody>
      </p:sp>
      <p:sp>
        <p:nvSpPr>
          <p:cNvPr id="17511" name="TextBox 17510"/>
          <p:cNvSpPr txBox="1"/>
          <p:nvPr/>
        </p:nvSpPr>
        <p:spPr>
          <a:xfrm>
            <a:off x="8046720" y="6190488"/>
            <a:ext cx="377647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 b="0" i="0">
                <a:solidFill>
                  <a:srgbClr val="C1440E"/>
                </a:solidFill>
                <a:latin typeface="Franklin Gothic Demi Cond"/>
              </a:rPr>
              <a:t>Live  </a:t>
            </a:r>
            <a:r>
              <a:rPr sz="780" b="0" i="0">
                <a:solidFill>
                  <a:srgbClr val="2E6E92"/>
                </a:solidFill>
                <a:latin typeface="Segoe UI Semibold"/>
                <a:hlinkClick r:id="rId9"/>
              </a:rPr>
              <a:t>project5.zaidansari.tech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 b="0" i="0">
                <a:solidFill>
                  <a:srgbClr val="C1440E"/>
                </a:solidFill>
                <a:latin typeface="Franklin Gothic Demi Cond"/>
              </a:rPr>
              <a:t>Docs  </a:t>
            </a:r>
            <a:r>
              <a:rPr sz="780" b="0" i="0">
                <a:solidFill>
                  <a:srgbClr val="2E6E92"/>
                </a:solidFill>
                <a:latin typeface="Segoe UI Semibold"/>
                <a:hlinkClick r:id="rId10"/>
              </a:rPr>
              <a:t>project5.zaidansari.tech/documentation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 b="0" i="0">
                <a:solidFill>
                  <a:srgbClr val="C1440E"/>
                </a:solidFill>
                <a:latin typeface="Franklin Gothic Demi Cond"/>
              </a:rPr>
              <a:t>Evidence  </a:t>
            </a:r>
            <a:r>
              <a:rPr sz="780" b="0" i="0">
                <a:solidFill>
                  <a:srgbClr val="2E6E92"/>
                </a:solidFill>
                <a:latin typeface="Segoe UI Semibold"/>
                <a:hlinkClick r:id="rId11"/>
              </a:rPr>
              <a:t>github.com/…/sih2026-depthwizard/docs/evidence-pack.md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PRELIMINARY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2782062" cy="749808"/>
          </a:xfrm>
          <a:prstGeom prst="roundRect">
            <a:avLst>
              <a:gd name="adj" fmla="val 853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12064" y="1197864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D89E3C"/>
                </a:solidFill>
                <a:latin typeface="Franklin Gothic Demi"/>
              </a:rPr>
              <a:t>3.464</a:t>
            </a:r>
            <a:r>
              <a:rPr sz="1100" b="0" i="0">
                <a:solidFill>
                  <a:srgbClr val="D89E3C"/>
                </a:solidFill>
                <a:latin typeface="Franklin Gothic Demi"/>
              </a:rPr>
              <a:t> m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12064" y="1536192"/>
            <a:ext cx="252603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C4D3DE"/>
                </a:solidFill>
                <a:latin typeface="Segoe UI"/>
              </a:rPr>
              <a:t>per-building RMSE vs airborne LiDAR;
5.9 m published for Asia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57550" y="1115568"/>
            <a:ext cx="2782062" cy="749808"/>
          </a:xfrm>
          <a:prstGeom prst="roundRect">
            <a:avLst>
              <a:gd name="adj" fmla="val 853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403854" y="1197864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D89E3C"/>
                </a:solidFill>
                <a:latin typeface="Franklin Gothic Demi"/>
              </a:rPr>
              <a:t>6.008</a:t>
            </a:r>
            <a:r>
              <a:rPr sz="1100" b="0" i="0">
                <a:solidFill>
                  <a:srgbClr val="D89E3C"/>
                </a:solidFill>
                <a:latin typeface="Franklin Gothic Demi"/>
              </a:rPr>
              <a:t> m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403854" y="1536192"/>
            <a:ext cx="252603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C4D3DE"/>
                </a:solidFill>
                <a:latin typeface="Segoe UI"/>
              </a:rPr>
              <a:t>whole-tile RMSE on 80 held-out
tiles from unseen regions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49340" y="1115568"/>
            <a:ext cx="2782062" cy="749808"/>
          </a:xfrm>
          <a:prstGeom prst="roundRect">
            <a:avLst>
              <a:gd name="adj" fmla="val 853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6295644" y="1197864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D89E3C"/>
                </a:solidFill>
                <a:latin typeface="Franklin Gothic Demi"/>
              </a:rPr>
              <a:t>0.063</a:t>
            </a:r>
            <a:r>
              <a:rPr sz="1100" b="0" i="0">
                <a:solidFill>
                  <a:srgbClr val="D89E3C"/>
                </a:solidFill>
                <a:latin typeface="Franklin Gothic Demi"/>
              </a:rPr>
              <a:t/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95644" y="1536192"/>
            <a:ext cx="252603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C4D3DE"/>
                </a:solidFill>
                <a:latin typeface="Segoe UI"/>
              </a:rPr>
              <a:t>calibration error of the per-pixel
uncertainty (ECE)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41130" y="1115568"/>
            <a:ext cx="2782062" cy="749808"/>
          </a:xfrm>
          <a:prstGeom prst="roundRect">
            <a:avLst>
              <a:gd name="adj" fmla="val 853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9187434" y="1197864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+15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%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187434" y="1536192"/>
            <a:ext cx="252603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C4D3DE"/>
                </a:solidFill>
                <a:latin typeface="Segoe UI"/>
              </a:rPr>
              <a:t>per-building error at ISRO's 0.6 m,
after auto-zoom (80 tiles)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1956816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ACCURACY ACROSS THE FOUR LANDSCAPES ISRO NAMES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65760" y="2286000"/>
            <a:ext cx="5577840" cy="1975104"/>
          </a:xfrm>
          <a:prstGeom prst="roundRect">
            <a:avLst>
              <a:gd name="adj" fmla="val 4629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4" name="Picture 17423" descr="terrain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50008"/>
            <a:ext cx="3072384" cy="1847088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3621024" y="2377440"/>
            <a:ext cx="2194559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 i="0">
                <a:solidFill>
                  <a:srgbClr val="141B22"/>
                </a:solidFill>
                <a:latin typeface="Segoe UI Semibold"/>
              </a:rPr>
              <a:t>Three of four classes at or under 3.3 m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, correlation never below +0.77. Urban is one specific thing: the buildings above 20 m.
</a:t>
            </a:r>
            <a:r>
              <a:rPr sz="900" b="0" i="0">
                <a:solidFill>
                  <a:srgbClr val="141B22"/>
                </a:solidFill>
                <a:latin typeface="Segoe UI Semibold"/>
              </a:rPr>
              <a:t>Hilly: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DFC2019 has no hills, so Sikkim is a cross-check, not a score.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65760" y="4352544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WHERE THE ERROR LIVES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65760" y="4681728"/>
            <a:ext cx="5577840" cy="1847088"/>
          </a:xfrm>
          <a:prstGeom prst="roundRect">
            <a:avLst>
              <a:gd name="adj" fmla="val 495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8" name="Picture 17427" descr="error_by_height_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45736"/>
            <a:ext cx="3072384" cy="1719072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3657600" y="4773168"/>
            <a:ext cx="2157983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 i="0">
                <a:solidFill>
                  <a:srgbClr val="C1440E"/>
                </a:solidFill>
                <a:latin typeface="Segoe UI Semibold"/>
              </a:rPr>
              <a:t>77% of squared error comes from 1.9% of buildings.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 Under 10 m, 94% of the stock, we are at 1.4 m. </a:t>
            </a:r>
            <a:r>
              <a:rPr sz="900" b="0" i="0">
                <a:solidFill>
                  <a:srgbClr val="141B22"/>
                </a:solidFill>
                <a:latin typeface="Segoe UI Semibold"/>
              </a:rPr>
              <a:t>Above 20 m we under-call by 15.6 m; </a:t>
            </a:r>
            <a:r>
              <a:rPr sz="900" b="0" i="0">
                <a:solidFill>
                  <a:srgbClr val="2A3540"/>
                </a:solidFill>
                <a:latin typeface="Segoe UI"/>
              </a:rPr>
              <a:t>we pre-registered −13 m and missed it.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272784" y="1956816"/>
            <a:ext cx="5550407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ISRO'S 0.6 M CARTOSAT-2S, SIMULATED ON THE SHIPPED MODEL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272784" y="2286000"/>
            <a:ext cx="1627632" cy="237744"/>
          </a:xfrm>
          <a:prstGeom prst="roundRect">
            <a:avLst>
              <a:gd name="adj" fmla="val 1538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INPUT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973568" y="2286000"/>
            <a:ext cx="1243584" cy="237744"/>
          </a:xfrm>
          <a:prstGeom prst="roundRect">
            <a:avLst>
              <a:gd name="adj" fmla="val 1538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PER BUILDING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9290304" y="2286000"/>
            <a:ext cx="1243584" cy="237744"/>
          </a:xfrm>
          <a:prstGeom prst="roundRect">
            <a:avLst>
              <a:gd name="adj" fmla="val 1538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BUILDINGS ≤ 20 M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10607040" y="2286000"/>
            <a:ext cx="1179575" cy="237744"/>
          </a:xfrm>
          <a:prstGeom prst="roundRect">
            <a:avLst>
              <a:gd name="adj" fmla="val 1538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WHOLE TILE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6272784" y="2560320"/>
            <a:ext cx="1627632" cy="237744"/>
          </a:xfrm>
          <a:prstGeom prst="roundRect">
            <a:avLst>
              <a:gd name="adj" fmla="val 1538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6345936" y="258775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 Semibold"/>
              </a:rPr>
              <a:t>0.3 m, native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973568" y="2560320"/>
            <a:ext cx="1243584" cy="237744"/>
          </a:xfrm>
          <a:prstGeom prst="roundRect">
            <a:avLst>
              <a:gd name="adj" fmla="val 1538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8046720" y="2587751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3.464 m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9290304" y="2560320"/>
            <a:ext cx="1243584" cy="237744"/>
          </a:xfrm>
          <a:prstGeom prst="roundRect">
            <a:avLst>
              <a:gd name="adj" fmla="val 1538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9363456" y="2587751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1.667 m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10607040" y="2560320"/>
            <a:ext cx="1179575" cy="237744"/>
          </a:xfrm>
          <a:prstGeom prst="roundRect">
            <a:avLst>
              <a:gd name="adj" fmla="val 1538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2" name="TextBox 17441"/>
          <p:cNvSpPr txBox="1"/>
          <p:nvPr/>
        </p:nvSpPr>
        <p:spPr>
          <a:xfrm>
            <a:off x="10680192" y="2587751"/>
            <a:ext cx="10698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6.008 m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272784" y="2834639"/>
            <a:ext cx="1627632" cy="237744"/>
          </a:xfrm>
          <a:prstGeom prst="roundRect">
            <a:avLst>
              <a:gd name="adj" fmla="val 1538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6345936" y="286207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 Semibold"/>
              </a:rPr>
              <a:t>0.6 m, untreated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7973568" y="2834639"/>
            <a:ext cx="1243584" cy="237744"/>
          </a:xfrm>
          <a:prstGeom prst="roundRect">
            <a:avLst>
              <a:gd name="adj" fmla="val 1538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8046720" y="2862071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4.185 m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9290304" y="2834639"/>
            <a:ext cx="1243584" cy="237744"/>
          </a:xfrm>
          <a:prstGeom prst="roundRect">
            <a:avLst>
              <a:gd name="adj" fmla="val 1538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8" name="TextBox 17447"/>
          <p:cNvSpPr txBox="1"/>
          <p:nvPr/>
        </p:nvSpPr>
        <p:spPr>
          <a:xfrm>
            <a:off x="9363456" y="2862071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2.090 m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10607040" y="2834639"/>
            <a:ext cx="1179575" cy="237744"/>
          </a:xfrm>
          <a:prstGeom prst="roundRect">
            <a:avLst>
              <a:gd name="adj" fmla="val 1538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10680192" y="2862071"/>
            <a:ext cx="10698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"/>
              </a:rPr>
              <a:t>6.738 m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6272784" y="3108959"/>
            <a:ext cx="1627632" cy="237744"/>
          </a:xfrm>
          <a:prstGeom prst="roundRect">
            <a:avLst>
              <a:gd name="adj" fmla="val 1538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6345936" y="31363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 Semibold"/>
              </a:rPr>
              <a:t>0.6 m, auto-zoom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7973568" y="3108959"/>
            <a:ext cx="1243584" cy="237744"/>
          </a:xfrm>
          <a:prstGeom prst="roundRect">
            <a:avLst>
              <a:gd name="adj" fmla="val 1538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4" name="TextBox 17453"/>
          <p:cNvSpPr txBox="1"/>
          <p:nvPr/>
        </p:nvSpPr>
        <p:spPr>
          <a:xfrm>
            <a:off x="8046720" y="3136391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 Semibold"/>
              </a:rPr>
              <a:t>3.999 m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9290304" y="3108959"/>
            <a:ext cx="1243584" cy="237744"/>
          </a:xfrm>
          <a:prstGeom prst="roundRect">
            <a:avLst>
              <a:gd name="adj" fmla="val 1538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9363456" y="3136391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 Semibold"/>
              </a:rPr>
              <a:t>2.095 m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10607040" y="3108959"/>
            <a:ext cx="1179575" cy="237744"/>
          </a:xfrm>
          <a:prstGeom prst="roundRect">
            <a:avLst>
              <a:gd name="adj" fmla="val 1538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10680192" y="3136391"/>
            <a:ext cx="10698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41B22"/>
                </a:solidFill>
                <a:latin typeface="Segoe UI Semibold"/>
              </a:rPr>
              <a:t>6.494 m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6272784" y="3401567"/>
            <a:ext cx="55504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141B22"/>
                </a:solidFill>
                <a:latin typeface="Segoe UI Semibold"/>
              </a:rPr>
              <a:t>Auto-zoom cuts the 0.6 m penalty from +21% to +15%, all on tall buildings; </a:t>
            </a:r>
            <a:r>
              <a:rPr sz="800" b="0" i="0">
                <a:solidFill>
                  <a:srgbClr val="55636E"/>
                </a:solidFill>
                <a:latin typeface="Segoe UI"/>
              </a:rPr>
              <a:t>under 20 m it does not help. We had pre-registered ≤ 10% and missed it. 0.6 m is simulated by downsampling, so this is the resolution gap, not the sensor gap.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6272784" y="3749039"/>
            <a:ext cx="5550407" cy="274320"/>
          </a:xfrm>
          <a:prstGeom prst="roundRect">
            <a:avLst>
              <a:gd name="adj" fmla="val 50000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BUILT AND WORKING TODAY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6272784" y="4078224"/>
            <a:ext cx="2729484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2" name="Picture 17461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4178808"/>
            <a:ext cx="164592" cy="164592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6565392" y="4114800"/>
            <a:ext cx="23820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Elevation extraction
</a:t>
            </a:r>
            <a:r>
              <a:rPr sz="780" b="0" i="0">
                <a:solidFill>
                  <a:srgbClr val="2A3540"/>
                </a:solidFill>
                <a:latin typeface="Segoe UI"/>
              </a:rPr>
              <a:t>fine-tuned DA-V2 with a sigma head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9093708" y="4078224"/>
            <a:ext cx="2729484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5" name="Picture 17464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860" y="4178808"/>
            <a:ext cx="164592" cy="164592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9386316" y="4114800"/>
            <a:ext cx="23820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Scale calibration
</a:t>
            </a:r>
            <a:r>
              <a:rPr sz="780" b="0" i="0">
                <a:solidFill>
                  <a:srgbClr val="2A3540"/>
                </a:solidFill>
                <a:latin typeface="Segoe UI"/>
              </a:rPr>
              <a:t>GLO-30 absolute DSM; GCP power-law fit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6272784" y="4498848"/>
            <a:ext cx="2729484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8" name="Picture 17467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4599432"/>
            <a:ext cx="164592" cy="164592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6565392" y="4535424"/>
            <a:ext cx="23820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Visualisation
</a:t>
            </a:r>
            <a:r>
              <a:rPr sz="780" b="0" i="0">
                <a:solidFill>
                  <a:srgbClr val="2A3540"/>
                </a:solidFill>
                <a:latin typeface="Segoe UI"/>
              </a:rPr>
              <a:t>three.js flythrough, measure, compare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9093708" y="4498848"/>
            <a:ext cx="2729484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1" name="Picture 17470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860" y="4599432"/>
            <a:ext cx="164592" cy="164592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9386316" y="4535424"/>
            <a:ext cx="23820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Live web app + API
</a:t>
            </a:r>
            <a:r>
              <a:rPr sz="780" b="0" i="0">
                <a:solidFill>
                  <a:srgbClr val="2A3540"/>
                </a:solidFill>
                <a:latin typeface="Segoe UI"/>
              </a:rPr>
              <a:t>upload a GeoTIFF, download the DSM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6272784" y="4919472"/>
            <a:ext cx="2729484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4" name="Picture 17473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5020056"/>
            <a:ext cx="164592" cy="164592"/>
          </a:xfrm>
          <a:prstGeom prst="rect">
            <a:avLst/>
          </a:prstGeom>
        </p:spPr>
      </p:pic>
      <p:sp>
        <p:nvSpPr>
          <p:cNvPr id="17475" name="TextBox 17474"/>
          <p:cNvSpPr txBox="1"/>
          <p:nvPr/>
        </p:nvSpPr>
        <p:spPr>
          <a:xfrm>
            <a:off x="6565392" y="4956048"/>
            <a:ext cx="23820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Flood tool
</a:t>
            </a:r>
            <a:r>
              <a:rPr sz="780" b="0" i="0">
                <a:solidFill>
                  <a:srgbClr val="2A3540"/>
                </a:solidFill>
                <a:latin typeface="Segoe UI"/>
              </a:rPr>
              <a:t>water level over Indian terrain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9093708" y="4919472"/>
            <a:ext cx="2729484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7" name="Picture 17476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860" y="5020056"/>
            <a:ext cx="164592" cy="164592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9386316" y="4956048"/>
            <a:ext cx="23820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Offline + CPU
</a:t>
            </a:r>
            <a:r>
              <a:rPr sz="780" b="0" i="0">
                <a:solidFill>
                  <a:srgbClr val="2A3540"/>
                </a:solidFill>
                <a:latin typeface="Segoe UI"/>
              </a:rPr>
              <a:t>one HTML viewer; ONNX int8, no GPU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6272784" y="5413248"/>
            <a:ext cx="5550407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HOW THESE WERE MEASURED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6272784" y="5742432"/>
            <a:ext cx="45811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40" b="0" i="0">
                <a:solidFill>
                  <a:srgbClr val="2A3540"/>
                </a:solidFill>
                <a:latin typeface="Segoe UI"/>
              </a:rPr>
              <a:t>80 whole held-out US tiles, 3,090 buildings, region-disjoint from training, against airborne LiDAR; no trained model has seen the test split. Full method: </a:t>
            </a:r>
            <a:r>
              <a:rPr sz="840" b="0" i="0">
                <a:solidFill>
                  <a:srgbClr val="2E6E92"/>
                </a:solidFill>
                <a:latin typeface="Segoe UI Semibold"/>
                <a:hlinkClick r:id="rId7"/>
              </a:rPr>
              <a:t>project5.zaidansari.tech/documentation</a:t>
            </a:r>
          </a:p>
        </p:txBody>
      </p:sp>
      <p:pic>
        <p:nvPicPr>
          <p:cNvPr id="17481" name="Picture 17480" descr="docs_qr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3384" y="5724144"/>
            <a:ext cx="658368" cy="658368"/>
          </a:xfrm>
          <a:prstGeom prst="rect">
            <a:avLst/>
          </a:prstGeom>
        </p:spPr>
      </p:pic>
      <p:sp>
        <p:nvSpPr>
          <p:cNvPr id="17482" name="TextBox 17481"/>
          <p:cNvSpPr txBox="1"/>
          <p:nvPr/>
        </p:nvSpPr>
        <p:spPr>
          <a:xfrm>
            <a:off x="10890504" y="6391655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55636E"/>
                </a:solidFill>
                <a:latin typeface="Segoe UI Semibold"/>
              </a:rPr>
              <a:t>Scan: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