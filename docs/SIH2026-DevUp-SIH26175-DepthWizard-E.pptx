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  <p:sldId id="297" r:id="rId8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project5.zaidansari.tech" TargetMode="External"/><Relationship Id="rId5" Type="http://schemas.openxmlformats.org/officeDocument/2006/relationships/hyperlink" Target="https://project5.zaidansari.tech/documentation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image" Target="../media/image3.png"/><Relationship Id="rId6" Type="http://schemas.openxmlformats.org/officeDocument/2006/relationships/image" Target="../media/image14.png"/><Relationship Id="rId7" Type="http://schemas.openxmlformats.org/officeDocument/2006/relationships/image" Target="../media/image6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Relationship Id="rId10" Type="http://schemas.openxmlformats.org/officeDocument/2006/relationships/image" Target="../media/image17.png"/><Relationship Id="rId11" Type="http://schemas.openxmlformats.org/officeDocument/2006/relationships/image" Target="../media/image18.png"/><Relationship Id="rId12" Type="http://schemas.openxmlformats.org/officeDocument/2006/relationships/image" Target="../media/image19.png"/><Relationship Id="rId13" Type="http://schemas.openxmlformats.org/officeDocument/2006/relationships/image" Target="../media/image4.png"/><Relationship Id="rId14" Type="http://schemas.openxmlformats.org/officeDocument/2006/relationships/image" Target="../media/image5.png"/><Relationship Id="rId15" Type="http://schemas.openxmlformats.org/officeDocument/2006/relationships/image" Target="../media/image7.png"/><Relationship Id="rId16" Type="http://schemas.openxmlformats.org/officeDocument/2006/relationships/image" Target="../media/image20.png"/><Relationship Id="rId17" Type="http://schemas.openxmlformats.org/officeDocument/2006/relationships/image" Target="../media/image21.png"/><Relationship Id="rId18" Type="http://schemas.openxmlformats.org/officeDocument/2006/relationships/image" Target="../media/image22.png"/><Relationship Id="rId19" Type="http://schemas.openxmlformats.org/officeDocument/2006/relationships/image" Target="../media/image23.png"/><Relationship Id="rId20" Type="http://schemas.openxmlformats.org/officeDocument/2006/relationships/image" Target="../media/image24.png"/><Relationship Id="rId21" Type="http://schemas.openxmlformats.org/officeDocument/2006/relationships/image" Target="../media/image25.png"/><Relationship Id="rId22" Type="http://schemas.openxmlformats.org/officeDocument/2006/relationships/image" Target="../media/image26.png"/><Relationship Id="rId23" Type="http://schemas.openxmlformats.org/officeDocument/2006/relationships/image" Target="../media/image27.png"/><Relationship Id="rId24" Type="http://schemas.openxmlformats.org/officeDocument/2006/relationships/image" Target="../media/image28.png"/><Relationship Id="rId25" Type="http://schemas.openxmlformats.org/officeDocument/2006/relationships/image" Target="../media/image29.png"/><Relationship Id="rId26" Type="http://schemas.openxmlformats.org/officeDocument/2006/relationships/image" Target="../media/image30.png"/><Relationship Id="rId27" Type="http://schemas.openxmlformats.org/officeDocument/2006/relationships/hyperlink" Target="https://project5.zaidansari.tech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1.png"/><Relationship Id="rId5" Type="http://schemas.openxmlformats.org/officeDocument/2006/relationships/image" Target="../media/image8.png"/><Relationship Id="rId6" Type="http://schemas.openxmlformats.org/officeDocument/2006/relationships/image" Target="../media/image32.png"/><Relationship Id="rId7" Type="http://schemas.openxmlformats.org/officeDocument/2006/relationships/image" Target="../media/image15.png"/><Relationship Id="rId8" Type="http://schemas.openxmlformats.org/officeDocument/2006/relationships/image" Target="../media/image3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Relationship Id="rId6" Type="http://schemas.openxmlformats.org/officeDocument/2006/relationships/image" Target="../media/image14.png"/><Relationship Id="rId7" Type="http://schemas.openxmlformats.org/officeDocument/2006/relationships/image" Target="../media/image36.png"/><Relationship Id="rId8" Type="http://schemas.openxmlformats.org/officeDocument/2006/relationships/image" Target="../media/image37.png"/><Relationship Id="rId9" Type="http://schemas.openxmlformats.org/officeDocument/2006/relationships/image" Target="../media/image3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Relationship Id="rId6" Type="http://schemas.openxmlformats.org/officeDocument/2006/relationships/image" Target="../media/image41.png"/><Relationship Id="rId7" Type="http://schemas.openxmlformats.org/officeDocument/2006/relationships/image" Target="../media/image42.png"/><Relationship Id="rId8" Type="http://schemas.openxmlformats.org/officeDocument/2006/relationships/hyperlink" Target="https://youtu.be/4NpR74MS5oE" TargetMode="External"/><Relationship Id="rId9" Type="http://schemas.openxmlformats.org/officeDocument/2006/relationships/hyperlink" Target="https://project5.zaidansari.tech" TargetMode="External"/><Relationship Id="rId10" Type="http://schemas.openxmlformats.org/officeDocument/2006/relationships/hyperlink" Target="https://project5.zaidansari.tech/documentation/" TargetMode="External"/><Relationship Id="rId11" Type="http://schemas.openxmlformats.org/officeDocument/2006/relationships/hyperlink" Target="https://github.com/zaidnansari2011/sih2026-depthwizard/blob/master/docs/evidence-pack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40.png"/><Relationship Id="rId6" Type="http://schemas.openxmlformats.org/officeDocument/2006/relationships/image" Target="../media/image45.png"/><Relationship Id="rId7" Type="http://schemas.openxmlformats.org/officeDocument/2006/relationships/hyperlink" Target="https://project5.zaidansari.tech/documentation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365760" y="1188720"/>
            <a:ext cx="5138928" cy="3255264"/>
          </a:xfrm>
          <a:prstGeom prst="roundRect">
            <a:avLst>
              <a:gd name="adj" fmla="val 2808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39" name="Rounded Rectangle 38"/>
          <p:cNvSpPr/>
          <p:nvPr/>
        </p:nvSpPr>
        <p:spPr>
          <a:xfrm>
            <a:off x="365760" y="1188720"/>
            <a:ext cx="5138928" cy="621792"/>
          </a:xfrm>
          <a:prstGeom prst="roundRect">
            <a:avLst>
              <a:gd name="adj" fmla="val 14705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548640" y="1298448"/>
            <a:ext cx="4773168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300" b="0" i="0">
                <a:solidFill>
                  <a:srgbClr val="FFFFFF"/>
                </a:solidFill>
                <a:latin typeface="Franklin Gothic Demi"/>
              </a:rPr>
              <a:t>DEPTH</a:t>
            </a:r>
            <a:r>
              <a:rPr sz="2300" b="0" i="0">
                <a:solidFill>
                  <a:srgbClr val="D89E3C"/>
                </a:solidFill>
                <a:latin typeface="Franklin Gothic Demi"/>
              </a:rPr>
              <a:t>WIZARD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1938528"/>
            <a:ext cx="477316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2A3540"/>
                </a:solidFill>
                <a:latin typeface="Segoe UI"/>
              </a:rPr>
              <a:t>One satellite image in, a measurable 3D surface out.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2340864"/>
            <a:ext cx="1783080" cy="219456"/>
          </a:xfrm>
          <a:prstGeom prst="roundRect">
            <a:avLst>
              <a:gd name="adj" fmla="val 20833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00" b="0" i="0">
                <a:solidFill>
                  <a:srgbClr val="FFFFFF"/>
                </a:solidFill>
                <a:latin typeface="Franklin Gothic Demi Cond"/>
              </a:rPr>
              <a:t>PROBLEM STATEMENT 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96312" y="2313432"/>
            <a:ext cx="28620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1250" b="0" i="0">
                <a:solidFill>
                  <a:srgbClr val="141B22"/>
                </a:solidFill>
                <a:latin typeface="Segoe UI Semibold"/>
              </a:rPr>
              <a:t>SIH26175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2660904"/>
            <a:ext cx="1783080" cy="219456"/>
          </a:xfrm>
          <a:prstGeom prst="roundRect">
            <a:avLst>
              <a:gd name="adj" fmla="val 20833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00" b="0" i="0">
                <a:solidFill>
                  <a:srgbClr val="FFFFFF"/>
                </a:solidFill>
                <a:latin typeface="Franklin Gothic Demi Cond"/>
              </a:rPr>
              <a:t>PROBLEM STATEMENT TITLE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96312" y="2633472"/>
            <a:ext cx="2862072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1250" b="0" i="0">
                <a:solidFill>
                  <a:srgbClr val="141B22"/>
                </a:solidFill>
                <a:latin typeface="Segoe UI Semibold"/>
              </a:rPr>
              <a:t>DepthWizard - Single-View Height Estimation and 3D Flythrough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8640" y="3154680"/>
            <a:ext cx="1783080" cy="219456"/>
          </a:xfrm>
          <a:prstGeom prst="roundRect">
            <a:avLst>
              <a:gd name="adj" fmla="val 20833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00" b="0" i="0">
                <a:solidFill>
                  <a:srgbClr val="FFFFFF"/>
                </a:solidFill>
                <a:latin typeface="Franklin Gothic Demi Cond"/>
              </a:rPr>
              <a:t>THEME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96312" y="3127248"/>
            <a:ext cx="28620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1250" b="0" i="0">
                <a:solidFill>
                  <a:srgbClr val="141B22"/>
                </a:solidFill>
                <a:latin typeface="Segoe UI Semibold"/>
              </a:rPr>
              <a:t>Disaster Management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48640" y="3474720"/>
            <a:ext cx="1783080" cy="219456"/>
          </a:xfrm>
          <a:prstGeom prst="roundRect">
            <a:avLst>
              <a:gd name="adj" fmla="val 20833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00" b="0" i="0">
                <a:solidFill>
                  <a:srgbClr val="FFFFFF"/>
                </a:solidFill>
                <a:latin typeface="Franklin Gothic Demi Cond"/>
              </a:rPr>
              <a:t>PS CATEGORY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96312" y="3447288"/>
            <a:ext cx="28620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1250" b="0" i="0">
                <a:solidFill>
                  <a:srgbClr val="141B22"/>
                </a:solidFill>
                <a:latin typeface="Segoe UI Semibold"/>
              </a:rPr>
              <a:t>Software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48640" y="3794760"/>
            <a:ext cx="1783080" cy="219456"/>
          </a:xfrm>
          <a:prstGeom prst="roundRect">
            <a:avLst>
              <a:gd name="adj" fmla="val 20833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00" b="0" i="0">
                <a:solidFill>
                  <a:srgbClr val="FFFFFF"/>
                </a:solidFill>
                <a:latin typeface="Franklin Gothic Demi Cond"/>
              </a:rPr>
              <a:t>TEAM ID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496312" y="3767328"/>
            <a:ext cx="28620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1250" b="0" i="0">
                <a:solidFill>
                  <a:srgbClr val="141B22"/>
                </a:solidFill>
                <a:latin typeface="Segoe UI Semibold"/>
              </a:rPr>
              <a:t>129655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48640" y="4114800"/>
            <a:ext cx="1783080" cy="219456"/>
          </a:xfrm>
          <a:prstGeom prst="roundRect">
            <a:avLst>
              <a:gd name="adj" fmla="val 20833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00" b="0" i="0">
                <a:solidFill>
                  <a:srgbClr val="FFFFFF"/>
                </a:solidFill>
                <a:latin typeface="Franklin Gothic Demi Cond"/>
              </a:rPr>
              <a:t>TEAM NAME (ON PORTAL)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496312" y="4087368"/>
            <a:ext cx="286207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1250" b="0" i="0">
                <a:solidFill>
                  <a:srgbClr val="141B22"/>
                </a:solidFill>
                <a:latin typeface="Segoe UI Semibold"/>
              </a:rPr>
              <a:t>Dev Up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65760" y="4572000"/>
            <a:ext cx="5138928" cy="310896"/>
          </a:xfrm>
          <a:prstGeom prst="roundRect">
            <a:avLst>
              <a:gd name="adj" fmla="val 50000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A WORKING PROTOTYPE — MEASURED RESULTS ON SLIDE 7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65760" y="4974336"/>
            <a:ext cx="1639824" cy="804672"/>
          </a:xfrm>
          <a:prstGeom prst="roundRect">
            <a:avLst>
              <a:gd name="adj" fmla="val 7954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512064" y="5056632"/>
            <a:ext cx="138379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D89E3C"/>
                </a:solidFill>
                <a:latin typeface="Franklin Gothic Demi"/>
              </a:rPr>
              <a:t>1</a:t>
            </a:r>
            <a:r>
              <a:rPr sz="1100" b="0" i="0">
                <a:solidFill>
                  <a:srgbClr val="D89E3C"/>
                </a:solidFill>
                <a:latin typeface="Franklin Gothic Demi"/>
              </a:rPr>
              <a:t> image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2064" y="5394960"/>
            <a:ext cx="1383791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C4D3DE"/>
                </a:solidFill>
                <a:latin typeface="Segoe UI"/>
              </a:rPr>
              <a:t>in: GeoTIFF, or plain
PNG / JPG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2115311" y="4974336"/>
            <a:ext cx="1639824" cy="804672"/>
          </a:xfrm>
          <a:prstGeom prst="roundRect">
            <a:avLst>
              <a:gd name="adj" fmla="val 7954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2261616" y="5056632"/>
            <a:ext cx="138379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D89E3C"/>
                </a:solidFill>
                <a:latin typeface="Franklin Gothic Demi"/>
              </a:rPr>
              <a:t>2</a:t>
            </a:r>
            <a:r>
              <a:rPr sz="1100" b="0" i="0">
                <a:solidFill>
                  <a:srgbClr val="D89E3C"/>
                </a:solidFill>
                <a:latin typeface="Franklin Gothic Demi"/>
              </a:rPr>
              <a:t> layers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261616" y="5394960"/>
            <a:ext cx="1383791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C4D3DE"/>
                </a:solidFill>
                <a:latin typeface="Segoe UI"/>
              </a:rPr>
              <a:t>out: metric height and
per-pixel confidence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864864" y="4974336"/>
            <a:ext cx="1639824" cy="804672"/>
          </a:xfrm>
          <a:prstGeom prst="roundRect">
            <a:avLst>
              <a:gd name="adj" fmla="val 7954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4011168" y="5056632"/>
            <a:ext cx="138379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D89E3C"/>
                </a:solidFill>
                <a:latin typeface="Franklin Gothic Demi"/>
              </a:rPr>
              <a:t>0</a:t>
            </a:r>
            <a:r>
              <a:rPr sz="1100" b="0" i="0">
                <a:solidFill>
                  <a:srgbClr val="D89E3C"/>
                </a:solidFill>
                <a:latin typeface="Franklin Gothic Demi"/>
              </a:rPr>
              <a:t> GPUs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011168" y="5394960"/>
            <a:ext cx="1383791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C4D3DE"/>
                </a:solidFill>
                <a:latin typeface="Segoe UI"/>
              </a:rPr>
              <a:t>needed to run it or
its 3D viewer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5888736"/>
            <a:ext cx="856488" cy="109728"/>
          </a:xfrm>
          <a:prstGeom prst="rect">
            <a:avLst/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65" name="Rectangle 64"/>
          <p:cNvSpPr/>
          <p:nvPr/>
        </p:nvSpPr>
        <p:spPr>
          <a:xfrm>
            <a:off x="1222248" y="5888736"/>
            <a:ext cx="856488" cy="109728"/>
          </a:xfrm>
          <a:prstGeom prst="rect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66" name="Rectangle 65"/>
          <p:cNvSpPr/>
          <p:nvPr/>
        </p:nvSpPr>
        <p:spPr>
          <a:xfrm>
            <a:off x="2078736" y="5888736"/>
            <a:ext cx="856488" cy="109728"/>
          </a:xfrm>
          <a:prstGeom prst="rect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67" name="Rectangle 66"/>
          <p:cNvSpPr/>
          <p:nvPr/>
        </p:nvSpPr>
        <p:spPr>
          <a:xfrm>
            <a:off x="2935224" y="5888736"/>
            <a:ext cx="856488" cy="109728"/>
          </a:xfrm>
          <a:prstGeom prst="rect">
            <a:avLst/>
          </a:prstGeom>
          <a:solidFill>
            <a:srgbClr val="7FB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68" name="Rectangle 67"/>
          <p:cNvSpPr/>
          <p:nvPr/>
        </p:nvSpPr>
        <p:spPr>
          <a:xfrm>
            <a:off x="3791712" y="5888736"/>
            <a:ext cx="856488" cy="109728"/>
          </a:xfrm>
          <a:prstGeom prst="rect">
            <a:avLst/>
          </a:prstGeom>
          <a:solidFill>
            <a:srgbClr val="D89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69" name="Rectangle 68"/>
          <p:cNvSpPr/>
          <p:nvPr/>
        </p:nvSpPr>
        <p:spPr>
          <a:xfrm>
            <a:off x="4648200" y="5888736"/>
            <a:ext cx="856488" cy="109728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365760" y="6025896"/>
            <a:ext cx="5138928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0" i="0">
                <a:solidFill>
                  <a:srgbClr val="55636E"/>
                </a:solidFill>
                <a:latin typeface="Segoe UI"/>
              </a:rPr>
              <a:t>The palette is the model's own output scale: 0 m at the left, 155 m at the right.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6236208"/>
            <a:ext cx="5138928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40" b="0" i="0">
                <a:solidFill>
                  <a:srgbClr val="C1440E"/>
                </a:solidFill>
                <a:latin typeface="Franklin Gothic Demi Cond"/>
              </a:rPr>
              <a:t>LIVE  </a:t>
            </a:r>
            <a:r>
              <a:rPr sz="840" b="0" i="0">
                <a:solidFill>
                  <a:srgbClr val="2E6E92"/>
                </a:solidFill>
                <a:latin typeface="Segoe UI Semibold"/>
                <a:hlinkClick r:id="rId4"/>
              </a:rPr>
              <a:t>project5.zaidansari.tech</a:t>
            </a:r>
            <a:r>
              <a:rPr sz="940" b="0" i="0">
                <a:solidFill>
                  <a:srgbClr val="C1440E"/>
                </a:solidFill>
                <a:latin typeface="Franklin Gothic Demi Cond"/>
              </a:rPr>
              <a:t>      DOCS  </a:t>
            </a:r>
            <a:r>
              <a:rPr sz="840" b="0" i="0">
                <a:solidFill>
                  <a:srgbClr val="2E6E92"/>
                </a:solidFill>
                <a:latin typeface="Segoe UI Semibold"/>
                <a:hlinkClick r:id="rId5"/>
              </a:rPr>
              <a:t>project5.zaidansari.tech/documentation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601968"/>
            <a:ext cx="12191999" cy="256032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601968"/>
            <a:ext cx="2844800" cy="256032"/>
          </a:xfrm>
        </p:spPr>
        <p:txBody>
          <a:bodyPr anchor="ctr"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Dev Up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1691640" y="256032"/>
            <a:ext cx="7955279" cy="768096"/>
          </a:xfrm>
          <a:prstGeom prst="roundRect">
            <a:avLst>
              <a:gd name="adj" fmla="val 11904"/>
            </a:avLst>
          </a:prstGeom>
          <a:solidFill>
            <a:srgbClr val="ECF1F5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892808" y="402336"/>
            <a:ext cx="265176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2500" b="0" i="0">
                <a:solidFill>
                  <a:srgbClr val="0E2A3F"/>
                </a:solidFill>
                <a:latin typeface="Franklin Gothic Demi"/>
              </a:rPr>
              <a:t>DEPTH</a:t>
            </a:r>
            <a:r>
              <a:rPr sz="2500" b="0" i="0">
                <a:solidFill>
                  <a:srgbClr val="C1440E"/>
                </a:solidFill>
                <a:latin typeface="Franklin Gothic Demi"/>
              </a:rPr>
              <a:t>WIZARD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26280" y="402336"/>
            <a:ext cx="18288" cy="493776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727448" y="384048"/>
            <a:ext cx="470001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250" b="0" i="0">
                <a:solidFill>
                  <a:srgbClr val="141B22"/>
                </a:solidFill>
                <a:latin typeface="Segoe UI"/>
              </a:rPr>
              <a:t>One satellite image in, a measurable 3D surface out. </a:t>
            </a:r>
            <a:r>
              <a:rPr sz="1250" b="1" i="0">
                <a:solidFill>
                  <a:srgbClr val="C1440E"/>
                </a:solidFill>
                <a:latin typeface="Segoe UI"/>
              </a:rPr>
              <a:t>Height, how sure we are, and a scene to check it 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1115568"/>
            <a:ext cx="3931920" cy="310896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Franklin Gothic Demi Cond"/>
              </a:rPr>
              <a:t>THE PROBLEM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0" y="1115568"/>
            <a:ext cx="7251192" cy="310896"/>
          </a:xfrm>
          <a:prstGeom prst="roundRect">
            <a:avLst>
              <a:gd name="adj" fmla="val 50000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Franklin Gothic Demi Cond"/>
              </a:rPr>
              <a:t>OUR SOLUTION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1499616"/>
            <a:ext cx="3931920" cy="2724912"/>
          </a:xfrm>
          <a:prstGeom prst="roundRect">
            <a:avLst>
              <a:gd name="adj" fmla="val 3355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493776" y="1591056"/>
            <a:ext cx="45720" cy="457200"/>
          </a:xfrm>
          <a:prstGeom prst="rect">
            <a:avLst/>
          </a:prstGeom>
          <a:solidFill>
            <a:srgbClr val="D89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21792" y="1554480"/>
            <a:ext cx="3566160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19" b="0" i="1">
                <a:solidFill>
                  <a:srgbClr val="141B22"/>
                </a:solidFill>
                <a:latin typeface="Segoe UI"/>
              </a:rPr>
              <a:t>“[Stereo, LiDAR and InSAR] can be cost-prohibitive, dependent on specific sensor availability, and computationally intensive.”</a:t>
            </a:r>
            <a:r>
              <a:rPr sz="800" b="0" i="0">
                <a:solidFill>
                  <a:srgbClr val="55636E"/>
                </a:solidFill>
                <a:latin typeface="Segoe UI Semibold"/>
              </a:rPr>
              <a:t>
— ISRO, problem statement SIH26175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121408"/>
            <a:ext cx="3749039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548640" y="2212848"/>
            <a:ext cx="329184" cy="274320"/>
          </a:xfrm>
          <a:prstGeom prst="roundRect">
            <a:avLst>
              <a:gd name="adj" fmla="val 16666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"/>
              </a:rPr>
              <a:t>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" y="2167127"/>
            <a:ext cx="31821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Archives with no height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" y="2359152"/>
            <a:ext cx="31821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90" b="0" i="0">
                <a:solidFill>
                  <a:srgbClr val="2A3540"/>
                </a:solidFill>
                <a:latin typeface="Segoe UI"/>
              </a:rPr>
              <a:t>Stereo and LiDAR cannot be flown into the past. Decades of Cartosat archive carry no height.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2734056"/>
            <a:ext cx="3749039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548640" y="2825496"/>
            <a:ext cx="329184" cy="274320"/>
          </a:xfrm>
          <a:prstGeom prst="roundRect">
            <a:avLst>
              <a:gd name="adj" fmla="val 16666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" y="2779775"/>
            <a:ext cx="31821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Relative depth, not metres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" y="2971800"/>
            <a:ext cx="31821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90" b="0" i="0">
                <a:solidFill>
                  <a:srgbClr val="2A3540"/>
                </a:solidFill>
                <a:latin typeface="Segoe UI"/>
              </a:rPr>
              <a:t>Depth models learn from ground-level photos. From orbit they give shape, but no metric scale.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3346704"/>
            <a:ext cx="3749039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548640" y="3438144"/>
            <a:ext cx="329184" cy="274320"/>
          </a:xfrm>
          <a:prstGeom prst="roundRect">
            <a:avLst>
              <a:gd name="adj" fmla="val 16666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"/>
              </a:rPr>
              <a:t>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9264" y="3392424"/>
            <a:ext cx="31821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No confidence, no product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9264" y="3584448"/>
            <a:ext cx="31821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90" b="0" i="0">
                <a:solidFill>
                  <a:srgbClr val="2A3540"/>
                </a:solidFill>
                <a:latin typeface="Segoe UI"/>
              </a:rPr>
              <a:t>A bare height hides where it is wrong, and a checkpoint is not a scene an analyst can open.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93776" y="3977639"/>
            <a:ext cx="932688" cy="182880"/>
          </a:xfrm>
          <a:prstGeom prst="roundRect">
            <a:avLst>
              <a:gd name="adj" fmla="val 25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60" b="0" i="0">
                <a:solidFill>
                  <a:srgbClr val="FFFFFF"/>
                </a:solidFill>
                <a:latin typeface="Franklin Gothic Demi Cond"/>
              </a:rPr>
              <a:t>WHO FEELS 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81328" y="3950208"/>
            <a:ext cx="272491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0" i="0">
                <a:solidFill>
                  <a:srgbClr val="141B22"/>
                </a:solidFill>
                <a:latin typeface="Segoe UI Semibold"/>
              </a:rPr>
              <a:t>SAC analysts · disaster responders · planners · foresters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0" y="1499616"/>
            <a:ext cx="7251192" cy="2724912"/>
          </a:xfrm>
          <a:prstGeom prst="roundRect">
            <a:avLst>
              <a:gd name="adj" fmla="val 3355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36" name="Rounded Rectangle 35"/>
          <p:cNvSpPr/>
          <p:nvPr/>
        </p:nvSpPr>
        <p:spPr>
          <a:xfrm>
            <a:off x="4663440" y="1572768"/>
            <a:ext cx="2282952" cy="1042415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37" name="Oval 36"/>
          <p:cNvSpPr/>
          <p:nvPr/>
        </p:nvSpPr>
        <p:spPr>
          <a:xfrm>
            <a:off x="4754880" y="1645920"/>
            <a:ext cx="402336" cy="40233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38" name="Picture 37" descr="image-u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1440" y="1742480"/>
            <a:ext cx="209214" cy="20921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5230368" y="1682495"/>
            <a:ext cx="162458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40" b="0" i="0">
                <a:solidFill>
                  <a:srgbClr val="141B22"/>
                </a:solidFill>
                <a:latin typeface="Segoe UI Semibold"/>
              </a:rPr>
              <a:t>One image to a metric DSM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91455" y="2103120"/>
            <a:ext cx="202692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20" b="0" i="0">
                <a:solidFill>
                  <a:srgbClr val="2A3540"/>
                </a:solidFill>
                <a:latin typeface="Segoe UI"/>
              </a:rPr>
              <a:t>Depth Anything V2, fine-tuned on airborne-LiDAR heights. GeoTIFF out, metadata or not.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056120" y="1572768"/>
            <a:ext cx="2282952" cy="1042415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42" name="Oval 41"/>
          <p:cNvSpPr/>
          <p:nvPr/>
        </p:nvSpPr>
        <p:spPr>
          <a:xfrm>
            <a:off x="7147560" y="1645920"/>
            <a:ext cx="402336" cy="402336"/>
          </a:xfrm>
          <a:prstGeom prst="ellipse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43" name="Picture 42" descr="shield-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4120" y="1742480"/>
            <a:ext cx="209214" cy="209214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7623047" y="1682495"/>
            <a:ext cx="162458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40" b="0" i="0">
                <a:solidFill>
                  <a:srgbClr val="141B22"/>
                </a:solidFill>
                <a:latin typeface="Segoe UI Semibold"/>
              </a:rPr>
              <a:t>Confidence, not just height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84136" y="2103120"/>
            <a:ext cx="202692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20" b="0" i="0">
                <a:solidFill>
                  <a:srgbClr val="2A3540"/>
                </a:solidFill>
                <a:latin typeface="Segoe UI"/>
              </a:rPr>
              <a:t>A per-pixel sigma beside every height, so the model says where it is unsure.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448799" y="1572768"/>
            <a:ext cx="2282952" cy="1042415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47" name="Oval 46"/>
          <p:cNvSpPr/>
          <p:nvPr/>
        </p:nvSpPr>
        <p:spPr>
          <a:xfrm>
            <a:off x="9540239" y="1645920"/>
            <a:ext cx="402336" cy="40233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48" name="Picture 47" descr="box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36800" y="1742480"/>
            <a:ext cx="209214" cy="20921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0015727" y="1682495"/>
            <a:ext cx="162458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40" b="0" i="0">
                <a:solidFill>
                  <a:srgbClr val="141B22"/>
                </a:solidFill>
                <a:latin typeface="Segoe UI Semibold"/>
              </a:rPr>
              <a:t>A navigable 3D scene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576816" y="2103120"/>
            <a:ext cx="202692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20" b="0" i="0">
                <a:solidFill>
                  <a:srgbClr val="2A3540"/>
                </a:solidFill>
                <a:latin typeface="Segoe UI"/>
              </a:rPr>
              <a:t>three.js flythrough with measure, flood and drag-to-compare-against-LiDAR tools.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663440" y="2688336"/>
            <a:ext cx="2282952" cy="1042415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52" name="Oval 51"/>
          <p:cNvSpPr/>
          <p:nvPr/>
        </p:nvSpPr>
        <p:spPr>
          <a:xfrm>
            <a:off x="4754880" y="2761487"/>
            <a:ext cx="402336" cy="402336"/>
          </a:xfrm>
          <a:prstGeom prst="ellipse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53" name="Picture 52" descr="rul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51440" y="2858048"/>
            <a:ext cx="209214" cy="209214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5230368" y="2798064"/>
            <a:ext cx="162458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40" b="0" i="0">
                <a:solidFill>
                  <a:srgbClr val="141B22"/>
                </a:solidFill>
                <a:latin typeface="Segoe UI Semibold"/>
              </a:rPr>
              <a:t>Validation inside the product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91455" y="3218688"/>
            <a:ext cx="202692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20" b="0" i="0">
                <a:solidFill>
                  <a:srgbClr val="2A3540"/>
                </a:solidFill>
                <a:latin typeface="Segoe UI"/>
              </a:rPr>
              <a:t>RMSE, MAE and correlation against LiDAR — per terrain class, not one flattering average.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056120" y="2688336"/>
            <a:ext cx="2282952" cy="1042415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57" name="Oval 56"/>
          <p:cNvSpPr/>
          <p:nvPr/>
        </p:nvSpPr>
        <p:spPr>
          <a:xfrm>
            <a:off x="7147560" y="2761487"/>
            <a:ext cx="402336" cy="40233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58" name="Picture 57" descr="map-pinn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44120" y="2858048"/>
            <a:ext cx="209214" cy="209214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7623047" y="2798064"/>
            <a:ext cx="162458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40" b="0" i="0">
                <a:solidFill>
                  <a:srgbClr val="141B22"/>
                </a:solidFill>
                <a:latin typeface="Segoe UI Semibold"/>
              </a:rPr>
              <a:t>Absolute heights, two ways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84136" y="3218688"/>
            <a:ext cx="202692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20" b="0" i="0">
                <a:solidFill>
                  <a:srgbClr val="2A3540"/>
                </a:solidFill>
                <a:latin typeface="Segoe UI"/>
              </a:rPr>
              <a:t>Copernicus GLO-30 for any GeoTIFF, or ground control points via a power-law fit.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448799" y="2688336"/>
            <a:ext cx="2282952" cy="1042415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62" name="Oval 61"/>
          <p:cNvSpPr/>
          <p:nvPr/>
        </p:nvSpPr>
        <p:spPr>
          <a:xfrm>
            <a:off x="9540239" y="2761487"/>
            <a:ext cx="402336" cy="402336"/>
          </a:xfrm>
          <a:prstGeom prst="ellipse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63" name="Picture 62" descr="wifi-of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36800" y="2858048"/>
            <a:ext cx="209214" cy="209214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10015727" y="2798064"/>
            <a:ext cx="162458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40" b="0" i="0">
                <a:solidFill>
                  <a:srgbClr val="141B22"/>
                </a:solidFill>
                <a:latin typeface="Segoe UI Semibold"/>
              </a:rPr>
              <a:t>Deployable, not a demo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576816" y="3218688"/>
            <a:ext cx="202692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20" b="0" i="0">
                <a:solidFill>
                  <a:srgbClr val="2A3540"/>
                </a:solidFill>
                <a:latin typeface="Segoe UI"/>
              </a:rPr>
              <a:t>No GPU needed. The viewer is one HTML file that opens from disk, offline.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663440" y="3813048"/>
            <a:ext cx="7068312" cy="347472"/>
          </a:xfrm>
          <a:prstGeom prst="roundRect">
            <a:avLst>
              <a:gd name="adj" fmla="val 13157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67" name="Rounded Rectangle 66"/>
          <p:cNvSpPr/>
          <p:nvPr/>
        </p:nvSpPr>
        <p:spPr>
          <a:xfrm>
            <a:off x="4736592" y="3877056"/>
            <a:ext cx="1280160" cy="219456"/>
          </a:xfrm>
          <a:prstGeom prst="roundRect">
            <a:avLst>
              <a:gd name="adj" fmla="val 20833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19" b="0" i="0">
                <a:solidFill>
                  <a:srgbClr val="FFFFFF"/>
                </a:solidFill>
                <a:latin typeface="Franklin Gothic Demi Cond"/>
              </a:rPr>
              <a:t>THE GAP WE CLOSE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108192" y="3831336"/>
            <a:ext cx="5550407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2A3540"/>
                </a:solidFill>
                <a:latin typeface="Segoe UI"/>
              </a:rPr>
              <a:t>The single-view papers we build on stop at weights and a score. </a:t>
            </a:r>
            <a:r>
              <a:rPr sz="880" b="0" i="0">
                <a:solidFill>
                  <a:srgbClr val="141B22"/>
                </a:solidFill>
                <a:latin typeface="Segoe UI Semibold"/>
              </a:rPr>
              <a:t>We ship metric height, calibrated confidence and a no-GPU 3D viewer</a:t>
            </a:r>
            <a:r>
              <a:rPr sz="880" b="0" i="0">
                <a:solidFill>
                  <a:srgbClr val="2A3540"/>
                </a:solidFill>
                <a:latin typeface="Segoe UI"/>
              </a:rPr>
              <a:t> — compared row by row on slide 6.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65760" y="4315968"/>
            <a:ext cx="11457432" cy="274320"/>
          </a:xfrm>
          <a:prstGeom prst="roundRect">
            <a:avLst>
              <a:gd name="adj" fmla="val 50000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THE IDEA, RUNNING: ONE ARCHIVED IMAGE IN, A MEASURABLE SURFACE OUT — CAPTURES OF OUR PROTOTYPE, NOT MOCK-UPS</a:t>
            </a:r>
          </a:p>
        </p:txBody>
      </p:sp>
      <p:pic>
        <p:nvPicPr>
          <p:cNvPr id="70" name="Picture 69" descr="omaha_inpu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760" y="4663440"/>
            <a:ext cx="1591056" cy="1591056"/>
          </a:xfrm>
          <a:prstGeom prst="rect">
            <a:avLst/>
          </a:prstGeom>
          <a:ln w="9525">
            <a:solidFill>
              <a:srgbClr val="C7D5DF"/>
            </a:solidFill>
          </a:ln>
        </p:spPr>
      </p:pic>
      <p:sp>
        <p:nvSpPr>
          <p:cNvPr id="71" name="Rounded Rectangle 70"/>
          <p:cNvSpPr/>
          <p:nvPr/>
        </p:nvSpPr>
        <p:spPr>
          <a:xfrm>
            <a:off x="365760" y="4663440"/>
            <a:ext cx="1046073" cy="237744"/>
          </a:xfrm>
          <a:prstGeom prst="roundRect">
            <a:avLst>
              <a:gd name="adj" fmla="val 15384"/>
            </a:avLst>
          </a:prstGeom>
          <a:solidFill>
            <a:srgbClr val="5563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FFFFFF"/>
                </a:solidFill>
                <a:latin typeface="Franklin Gothic Demi Cond"/>
              </a:rPr>
              <a:t>BEFORE · INPUT</a:t>
            </a:r>
          </a:p>
        </p:txBody>
      </p:sp>
      <p:sp>
        <p:nvSpPr>
          <p:cNvPr id="72" name="Right Arrow 71"/>
          <p:cNvSpPr/>
          <p:nvPr/>
        </p:nvSpPr>
        <p:spPr>
          <a:xfrm>
            <a:off x="2020824" y="5303520"/>
            <a:ext cx="274320" cy="310896"/>
          </a:xfrm>
          <a:prstGeom prst="rightArrow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73" name="Picture 72" descr="omaha_height_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59152" y="4663440"/>
            <a:ext cx="3017520" cy="1591056"/>
          </a:xfrm>
          <a:prstGeom prst="rect">
            <a:avLst/>
          </a:prstGeom>
          <a:ln w="9525">
            <a:solidFill>
              <a:srgbClr val="C7D5DF"/>
            </a:solidFill>
          </a:ln>
        </p:spPr>
      </p:pic>
      <p:sp>
        <p:nvSpPr>
          <p:cNvPr id="74" name="Rounded Rectangle 73"/>
          <p:cNvSpPr/>
          <p:nvPr/>
        </p:nvSpPr>
        <p:spPr>
          <a:xfrm>
            <a:off x="2359152" y="4663440"/>
            <a:ext cx="1468526" cy="237744"/>
          </a:xfrm>
          <a:prstGeom prst="roundRect">
            <a:avLst>
              <a:gd name="adj" fmla="val 15384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FFFFFF"/>
                </a:solidFill>
                <a:latin typeface="Franklin Gothic Demi Cond"/>
              </a:rPr>
              <a:t>AFTER · HEIGHT, IN 3D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59152" y="6291072"/>
            <a:ext cx="3017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Same tile: roofs, tree crowns and kerbs at 0.3 m.</a:t>
            </a:r>
          </a:p>
        </p:txBody>
      </p:sp>
      <p:pic>
        <p:nvPicPr>
          <p:cNvPr id="76" name="Picture 75" descr="omaha_sigma_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504688" y="4663440"/>
            <a:ext cx="3017520" cy="1591056"/>
          </a:xfrm>
          <a:prstGeom prst="rect">
            <a:avLst/>
          </a:prstGeom>
          <a:ln w="9525">
            <a:solidFill>
              <a:srgbClr val="C7D5DF"/>
            </a:solidFill>
          </a:ln>
        </p:spPr>
      </p:pic>
      <p:sp>
        <p:nvSpPr>
          <p:cNvPr id="77" name="Rounded Rectangle 76"/>
          <p:cNvSpPr/>
          <p:nvPr/>
        </p:nvSpPr>
        <p:spPr>
          <a:xfrm>
            <a:off x="5504688" y="4663440"/>
            <a:ext cx="1287475" cy="237744"/>
          </a:xfrm>
          <a:prstGeom prst="roundRect">
            <a:avLst>
              <a:gd name="adj" fmla="val 15384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FFFFFF"/>
                </a:solidFill>
                <a:latin typeface="Franklin Gothic Demi Cond"/>
              </a:rPr>
              <a:t>AFTER · CONFIDENCE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504688" y="6291072"/>
            <a:ext cx="3017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Where the estimate is weak, the sigma says so.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65760" y="6291072"/>
            <a:ext cx="186537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One Omaha tile, as flown.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686799" y="4754879"/>
            <a:ext cx="18288" cy="1408176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81" name="Picture 80" descr="sikkim_hilly_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05672" y="4663440"/>
            <a:ext cx="3017520" cy="1591056"/>
          </a:xfrm>
          <a:prstGeom prst="rect">
            <a:avLst/>
          </a:prstGeom>
          <a:ln w="9525">
            <a:solidFill>
              <a:srgbClr val="C7D5DF"/>
            </a:solidFill>
          </a:ln>
        </p:spPr>
      </p:pic>
      <p:sp>
        <p:nvSpPr>
          <p:cNvPr id="82" name="Rounded Rectangle 81"/>
          <p:cNvSpPr/>
          <p:nvPr/>
        </p:nvSpPr>
        <p:spPr>
          <a:xfrm>
            <a:off x="8805672" y="4663440"/>
            <a:ext cx="1468526" cy="237744"/>
          </a:xfrm>
          <a:prstGeom prst="roundRect">
            <a:avLst>
              <a:gd name="adj" fmla="val 15384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FFFFFF"/>
                </a:solidFill>
                <a:latin typeface="Franklin Gothic Demi Cond"/>
              </a:rPr>
              <a:t>SIKKIM, INDIA · HILLY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05672" y="6291072"/>
            <a:ext cx="3017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967 m of relief across 2 km.</a:t>
            </a:r>
            <a:r>
              <a:rPr sz="700" b="0" i="0">
                <a:solidFill>
                  <a:srgbClr val="55636E"/>
                </a:solidFill>
                <a:latin typeface="Segoe UI"/>
              </a:rPr>
              <a:t>  Imagery © Maxar, CC BY-NC 4.0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601968"/>
            <a:ext cx="12191999" cy="256032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601968"/>
            <a:ext cx="2844800" cy="256032"/>
          </a:xfrm>
        </p:spPr>
        <p:txBody>
          <a:bodyPr anchor="ctr"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Dev Up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115568"/>
            <a:ext cx="5486400" cy="310896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Franklin Gothic Demi Cond"/>
              </a:rPr>
              <a:t>ARCHITECTURE — ONE IMAGE TO A CHECKED SURFACE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65760" y="1517904"/>
            <a:ext cx="5486400" cy="3986784"/>
          </a:xfrm>
          <a:prstGeom prst="roundRect">
            <a:avLst>
              <a:gd name="adj" fmla="val 2293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2" name="Rounded Rectangle 17411"/>
          <p:cNvSpPr/>
          <p:nvPr/>
        </p:nvSpPr>
        <p:spPr>
          <a:xfrm>
            <a:off x="475488" y="1609344"/>
            <a:ext cx="5266944" cy="201168"/>
          </a:xfrm>
          <a:prstGeom prst="roundRect">
            <a:avLst>
              <a:gd name="adj" fmla="val 18181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INPUT LAYER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75488" y="1810512"/>
            <a:ext cx="5266944" cy="347472"/>
          </a:xfrm>
          <a:prstGeom prst="roundRect">
            <a:avLst>
              <a:gd name="adj" fmla="val 10526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4" name="Oval 17413"/>
          <p:cNvSpPr/>
          <p:nvPr/>
        </p:nvSpPr>
        <p:spPr>
          <a:xfrm>
            <a:off x="548640" y="1874519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15" name="Picture 17414" descr="file-tex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309" y="1927189"/>
            <a:ext cx="114117" cy="114117"/>
          </a:xfrm>
          <a:prstGeom prst="rect">
            <a:avLst/>
          </a:prstGeom>
        </p:spPr>
      </p:pic>
      <p:sp>
        <p:nvSpPr>
          <p:cNvPr id="17416" name="TextBox 17415"/>
          <p:cNvSpPr txBox="1"/>
          <p:nvPr/>
        </p:nvSpPr>
        <p:spPr>
          <a:xfrm>
            <a:off x="804672" y="1856231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GeoTIFF with
geo metadata</a:t>
            </a:r>
          </a:p>
        </p:txBody>
      </p:sp>
      <p:sp>
        <p:nvSpPr>
          <p:cNvPr id="17417" name="Rectangle 17416"/>
          <p:cNvSpPr/>
          <p:nvPr/>
        </p:nvSpPr>
        <p:spPr>
          <a:xfrm>
            <a:off x="2231136" y="1865376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8" name="Oval 17417"/>
          <p:cNvSpPr/>
          <p:nvPr/>
        </p:nvSpPr>
        <p:spPr>
          <a:xfrm>
            <a:off x="2304288" y="1874519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19" name="Picture 17418" descr="image-u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56957" y="1927189"/>
            <a:ext cx="114117" cy="114117"/>
          </a:xfrm>
          <a:prstGeom prst="rect">
            <a:avLst/>
          </a:prstGeom>
        </p:spPr>
      </p:pic>
      <p:sp>
        <p:nvSpPr>
          <p:cNvPr id="17420" name="TextBox 17419"/>
          <p:cNvSpPr txBox="1"/>
          <p:nvPr/>
        </p:nvSpPr>
        <p:spPr>
          <a:xfrm>
            <a:off x="2560320" y="1856231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Plain PNG / JPG,
no metadata</a:t>
            </a:r>
          </a:p>
        </p:txBody>
      </p:sp>
      <p:sp>
        <p:nvSpPr>
          <p:cNvPr id="17421" name="Rectangle 17420"/>
          <p:cNvSpPr/>
          <p:nvPr/>
        </p:nvSpPr>
        <p:spPr>
          <a:xfrm>
            <a:off x="3986783" y="1865376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2" name="Oval 17421"/>
          <p:cNvSpPr/>
          <p:nvPr/>
        </p:nvSpPr>
        <p:spPr>
          <a:xfrm>
            <a:off x="4059935" y="1874519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23" name="Picture 17422" descr="satell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2605" y="1927189"/>
            <a:ext cx="114117" cy="114117"/>
          </a:xfrm>
          <a:prstGeom prst="rect">
            <a:avLst/>
          </a:prstGeom>
        </p:spPr>
      </p:pic>
      <p:sp>
        <p:nvSpPr>
          <p:cNvPr id="17424" name="TextBox 17423"/>
          <p:cNvSpPr txBox="1"/>
          <p:nvPr/>
        </p:nvSpPr>
        <p:spPr>
          <a:xfrm>
            <a:off x="4315968" y="1856231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Cartosat-2S,
0.6 m</a:t>
            </a:r>
          </a:p>
        </p:txBody>
      </p:sp>
      <p:sp>
        <p:nvSpPr>
          <p:cNvPr id="17425" name="Down Arrow 17424"/>
          <p:cNvSpPr/>
          <p:nvPr/>
        </p:nvSpPr>
        <p:spPr>
          <a:xfrm>
            <a:off x="3035808" y="2176272"/>
            <a:ext cx="146304" cy="82296"/>
          </a:xfrm>
          <a:prstGeom prst="downArrow">
            <a:avLst/>
          </a:prstGeom>
          <a:solidFill>
            <a:srgbClr val="7FB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6" name="Rounded Rectangle 17425"/>
          <p:cNvSpPr/>
          <p:nvPr/>
        </p:nvSpPr>
        <p:spPr>
          <a:xfrm>
            <a:off x="475488" y="2276856"/>
            <a:ext cx="5266944" cy="201168"/>
          </a:xfrm>
          <a:prstGeom prst="roundRect">
            <a:avLst>
              <a:gd name="adj" fmla="val 18181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NORMALISATION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475488" y="2478024"/>
            <a:ext cx="5266944" cy="347472"/>
          </a:xfrm>
          <a:prstGeom prst="roundRect">
            <a:avLst>
              <a:gd name="adj" fmla="val 10526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8" name="Oval 17427"/>
          <p:cNvSpPr/>
          <p:nvPr/>
        </p:nvSpPr>
        <p:spPr>
          <a:xfrm>
            <a:off x="548640" y="2542032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29" name="Picture 17428" descr="rul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309" y="2594701"/>
            <a:ext cx="114117" cy="114117"/>
          </a:xfrm>
          <a:prstGeom prst="rect">
            <a:avLst/>
          </a:prstGeom>
        </p:spPr>
      </p:pic>
      <p:sp>
        <p:nvSpPr>
          <p:cNvPr id="17430" name="TextBox 17429"/>
          <p:cNvSpPr txBox="1"/>
          <p:nvPr/>
        </p:nvSpPr>
        <p:spPr>
          <a:xfrm>
            <a:off x="804672" y="2523744"/>
            <a:ext cx="22494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Ground sample distance
read from metadata</a:t>
            </a:r>
          </a:p>
        </p:txBody>
      </p:sp>
      <p:sp>
        <p:nvSpPr>
          <p:cNvPr id="17431" name="Rectangle 17430"/>
          <p:cNvSpPr/>
          <p:nvPr/>
        </p:nvSpPr>
        <p:spPr>
          <a:xfrm>
            <a:off x="3108960" y="2532888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2" name="Oval 17431"/>
          <p:cNvSpPr/>
          <p:nvPr/>
        </p:nvSpPr>
        <p:spPr>
          <a:xfrm>
            <a:off x="3182112" y="2542032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33" name="Picture 17432" descr="layer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34781" y="2594701"/>
            <a:ext cx="114117" cy="114117"/>
          </a:xfrm>
          <a:prstGeom prst="rect">
            <a:avLst/>
          </a:prstGeom>
        </p:spPr>
      </p:pic>
      <p:sp>
        <p:nvSpPr>
          <p:cNvPr id="17434" name="TextBox 17433"/>
          <p:cNvSpPr txBox="1"/>
          <p:nvPr/>
        </p:nvSpPr>
        <p:spPr>
          <a:xfrm>
            <a:off x="3438144" y="2523744"/>
            <a:ext cx="22494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Auto-zoom and resample
to a 0.3 m scale</a:t>
            </a:r>
          </a:p>
        </p:txBody>
      </p:sp>
      <p:sp>
        <p:nvSpPr>
          <p:cNvPr id="17435" name="Down Arrow 17434"/>
          <p:cNvSpPr/>
          <p:nvPr/>
        </p:nvSpPr>
        <p:spPr>
          <a:xfrm>
            <a:off x="3035808" y="2843784"/>
            <a:ext cx="146304" cy="82296"/>
          </a:xfrm>
          <a:prstGeom prst="downArrow">
            <a:avLst/>
          </a:prstGeom>
          <a:solidFill>
            <a:srgbClr val="7FB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6" name="Rounded Rectangle 17435"/>
          <p:cNvSpPr/>
          <p:nvPr/>
        </p:nvSpPr>
        <p:spPr>
          <a:xfrm>
            <a:off x="475488" y="2944368"/>
            <a:ext cx="5266944" cy="201168"/>
          </a:xfrm>
          <a:prstGeom prst="roundRect">
            <a:avLst>
              <a:gd name="adj" fmla="val 18181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MODEL CORE — DEPTH ANYTHING V2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475488" y="3145536"/>
            <a:ext cx="5266944" cy="347472"/>
          </a:xfrm>
          <a:prstGeom prst="roundRect">
            <a:avLst>
              <a:gd name="adj" fmla="val 10526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8" name="Oval 17437"/>
          <p:cNvSpPr/>
          <p:nvPr/>
        </p:nvSpPr>
        <p:spPr>
          <a:xfrm>
            <a:off x="548640" y="3209544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39" name="Picture 17438" descr="cp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1309" y="3262213"/>
            <a:ext cx="114117" cy="114117"/>
          </a:xfrm>
          <a:prstGeom prst="rect">
            <a:avLst/>
          </a:prstGeom>
        </p:spPr>
      </p:pic>
      <p:sp>
        <p:nvSpPr>
          <p:cNvPr id="17440" name="TextBox 17439"/>
          <p:cNvSpPr txBox="1"/>
          <p:nvPr/>
        </p:nvSpPr>
        <p:spPr>
          <a:xfrm>
            <a:off x="804672" y="319125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ViT encoder</a:t>
            </a:r>
          </a:p>
        </p:txBody>
      </p:sp>
      <p:sp>
        <p:nvSpPr>
          <p:cNvPr id="17441" name="Rectangle 17440"/>
          <p:cNvSpPr/>
          <p:nvPr/>
        </p:nvSpPr>
        <p:spPr>
          <a:xfrm>
            <a:off x="2231136" y="3200400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2" name="Oval 17441"/>
          <p:cNvSpPr/>
          <p:nvPr/>
        </p:nvSpPr>
        <p:spPr>
          <a:xfrm>
            <a:off x="2304288" y="3209544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43" name="Picture 17442" descr="workflow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356957" y="3262213"/>
            <a:ext cx="114117" cy="114117"/>
          </a:xfrm>
          <a:prstGeom prst="rect">
            <a:avLst/>
          </a:prstGeom>
        </p:spPr>
      </p:pic>
      <p:sp>
        <p:nvSpPr>
          <p:cNvPr id="17444" name="TextBox 17443"/>
          <p:cNvSpPr txBox="1"/>
          <p:nvPr/>
        </p:nvSpPr>
        <p:spPr>
          <a:xfrm>
            <a:off x="2560320" y="319125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DPT neck</a:t>
            </a:r>
          </a:p>
        </p:txBody>
      </p:sp>
      <p:sp>
        <p:nvSpPr>
          <p:cNvPr id="17445" name="Rectangle 17444"/>
          <p:cNvSpPr/>
          <p:nvPr/>
        </p:nvSpPr>
        <p:spPr>
          <a:xfrm>
            <a:off x="3986783" y="3200400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6" name="Oval 17445"/>
          <p:cNvSpPr/>
          <p:nvPr/>
        </p:nvSpPr>
        <p:spPr>
          <a:xfrm>
            <a:off x="4059935" y="3209544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47" name="Picture 17446" descr="databas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12605" y="3262213"/>
            <a:ext cx="114117" cy="114117"/>
          </a:xfrm>
          <a:prstGeom prst="rect">
            <a:avLst/>
          </a:prstGeom>
        </p:spPr>
      </p:pic>
      <p:sp>
        <p:nvSpPr>
          <p:cNvPr id="17448" name="TextBox 17447"/>
          <p:cNvSpPr txBox="1"/>
          <p:nvPr/>
        </p:nvSpPr>
        <p:spPr>
          <a:xfrm>
            <a:off x="4315968" y="3191256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Fine-tuned on
DFC2019 + GAMUS</a:t>
            </a:r>
          </a:p>
        </p:txBody>
      </p:sp>
      <p:sp>
        <p:nvSpPr>
          <p:cNvPr id="17449" name="Down Arrow 17448"/>
          <p:cNvSpPr/>
          <p:nvPr/>
        </p:nvSpPr>
        <p:spPr>
          <a:xfrm>
            <a:off x="3035808" y="3511296"/>
            <a:ext cx="146304" cy="82296"/>
          </a:xfrm>
          <a:prstGeom prst="downArrow">
            <a:avLst/>
          </a:prstGeom>
          <a:solidFill>
            <a:srgbClr val="7FB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0" name="Rounded Rectangle 17449"/>
          <p:cNvSpPr/>
          <p:nvPr/>
        </p:nvSpPr>
        <p:spPr>
          <a:xfrm>
            <a:off x="475488" y="3611879"/>
            <a:ext cx="5266944" cy="201168"/>
          </a:xfrm>
          <a:prstGeom prst="roundRect">
            <a:avLst>
              <a:gd name="adj" fmla="val 18181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DUAL HEAD</a:t>
            </a:r>
          </a:p>
        </p:txBody>
      </p:sp>
      <p:sp>
        <p:nvSpPr>
          <p:cNvPr id="17451" name="Rounded Rectangle 17450"/>
          <p:cNvSpPr/>
          <p:nvPr/>
        </p:nvSpPr>
        <p:spPr>
          <a:xfrm>
            <a:off x="475488" y="3813048"/>
            <a:ext cx="5266944" cy="347472"/>
          </a:xfrm>
          <a:prstGeom prst="roundRect">
            <a:avLst>
              <a:gd name="adj" fmla="val 10526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2" name="Oval 17451"/>
          <p:cNvSpPr/>
          <p:nvPr/>
        </p:nvSpPr>
        <p:spPr>
          <a:xfrm>
            <a:off x="548640" y="3877056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53" name="Picture 17452" descr="mountain-snow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1309" y="3929725"/>
            <a:ext cx="114117" cy="114117"/>
          </a:xfrm>
          <a:prstGeom prst="rect">
            <a:avLst/>
          </a:prstGeom>
        </p:spPr>
      </p:pic>
      <p:sp>
        <p:nvSpPr>
          <p:cNvPr id="17454" name="TextBox 17453"/>
          <p:cNvSpPr txBox="1"/>
          <p:nvPr/>
        </p:nvSpPr>
        <p:spPr>
          <a:xfrm>
            <a:off x="804672" y="3858768"/>
            <a:ext cx="22494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Height mu,
per pixel</a:t>
            </a:r>
          </a:p>
        </p:txBody>
      </p:sp>
      <p:sp>
        <p:nvSpPr>
          <p:cNvPr id="17455" name="Rectangle 17454"/>
          <p:cNvSpPr/>
          <p:nvPr/>
        </p:nvSpPr>
        <p:spPr>
          <a:xfrm>
            <a:off x="3108960" y="3867911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6" name="Oval 17455"/>
          <p:cNvSpPr/>
          <p:nvPr/>
        </p:nvSpPr>
        <p:spPr>
          <a:xfrm>
            <a:off x="3182112" y="3877056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57" name="Picture 17456" descr="shield-check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34781" y="3929725"/>
            <a:ext cx="114117" cy="114117"/>
          </a:xfrm>
          <a:prstGeom prst="rect">
            <a:avLst/>
          </a:prstGeom>
        </p:spPr>
      </p:pic>
      <p:sp>
        <p:nvSpPr>
          <p:cNvPr id="17458" name="TextBox 17457"/>
          <p:cNvSpPr txBox="1"/>
          <p:nvPr/>
        </p:nvSpPr>
        <p:spPr>
          <a:xfrm>
            <a:off x="3438144" y="3858768"/>
            <a:ext cx="22494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Log-variance sigma,
per pixel</a:t>
            </a:r>
          </a:p>
        </p:txBody>
      </p:sp>
      <p:sp>
        <p:nvSpPr>
          <p:cNvPr id="17459" name="Down Arrow 17458"/>
          <p:cNvSpPr/>
          <p:nvPr/>
        </p:nvSpPr>
        <p:spPr>
          <a:xfrm>
            <a:off x="3035808" y="4178807"/>
            <a:ext cx="146304" cy="82296"/>
          </a:xfrm>
          <a:prstGeom prst="downArrow">
            <a:avLst/>
          </a:prstGeom>
          <a:solidFill>
            <a:srgbClr val="7FB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0" name="Rounded Rectangle 17459"/>
          <p:cNvSpPr/>
          <p:nvPr/>
        </p:nvSpPr>
        <p:spPr>
          <a:xfrm>
            <a:off x="475488" y="4279391"/>
            <a:ext cx="5266944" cy="201168"/>
          </a:xfrm>
          <a:prstGeom prst="roundRect">
            <a:avLst>
              <a:gd name="adj" fmla="val 18181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POST-PROCESS</a:t>
            </a:r>
          </a:p>
        </p:txBody>
      </p:sp>
      <p:sp>
        <p:nvSpPr>
          <p:cNvPr id="17461" name="Rounded Rectangle 17460"/>
          <p:cNvSpPr/>
          <p:nvPr/>
        </p:nvSpPr>
        <p:spPr>
          <a:xfrm>
            <a:off x="475488" y="4480559"/>
            <a:ext cx="5266944" cy="347472"/>
          </a:xfrm>
          <a:prstGeom prst="roundRect">
            <a:avLst>
              <a:gd name="adj" fmla="val 10526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2" name="Oval 17461"/>
          <p:cNvSpPr/>
          <p:nvPr/>
        </p:nvSpPr>
        <p:spPr>
          <a:xfrm>
            <a:off x="548640" y="4544567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3" name="Picture 17462" descr="box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01309" y="4597237"/>
            <a:ext cx="114117" cy="114117"/>
          </a:xfrm>
          <a:prstGeom prst="rect">
            <a:avLst/>
          </a:prstGeom>
        </p:spPr>
      </p:pic>
      <p:sp>
        <p:nvSpPr>
          <p:cNvPr id="17464" name="TextBox 17463"/>
          <p:cNvSpPr txBox="1"/>
          <p:nvPr/>
        </p:nvSpPr>
        <p:spPr>
          <a:xfrm>
            <a:off x="804672" y="4526279"/>
            <a:ext cx="22494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518 px tiling,
overlap blend, TTA</a:t>
            </a:r>
          </a:p>
        </p:txBody>
      </p:sp>
      <p:sp>
        <p:nvSpPr>
          <p:cNvPr id="17465" name="Rectangle 17464"/>
          <p:cNvSpPr/>
          <p:nvPr/>
        </p:nvSpPr>
        <p:spPr>
          <a:xfrm>
            <a:off x="3108960" y="4535423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6" name="Oval 17465"/>
          <p:cNvSpPr/>
          <p:nvPr/>
        </p:nvSpPr>
        <p:spPr>
          <a:xfrm>
            <a:off x="3182112" y="4544567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7" name="Picture 17466" descr="map-pinn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234781" y="4597237"/>
            <a:ext cx="114117" cy="114117"/>
          </a:xfrm>
          <a:prstGeom prst="rect">
            <a:avLst/>
          </a:prstGeom>
        </p:spPr>
      </p:pic>
      <p:sp>
        <p:nvSpPr>
          <p:cNvPr id="17468" name="TextBox 17467"/>
          <p:cNvSpPr txBox="1"/>
          <p:nvPr/>
        </p:nvSpPr>
        <p:spPr>
          <a:xfrm>
            <a:off x="3438144" y="4526279"/>
            <a:ext cx="22494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Scale anchor: GLO-30
or ground control</a:t>
            </a:r>
          </a:p>
        </p:txBody>
      </p:sp>
      <p:sp>
        <p:nvSpPr>
          <p:cNvPr id="17469" name="Down Arrow 17468"/>
          <p:cNvSpPr/>
          <p:nvPr/>
        </p:nvSpPr>
        <p:spPr>
          <a:xfrm>
            <a:off x="3035808" y="4846319"/>
            <a:ext cx="146304" cy="82296"/>
          </a:xfrm>
          <a:prstGeom prst="downArrow">
            <a:avLst/>
          </a:prstGeom>
          <a:solidFill>
            <a:srgbClr val="7FB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0" name="Rounded Rectangle 17469"/>
          <p:cNvSpPr/>
          <p:nvPr/>
        </p:nvSpPr>
        <p:spPr>
          <a:xfrm>
            <a:off x="475488" y="4946903"/>
            <a:ext cx="5266944" cy="201168"/>
          </a:xfrm>
          <a:prstGeom prst="roundRect">
            <a:avLst>
              <a:gd name="adj" fmla="val 18181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OUTPUT LAYER</a:t>
            </a:r>
          </a:p>
        </p:txBody>
      </p:sp>
      <p:sp>
        <p:nvSpPr>
          <p:cNvPr id="17471" name="Rounded Rectangle 17470"/>
          <p:cNvSpPr/>
          <p:nvPr/>
        </p:nvSpPr>
        <p:spPr>
          <a:xfrm>
            <a:off x="475488" y="5148071"/>
            <a:ext cx="5266944" cy="347472"/>
          </a:xfrm>
          <a:prstGeom prst="roundRect">
            <a:avLst>
              <a:gd name="adj" fmla="val 10526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2" name="Oval 17471"/>
          <p:cNvSpPr/>
          <p:nvPr/>
        </p:nvSpPr>
        <p:spPr>
          <a:xfrm>
            <a:off x="548640" y="5212079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73" name="Picture 17472" descr="file-tex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309" y="5264749"/>
            <a:ext cx="114117" cy="114117"/>
          </a:xfrm>
          <a:prstGeom prst="rect">
            <a:avLst/>
          </a:prstGeom>
        </p:spPr>
      </p:pic>
      <p:sp>
        <p:nvSpPr>
          <p:cNvPr id="17474" name="TextBox 17473"/>
          <p:cNvSpPr txBox="1"/>
          <p:nvPr/>
        </p:nvSpPr>
        <p:spPr>
          <a:xfrm>
            <a:off x="804672" y="5193791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Absolute DSM /
relative DSM</a:t>
            </a:r>
          </a:p>
        </p:txBody>
      </p:sp>
      <p:sp>
        <p:nvSpPr>
          <p:cNvPr id="17475" name="Rectangle 17474"/>
          <p:cNvSpPr/>
          <p:nvPr/>
        </p:nvSpPr>
        <p:spPr>
          <a:xfrm>
            <a:off x="2231136" y="5202935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6" name="Oval 17475"/>
          <p:cNvSpPr/>
          <p:nvPr/>
        </p:nvSpPr>
        <p:spPr>
          <a:xfrm>
            <a:off x="2304288" y="5212079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77" name="Picture 17476" descr="gau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356957" y="5264749"/>
            <a:ext cx="114117" cy="114117"/>
          </a:xfrm>
          <a:prstGeom prst="rect">
            <a:avLst/>
          </a:prstGeom>
        </p:spPr>
      </p:pic>
      <p:sp>
        <p:nvSpPr>
          <p:cNvPr id="17478" name="TextBox 17477"/>
          <p:cNvSpPr txBox="1"/>
          <p:nvPr/>
        </p:nvSpPr>
        <p:spPr>
          <a:xfrm>
            <a:off x="2560320" y="5193791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Sigma map</a:t>
            </a:r>
          </a:p>
        </p:txBody>
      </p:sp>
      <p:sp>
        <p:nvSpPr>
          <p:cNvPr id="17479" name="Rectangle 17478"/>
          <p:cNvSpPr/>
          <p:nvPr/>
        </p:nvSpPr>
        <p:spPr>
          <a:xfrm>
            <a:off x="3986783" y="5202935"/>
            <a:ext cx="9144" cy="237744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0" name="Oval 17479"/>
          <p:cNvSpPr/>
          <p:nvPr/>
        </p:nvSpPr>
        <p:spPr>
          <a:xfrm>
            <a:off x="4059935" y="5212079"/>
            <a:ext cx="219456" cy="219456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81" name="Picture 17480" descr="monitor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112605" y="5264749"/>
            <a:ext cx="114117" cy="114117"/>
          </a:xfrm>
          <a:prstGeom prst="rect">
            <a:avLst/>
          </a:prstGeom>
        </p:spPr>
      </p:pic>
      <p:sp>
        <p:nvSpPr>
          <p:cNvPr id="17482" name="TextBox 17481"/>
          <p:cNvSpPr txBox="1"/>
          <p:nvPr/>
        </p:nvSpPr>
        <p:spPr>
          <a:xfrm>
            <a:off x="4315968" y="5193791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2A3540"/>
                </a:solidFill>
                <a:latin typeface="Segoe UI"/>
              </a:rPr>
              <a:t>three.js scene,
live error map</a:t>
            </a:r>
          </a:p>
        </p:txBody>
      </p:sp>
      <p:sp>
        <p:nvSpPr>
          <p:cNvPr id="17483" name="Rounded Rectangle 17482"/>
          <p:cNvSpPr/>
          <p:nvPr/>
        </p:nvSpPr>
        <p:spPr>
          <a:xfrm>
            <a:off x="6126480" y="1115568"/>
            <a:ext cx="2697480" cy="310896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Franklin Gothic Demi Cond"/>
              </a:rPr>
              <a:t>HOW IT RUNS — HARDWARE, API, DATA</a:t>
            </a:r>
          </a:p>
        </p:txBody>
      </p:sp>
      <p:sp>
        <p:nvSpPr>
          <p:cNvPr id="17484" name="Rounded Rectangle 17483"/>
          <p:cNvSpPr/>
          <p:nvPr/>
        </p:nvSpPr>
        <p:spPr>
          <a:xfrm>
            <a:off x="6126480" y="1517904"/>
            <a:ext cx="2697480" cy="3986784"/>
          </a:xfrm>
          <a:prstGeom prst="roundRect">
            <a:avLst>
              <a:gd name="adj" fmla="val 3389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5" name="Rounded Rectangle 17484"/>
          <p:cNvSpPr/>
          <p:nvPr/>
        </p:nvSpPr>
        <p:spPr>
          <a:xfrm>
            <a:off x="6236208" y="1627632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Franklin Gothic Demi"/>
              </a:rPr>
              <a:t>1</a:t>
            </a:r>
          </a:p>
        </p:txBody>
      </p:sp>
      <p:sp>
        <p:nvSpPr>
          <p:cNvPr id="17486" name="Rectangle 17485"/>
          <p:cNvSpPr/>
          <p:nvPr/>
        </p:nvSpPr>
        <p:spPr>
          <a:xfrm>
            <a:off x="6373368" y="1938528"/>
            <a:ext cx="18288" cy="640080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7" name="TextBox 17486"/>
          <p:cNvSpPr txBox="1"/>
          <p:nvPr/>
        </p:nvSpPr>
        <p:spPr>
          <a:xfrm>
            <a:off x="6638544" y="1645920"/>
            <a:ext cx="2057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Trained on one consumer GPU</a:t>
            </a:r>
          </a:p>
        </p:txBody>
      </p:sp>
      <p:sp>
        <p:nvSpPr>
          <p:cNvPr id="17488" name="TextBox 17487"/>
          <p:cNvSpPr txBox="1"/>
          <p:nvPr/>
        </p:nvSpPr>
        <p:spPr>
          <a:xfrm>
            <a:off x="6638544" y="1901952"/>
            <a:ext cx="2057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2A3540"/>
                </a:solidFill>
                <a:latin typeface="Segoe UI"/>
              </a:rPr>
              <a:t>RTX 3060, 12 GB. Backbone: Depth Anything V2 Small, Apache 2.0, 24.8 M parameters.</a:t>
            </a:r>
          </a:p>
        </p:txBody>
      </p:sp>
      <p:sp>
        <p:nvSpPr>
          <p:cNvPr id="17489" name="Rounded Rectangle 17488"/>
          <p:cNvSpPr/>
          <p:nvPr/>
        </p:nvSpPr>
        <p:spPr>
          <a:xfrm>
            <a:off x="6236208" y="2596896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Franklin Gothic Demi"/>
              </a:rPr>
              <a:t>2</a:t>
            </a:r>
          </a:p>
        </p:txBody>
      </p:sp>
      <p:sp>
        <p:nvSpPr>
          <p:cNvPr id="17490" name="Rectangle 17489"/>
          <p:cNvSpPr/>
          <p:nvPr/>
        </p:nvSpPr>
        <p:spPr>
          <a:xfrm>
            <a:off x="6373368" y="2907791"/>
            <a:ext cx="18288" cy="640080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91" name="TextBox 17490"/>
          <p:cNvSpPr txBox="1"/>
          <p:nvPr/>
        </p:nvSpPr>
        <p:spPr>
          <a:xfrm>
            <a:off x="6638544" y="2615184"/>
            <a:ext cx="2057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Exported for CPU</a:t>
            </a:r>
          </a:p>
        </p:txBody>
      </p:sp>
      <p:sp>
        <p:nvSpPr>
          <p:cNvPr id="17492" name="TextBox 17491"/>
          <p:cNvSpPr txBox="1"/>
          <p:nvPr/>
        </p:nvSpPr>
        <p:spPr>
          <a:xfrm>
            <a:off x="6638544" y="2871215"/>
            <a:ext cx="2057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2A3540"/>
                </a:solidFill>
                <a:latin typeface="Segoe UI"/>
              </a:rPr>
              <a:t>ONNX, int8-quantised to 36.8 MB. Inference needs no GPU at all.</a:t>
            </a:r>
          </a:p>
        </p:txBody>
      </p:sp>
      <p:sp>
        <p:nvSpPr>
          <p:cNvPr id="17493" name="Rounded Rectangle 17492"/>
          <p:cNvSpPr/>
          <p:nvPr/>
        </p:nvSpPr>
        <p:spPr>
          <a:xfrm>
            <a:off x="6236208" y="3566160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Franklin Gothic Demi"/>
              </a:rPr>
              <a:t>3</a:t>
            </a:r>
          </a:p>
        </p:txBody>
      </p:sp>
      <p:sp>
        <p:nvSpPr>
          <p:cNvPr id="17494" name="Rectangle 17493"/>
          <p:cNvSpPr/>
          <p:nvPr/>
        </p:nvSpPr>
        <p:spPr>
          <a:xfrm>
            <a:off x="6373368" y="3877056"/>
            <a:ext cx="18288" cy="640080"/>
          </a:xfrm>
          <a:prstGeom prst="rect">
            <a:avLst/>
          </a:prstGeom>
          <a:solidFill>
            <a:srgbClr val="C7D5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95" name="TextBox 17494"/>
          <p:cNvSpPr txBox="1"/>
          <p:nvPr/>
        </p:nvSpPr>
        <p:spPr>
          <a:xfrm>
            <a:off x="6638544" y="3584448"/>
            <a:ext cx="2057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Served over HTTP</a:t>
            </a:r>
          </a:p>
        </p:txBody>
      </p:sp>
      <p:sp>
        <p:nvSpPr>
          <p:cNvPr id="17496" name="TextBox 17495"/>
          <p:cNvSpPr txBox="1"/>
          <p:nvPr/>
        </p:nvSpPr>
        <p:spPr>
          <a:xfrm>
            <a:off x="6638544" y="3840480"/>
            <a:ext cx="2057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2A3540"/>
                </a:solidFill>
                <a:latin typeface="Segoe UI"/>
              </a:rPr>
              <a:t>POST /api/upload takes TIF, PNG or JPG; /api/result returns the DSM. Live on a two-core CPU host.</a:t>
            </a:r>
          </a:p>
        </p:txBody>
      </p:sp>
      <p:sp>
        <p:nvSpPr>
          <p:cNvPr id="17497" name="Rounded Rectangle 17496"/>
          <p:cNvSpPr/>
          <p:nvPr/>
        </p:nvSpPr>
        <p:spPr>
          <a:xfrm>
            <a:off x="6236208" y="4535424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FFFFFF"/>
                </a:solidFill>
                <a:latin typeface="Franklin Gothic Demi"/>
              </a:rPr>
              <a:t>4</a:t>
            </a:r>
          </a:p>
        </p:txBody>
      </p:sp>
      <p:sp>
        <p:nvSpPr>
          <p:cNvPr id="17498" name="TextBox 17497"/>
          <p:cNvSpPr txBox="1"/>
          <p:nvPr/>
        </p:nvSpPr>
        <p:spPr>
          <a:xfrm>
            <a:off x="6638544" y="4553712"/>
            <a:ext cx="20574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Files, not a database</a:t>
            </a:r>
          </a:p>
        </p:txBody>
      </p:sp>
      <p:sp>
        <p:nvSpPr>
          <p:cNvPr id="17499" name="TextBox 17498"/>
          <p:cNvSpPr txBox="1"/>
          <p:nvPr/>
        </p:nvSpPr>
        <p:spPr>
          <a:xfrm>
            <a:off x="6638544" y="4809744"/>
            <a:ext cx="2057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2A3540"/>
                </a:solidFill>
                <a:latin typeface="Segoe UI"/>
              </a:rPr>
              <a:t>GeoTIFF DSM and sigma, float32 scene tiles. The viewer is one 15 MB HTML file that opens from disk.</a:t>
            </a:r>
          </a:p>
        </p:txBody>
      </p:sp>
      <p:sp>
        <p:nvSpPr>
          <p:cNvPr id="17500" name="Rounded Rectangle 17499"/>
          <p:cNvSpPr/>
          <p:nvPr/>
        </p:nvSpPr>
        <p:spPr>
          <a:xfrm>
            <a:off x="9098280" y="1115568"/>
            <a:ext cx="2724912" cy="310896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Franklin Gothic Demi Cond"/>
              </a:rPr>
              <a:t>DESIGN CHOICES, AND WHY</a:t>
            </a:r>
          </a:p>
        </p:txBody>
      </p:sp>
      <p:sp>
        <p:nvSpPr>
          <p:cNvPr id="17501" name="Rounded Rectangle 17500"/>
          <p:cNvSpPr/>
          <p:nvPr/>
        </p:nvSpPr>
        <p:spPr>
          <a:xfrm>
            <a:off x="9098280" y="1517904"/>
            <a:ext cx="2724912" cy="3986784"/>
          </a:xfrm>
          <a:prstGeom prst="roundRect">
            <a:avLst>
              <a:gd name="adj" fmla="val 3355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502" name="Rounded Rectangle 17501"/>
          <p:cNvSpPr/>
          <p:nvPr/>
        </p:nvSpPr>
        <p:spPr>
          <a:xfrm>
            <a:off x="9189719" y="1627632"/>
            <a:ext cx="2542032" cy="896112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503" name="Oval 17502"/>
          <p:cNvSpPr/>
          <p:nvPr/>
        </p:nvSpPr>
        <p:spPr>
          <a:xfrm>
            <a:off x="9281160" y="1682496"/>
            <a:ext cx="365760" cy="365760"/>
          </a:xfrm>
          <a:prstGeom prst="ellipse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504" name="Picture 17503" descr="gau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368942" y="1770278"/>
            <a:ext cx="190195" cy="190195"/>
          </a:xfrm>
          <a:prstGeom prst="rect">
            <a:avLst/>
          </a:prstGeom>
        </p:spPr>
      </p:pic>
      <p:sp>
        <p:nvSpPr>
          <p:cNvPr id="17505" name="TextBox 17504"/>
          <p:cNvSpPr txBox="1"/>
          <p:nvPr/>
        </p:nvSpPr>
        <p:spPr>
          <a:xfrm>
            <a:off x="9720072" y="1728216"/>
            <a:ext cx="19751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Metres learned from LiDAR</a:t>
            </a:r>
          </a:p>
        </p:txBody>
      </p:sp>
      <p:sp>
        <p:nvSpPr>
          <p:cNvPr id="17506" name="TextBox 17505"/>
          <p:cNvSpPr txBox="1"/>
          <p:nvPr/>
        </p:nvSpPr>
        <p:spPr>
          <a:xfrm>
            <a:off x="9281159" y="2048256"/>
            <a:ext cx="235915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90" b="0" i="0">
                <a:solidFill>
                  <a:srgbClr val="2A3540"/>
                </a:solidFill>
                <a:latin typeface="Segoe UI"/>
              </a:rPr>
              <a:t>Fine-tuning on airborne-LiDAR heights makes the output metric directly; a DEM supplies the ground under it.</a:t>
            </a:r>
          </a:p>
        </p:txBody>
      </p:sp>
      <p:sp>
        <p:nvSpPr>
          <p:cNvPr id="17507" name="Rounded Rectangle 17506"/>
          <p:cNvSpPr/>
          <p:nvPr/>
        </p:nvSpPr>
        <p:spPr>
          <a:xfrm>
            <a:off x="9189719" y="2596896"/>
            <a:ext cx="2542032" cy="896112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508" name="Oval 17507"/>
          <p:cNvSpPr/>
          <p:nvPr/>
        </p:nvSpPr>
        <p:spPr>
          <a:xfrm>
            <a:off x="9281160" y="2651759"/>
            <a:ext cx="365760" cy="365760"/>
          </a:xfrm>
          <a:prstGeom prst="ellipse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509" name="Picture 17508" descr="shield-check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368942" y="2739542"/>
            <a:ext cx="190195" cy="190195"/>
          </a:xfrm>
          <a:prstGeom prst="rect">
            <a:avLst/>
          </a:prstGeom>
        </p:spPr>
      </p:pic>
      <p:sp>
        <p:nvSpPr>
          <p:cNvPr id="17510" name="TextBox 17509"/>
          <p:cNvSpPr txBox="1"/>
          <p:nvPr/>
        </p:nvSpPr>
        <p:spPr>
          <a:xfrm>
            <a:off x="9720072" y="2697479"/>
            <a:ext cx="19751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Uncertainty as an output</a:t>
            </a:r>
          </a:p>
        </p:txBody>
      </p:sp>
      <p:sp>
        <p:nvSpPr>
          <p:cNvPr id="17511" name="TextBox 17510"/>
          <p:cNvSpPr txBox="1"/>
          <p:nvPr/>
        </p:nvSpPr>
        <p:spPr>
          <a:xfrm>
            <a:off x="9281159" y="3017520"/>
            <a:ext cx="235915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90" b="0" i="0">
                <a:solidFill>
                  <a:srgbClr val="2A3540"/>
                </a:solidFill>
                <a:latin typeface="Segoe UI"/>
              </a:rPr>
              <a:t>A twin head predicts sigma beside every height (heteroscedastic NLL with beta-NLL), so doubt is visible.</a:t>
            </a:r>
          </a:p>
        </p:txBody>
      </p:sp>
      <p:sp>
        <p:nvSpPr>
          <p:cNvPr id="17512" name="Rounded Rectangle 17511"/>
          <p:cNvSpPr/>
          <p:nvPr/>
        </p:nvSpPr>
        <p:spPr>
          <a:xfrm>
            <a:off x="9189719" y="3566160"/>
            <a:ext cx="2542032" cy="896112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513" name="Oval 17512"/>
          <p:cNvSpPr/>
          <p:nvPr/>
        </p:nvSpPr>
        <p:spPr>
          <a:xfrm>
            <a:off x="9281160" y="3621024"/>
            <a:ext cx="365760" cy="365760"/>
          </a:xfrm>
          <a:prstGeom prst="ellipse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514" name="Picture 17513" descr="layer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68942" y="3708806"/>
            <a:ext cx="190195" cy="190195"/>
          </a:xfrm>
          <a:prstGeom prst="rect">
            <a:avLst/>
          </a:prstGeom>
        </p:spPr>
      </p:pic>
      <p:sp>
        <p:nvSpPr>
          <p:cNvPr id="17515" name="TextBox 17514"/>
          <p:cNvSpPr txBox="1"/>
          <p:nvPr/>
        </p:nvSpPr>
        <p:spPr>
          <a:xfrm>
            <a:off x="9720072" y="3666744"/>
            <a:ext cx="19751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Built for ISRO's 0.6 m</a:t>
            </a:r>
          </a:p>
        </p:txBody>
      </p:sp>
      <p:sp>
        <p:nvSpPr>
          <p:cNvPr id="17516" name="TextBox 17515"/>
          <p:cNvSpPr txBox="1"/>
          <p:nvPr/>
        </p:nvSpPr>
        <p:spPr>
          <a:xfrm>
            <a:off x="9281159" y="3986784"/>
            <a:ext cx="235915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90" b="0" i="0">
                <a:solidFill>
                  <a:srgbClr val="2A3540"/>
                </a:solidFill>
                <a:latin typeface="Segoe UI"/>
              </a:rPr>
              <a:t>Auto-zoom reads a GeoTIFF's resolution and resamples Cartosat-2S to the scale the model learned.</a:t>
            </a:r>
          </a:p>
        </p:txBody>
      </p:sp>
      <p:sp>
        <p:nvSpPr>
          <p:cNvPr id="17517" name="Rounded Rectangle 17516"/>
          <p:cNvSpPr/>
          <p:nvPr/>
        </p:nvSpPr>
        <p:spPr>
          <a:xfrm>
            <a:off x="9189719" y="4535424"/>
            <a:ext cx="2542032" cy="896112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518" name="Oval 17517"/>
          <p:cNvSpPr/>
          <p:nvPr/>
        </p:nvSpPr>
        <p:spPr>
          <a:xfrm>
            <a:off x="9281160" y="4590288"/>
            <a:ext cx="365760" cy="365760"/>
          </a:xfrm>
          <a:prstGeom prst="ellipse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519" name="Picture 17518" descr="cp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68942" y="4678070"/>
            <a:ext cx="190195" cy="190195"/>
          </a:xfrm>
          <a:prstGeom prst="rect">
            <a:avLst/>
          </a:prstGeom>
        </p:spPr>
      </p:pic>
      <p:sp>
        <p:nvSpPr>
          <p:cNvPr id="17520" name="TextBox 17519"/>
          <p:cNvSpPr txBox="1"/>
          <p:nvPr/>
        </p:nvSpPr>
        <p:spPr>
          <a:xfrm>
            <a:off x="9720072" y="4636008"/>
            <a:ext cx="19751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Chosen by measurement</a:t>
            </a:r>
          </a:p>
        </p:txBody>
      </p:sp>
      <p:sp>
        <p:nvSpPr>
          <p:cNvPr id="17521" name="TextBox 17520"/>
          <p:cNvSpPr txBox="1"/>
          <p:nvPr/>
        </p:nvSpPr>
        <p:spPr>
          <a:xfrm>
            <a:off x="9281159" y="4956048"/>
            <a:ext cx="2359152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90" b="0" i="0">
                <a:solidFill>
                  <a:srgbClr val="2A3540"/>
                </a:solidFill>
                <a:latin typeface="Segoe UI"/>
              </a:rPr>
              <a:t>Regression, binned and head-tail-cut heads were all trained and scored; the simplest held its own, so it ships.</a:t>
            </a:r>
          </a:p>
        </p:txBody>
      </p:sp>
      <p:sp>
        <p:nvSpPr>
          <p:cNvPr id="17522" name="Rounded Rectangle 17521"/>
          <p:cNvSpPr/>
          <p:nvPr/>
        </p:nvSpPr>
        <p:spPr>
          <a:xfrm>
            <a:off x="365760" y="5541264"/>
            <a:ext cx="5486400" cy="274320"/>
          </a:xfrm>
          <a:prstGeom prst="roundRect">
            <a:avLst>
              <a:gd name="adj" fmla="val 50000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HOW IT IS VALIDATED</a:t>
            </a:r>
          </a:p>
        </p:txBody>
      </p:sp>
      <p:sp>
        <p:nvSpPr>
          <p:cNvPr id="17523" name="TextBox 17522"/>
          <p:cNvSpPr txBox="1"/>
          <p:nvPr/>
        </p:nvSpPr>
        <p:spPr>
          <a:xfrm>
            <a:off x="420624" y="5870448"/>
            <a:ext cx="5376672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10" b="1" i="0">
                <a:solidFill>
                  <a:srgbClr val="141B22"/>
                </a:solidFill>
                <a:latin typeface="Segoe UI Semibold"/>
              </a:rPr>
              <a:t>Split  </a:t>
            </a:r>
            <a:r>
              <a:rPr sz="910" b="0" i="0">
                <a:solidFill>
                  <a:srgbClr val="2A3540"/>
                </a:solidFill>
                <a:latin typeface="Segoe UI"/>
              </a:rPr>
              <a:t>region-disjoint, not random — adjacent tiles share buildings.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10" b="1" i="0">
                <a:solidFill>
                  <a:srgbClr val="141B22"/>
                </a:solidFill>
                <a:latin typeface="Segoe UI Semibold"/>
              </a:rPr>
              <a:t>Scored on  </a:t>
            </a:r>
            <a:r>
              <a:rPr sz="910" b="0" i="0">
                <a:solidFill>
                  <a:srgbClr val="2A3540"/>
                </a:solidFill>
                <a:latin typeface="Segoe UI"/>
              </a:rPr>
              <a:t>whole held-out tiles against airborne LiDAR, never on crops.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10" b="1" i="0">
                <a:solidFill>
                  <a:srgbClr val="141B22"/>
                </a:solidFill>
                <a:latin typeface="Segoe UI Semibold"/>
              </a:rPr>
              <a:t>Reported per  </a:t>
            </a:r>
            <a:r>
              <a:rPr sz="910" b="0" i="0">
                <a:solidFill>
                  <a:srgbClr val="2A3540"/>
                </a:solidFill>
                <a:latin typeface="Segoe UI"/>
              </a:rPr>
              <a:t>urban / sparse / forested / mixed, and per height band.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10" b="1" i="0">
                <a:solidFill>
                  <a:srgbClr val="141B22"/>
                </a:solidFill>
                <a:latin typeface="Segoe UI Semibold"/>
              </a:rPr>
              <a:t>Held back  </a:t>
            </a:r>
            <a:r>
              <a:rPr sz="910" b="0" i="0">
                <a:solidFill>
                  <a:srgbClr val="2A3540"/>
                </a:solidFill>
                <a:latin typeface="Segoe UI"/>
              </a:rPr>
              <a:t>no trained model is scored on the test split until the end.</a:t>
            </a:r>
          </a:p>
        </p:txBody>
      </p:sp>
      <p:sp>
        <p:nvSpPr>
          <p:cNvPr id="17524" name="Rounded Rectangle 17523"/>
          <p:cNvSpPr/>
          <p:nvPr/>
        </p:nvSpPr>
        <p:spPr>
          <a:xfrm>
            <a:off x="6126480" y="5541264"/>
            <a:ext cx="4636007" cy="274320"/>
          </a:xfrm>
          <a:prstGeom prst="roundRect">
            <a:avLst>
              <a:gd name="adj" fmla="val 50000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40" b="0" i="0">
                <a:solidFill>
                  <a:srgbClr val="FFFFFF"/>
                </a:solidFill>
                <a:latin typeface="Franklin Gothic Demi Cond"/>
              </a:rPr>
              <a:t>TECHNOLOGY STACK — EVERY DEPENDENCY FREE AND OPEN</a:t>
            </a:r>
          </a:p>
        </p:txBody>
      </p:sp>
      <p:pic>
        <p:nvPicPr>
          <p:cNvPr id="17525" name="Picture 17524" descr="python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269926" y="5888736"/>
            <a:ext cx="292608" cy="292608"/>
          </a:xfrm>
          <a:prstGeom prst="rect">
            <a:avLst/>
          </a:prstGeom>
        </p:spPr>
      </p:pic>
      <p:sp>
        <p:nvSpPr>
          <p:cNvPr id="17526" name="TextBox 17525"/>
          <p:cNvSpPr txBox="1"/>
          <p:nvPr/>
        </p:nvSpPr>
        <p:spPr>
          <a:xfrm>
            <a:off x="6126480" y="6236208"/>
            <a:ext cx="5795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141B22"/>
                </a:solidFill>
                <a:latin typeface="Segoe UI Semibold"/>
              </a:rPr>
              <a:t>Python 3.10</a:t>
            </a:r>
          </a:p>
        </p:txBody>
      </p:sp>
      <p:pic>
        <p:nvPicPr>
          <p:cNvPr id="17527" name="Picture 17526" descr="pytorch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849427" y="5888736"/>
            <a:ext cx="292608" cy="292608"/>
          </a:xfrm>
          <a:prstGeom prst="rect">
            <a:avLst/>
          </a:prstGeom>
        </p:spPr>
      </p:pic>
      <p:sp>
        <p:nvSpPr>
          <p:cNvPr id="17528" name="TextBox 17527"/>
          <p:cNvSpPr txBox="1"/>
          <p:nvPr/>
        </p:nvSpPr>
        <p:spPr>
          <a:xfrm>
            <a:off x="6705981" y="6236208"/>
            <a:ext cx="5795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141B22"/>
                </a:solidFill>
                <a:latin typeface="Segoe UI Semibold"/>
              </a:rPr>
              <a:t>PyTorch</a:t>
            </a:r>
          </a:p>
        </p:txBody>
      </p:sp>
      <p:pic>
        <p:nvPicPr>
          <p:cNvPr id="17529" name="Picture 17528" descr="huggingface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428928" y="5888736"/>
            <a:ext cx="292608" cy="292608"/>
          </a:xfrm>
          <a:prstGeom prst="rect">
            <a:avLst/>
          </a:prstGeom>
        </p:spPr>
      </p:pic>
      <p:sp>
        <p:nvSpPr>
          <p:cNvPr id="17530" name="TextBox 17529"/>
          <p:cNvSpPr txBox="1"/>
          <p:nvPr/>
        </p:nvSpPr>
        <p:spPr>
          <a:xfrm>
            <a:off x="7285482" y="6236208"/>
            <a:ext cx="5795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141B22"/>
                </a:solidFill>
                <a:latin typeface="Segoe UI Semibold"/>
              </a:rPr>
              <a:t>Hugging Face</a:t>
            </a:r>
          </a:p>
        </p:txBody>
      </p:sp>
      <p:pic>
        <p:nvPicPr>
          <p:cNvPr id="17531" name="Picture 17530" descr="onnx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008429" y="5888736"/>
            <a:ext cx="292608" cy="292608"/>
          </a:xfrm>
          <a:prstGeom prst="rect">
            <a:avLst/>
          </a:prstGeom>
        </p:spPr>
      </p:pic>
      <p:sp>
        <p:nvSpPr>
          <p:cNvPr id="17532" name="TextBox 17531"/>
          <p:cNvSpPr txBox="1"/>
          <p:nvPr/>
        </p:nvSpPr>
        <p:spPr>
          <a:xfrm>
            <a:off x="7864983" y="6236208"/>
            <a:ext cx="5795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141B22"/>
                </a:solidFill>
                <a:latin typeface="Segoe UI Semibold"/>
              </a:rPr>
              <a:t>ONNX Runtime</a:t>
            </a:r>
          </a:p>
        </p:txBody>
      </p:sp>
      <p:pic>
        <p:nvPicPr>
          <p:cNvPr id="17533" name="Picture 17532" descr="numpy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587930" y="5888736"/>
            <a:ext cx="292608" cy="292608"/>
          </a:xfrm>
          <a:prstGeom prst="rect">
            <a:avLst/>
          </a:prstGeom>
        </p:spPr>
      </p:pic>
      <p:sp>
        <p:nvSpPr>
          <p:cNvPr id="17534" name="TextBox 17533"/>
          <p:cNvSpPr txBox="1"/>
          <p:nvPr/>
        </p:nvSpPr>
        <p:spPr>
          <a:xfrm>
            <a:off x="8444484" y="6236208"/>
            <a:ext cx="5795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141B22"/>
                </a:solidFill>
                <a:latin typeface="Segoe UI Semibold"/>
              </a:rPr>
              <a:t>NumPy / SciPy</a:t>
            </a:r>
          </a:p>
        </p:txBody>
      </p:sp>
      <p:pic>
        <p:nvPicPr>
          <p:cNvPr id="17535" name="Picture 17534" descr="databas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167431" y="5888736"/>
            <a:ext cx="292608" cy="292608"/>
          </a:xfrm>
          <a:prstGeom prst="rect">
            <a:avLst/>
          </a:prstGeom>
        </p:spPr>
      </p:pic>
      <p:sp>
        <p:nvSpPr>
          <p:cNvPr id="17536" name="TextBox 17535"/>
          <p:cNvSpPr txBox="1"/>
          <p:nvPr/>
        </p:nvSpPr>
        <p:spPr>
          <a:xfrm>
            <a:off x="9023985" y="6236208"/>
            <a:ext cx="5795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141B22"/>
                </a:solidFill>
                <a:latin typeface="Segoe UI Semibold"/>
              </a:rPr>
              <a:t>GDAL / rasterio</a:t>
            </a:r>
          </a:p>
        </p:txBody>
      </p:sp>
      <p:pic>
        <p:nvPicPr>
          <p:cNvPr id="17537" name="Picture 17536" descr="threedotjs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9746932" y="5888736"/>
            <a:ext cx="292608" cy="292608"/>
          </a:xfrm>
          <a:prstGeom prst="rect">
            <a:avLst/>
          </a:prstGeom>
        </p:spPr>
      </p:pic>
      <p:sp>
        <p:nvSpPr>
          <p:cNvPr id="17538" name="TextBox 17537"/>
          <p:cNvSpPr txBox="1"/>
          <p:nvPr/>
        </p:nvSpPr>
        <p:spPr>
          <a:xfrm>
            <a:off x="9603486" y="6236208"/>
            <a:ext cx="5795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141B22"/>
                </a:solidFill>
                <a:latin typeface="Segoe UI Semibold"/>
              </a:rPr>
              <a:t>three.js</a:t>
            </a:r>
          </a:p>
        </p:txBody>
      </p:sp>
      <p:pic>
        <p:nvPicPr>
          <p:cNvPr id="17539" name="Picture 17538" descr="docker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0326433" y="5888736"/>
            <a:ext cx="292608" cy="292608"/>
          </a:xfrm>
          <a:prstGeom prst="rect">
            <a:avLst/>
          </a:prstGeom>
        </p:spPr>
      </p:pic>
      <p:sp>
        <p:nvSpPr>
          <p:cNvPr id="17540" name="TextBox 17539"/>
          <p:cNvSpPr txBox="1"/>
          <p:nvPr/>
        </p:nvSpPr>
        <p:spPr>
          <a:xfrm>
            <a:off x="10182987" y="6236208"/>
            <a:ext cx="5795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94000"/>
              </a:lnSpc>
              <a:spcAft>
                <a:spcPts val="0"/>
              </a:spcAft>
            </a:pPr>
            <a:r>
              <a:rPr sz="760" b="0" i="0">
                <a:solidFill>
                  <a:srgbClr val="141B22"/>
                </a:solidFill>
                <a:latin typeface="Segoe UI Semibold"/>
              </a:rPr>
              <a:t>Docker</a:t>
            </a:r>
          </a:p>
        </p:txBody>
      </p:sp>
      <p:pic>
        <p:nvPicPr>
          <p:cNvPr id="17541" name="Picture 17540" descr="live_qr.png">
            <a:hlinkClick r:id="rId27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972800" y="5559552"/>
            <a:ext cx="786384" cy="786384"/>
          </a:xfrm>
          <a:prstGeom prst="rect">
            <a:avLst/>
          </a:prstGeom>
        </p:spPr>
      </p:pic>
      <p:sp>
        <p:nvSpPr>
          <p:cNvPr id="17542" name="TextBox 17541"/>
          <p:cNvSpPr txBox="1"/>
          <p:nvPr/>
        </p:nvSpPr>
        <p:spPr>
          <a:xfrm>
            <a:off x="10789920" y="6355080"/>
            <a:ext cx="1152144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40" b="0" i="0">
                <a:solidFill>
                  <a:srgbClr val="55636E"/>
                </a:solidFill>
                <a:latin typeface="Segoe UI Semibold"/>
              </a:rPr>
              <a:t>Scan: live demo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601968"/>
            <a:ext cx="12191999" cy="256032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601968"/>
            <a:ext cx="2844800" cy="256032"/>
          </a:xfrm>
        </p:spPr>
        <p:txBody>
          <a:bodyPr anchor="ctr"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Dev Up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115568"/>
            <a:ext cx="2782062" cy="566928"/>
          </a:xfrm>
          <a:prstGeom prst="roundRect">
            <a:avLst>
              <a:gd name="adj" fmla="val 1129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1" name="Oval 17410"/>
          <p:cNvSpPr/>
          <p:nvPr/>
        </p:nvSpPr>
        <p:spPr>
          <a:xfrm>
            <a:off x="493776" y="1216152"/>
            <a:ext cx="365760" cy="36576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12" name="Picture 17411" descr="circle-check-bi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558" y="1303934"/>
            <a:ext cx="190195" cy="190195"/>
          </a:xfrm>
          <a:prstGeom prst="rect">
            <a:avLst/>
          </a:prstGeom>
        </p:spPr>
      </p:pic>
      <p:sp>
        <p:nvSpPr>
          <p:cNvPr id="17413" name="TextBox 17412"/>
          <p:cNvSpPr txBox="1"/>
          <p:nvPr/>
        </p:nvSpPr>
        <p:spPr>
          <a:xfrm>
            <a:off x="950976" y="1188720"/>
            <a:ext cx="210540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 Cond"/>
              </a:rPr>
              <a:t>TECHNICALLY PROVEN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950976" y="1408176"/>
            <a:ext cx="210540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7FB0CB"/>
                </a:solidFill>
                <a:latin typeface="Segoe UI"/>
              </a:rPr>
              <a:t>Built and measured: slide 7.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3257550" y="1115568"/>
            <a:ext cx="2782062" cy="566928"/>
          </a:xfrm>
          <a:prstGeom prst="roundRect">
            <a:avLst>
              <a:gd name="adj" fmla="val 1129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6" name="Oval 17415"/>
          <p:cNvSpPr/>
          <p:nvPr/>
        </p:nvSpPr>
        <p:spPr>
          <a:xfrm>
            <a:off x="3385565" y="1216152"/>
            <a:ext cx="365760" cy="36576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17" name="Picture 17416" descr="wifi-o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3348" y="1303934"/>
            <a:ext cx="190195" cy="190195"/>
          </a:xfrm>
          <a:prstGeom prst="rect">
            <a:avLst/>
          </a:prstGeom>
        </p:spPr>
      </p:pic>
      <p:sp>
        <p:nvSpPr>
          <p:cNvPr id="17418" name="TextBox 17417"/>
          <p:cNvSpPr txBox="1"/>
          <p:nvPr/>
        </p:nvSpPr>
        <p:spPr>
          <a:xfrm>
            <a:off x="3842765" y="1188720"/>
            <a:ext cx="210540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 Cond"/>
              </a:rPr>
              <a:t>OPERATIONALLY SIMPLE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3842765" y="1408176"/>
            <a:ext cx="210540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7FB0CB"/>
                </a:solidFill>
                <a:latin typeface="Segoe UI"/>
              </a:rPr>
              <a:t>One image, CPU only, works offline.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6149340" y="1115568"/>
            <a:ext cx="2782062" cy="566928"/>
          </a:xfrm>
          <a:prstGeom prst="roundRect">
            <a:avLst>
              <a:gd name="adj" fmla="val 1129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1" name="Oval 17420"/>
          <p:cNvSpPr/>
          <p:nvPr/>
        </p:nvSpPr>
        <p:spPr>
          <a:xfrm>
            <a:off x="6277356" y="1216152"/>
            <a:ext cx="365760" cy="36576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22" name="Picture 17421" descr="indian-rupe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5138" y="1303934"/>
            <a:ext cx="190195" cy="190195"/>
          </a:xfrm>
          <a:prstGeom prst="rect">
            <a:avLst/>
          </a:prstGeom>
        </p:spPr>
      </p:pic>
      <p:sp>
        <p:nvSpPr>
          <p:cNvPr id="17423" name="TextBox 17422"/>
          <p:cNvSpPr txBox="1"/>
          <p:nvPr/>
        </p:nvSpPr>
        <p:spPr>
          <a:xfrm>
            <a:off x="6734556" y="1188720"/>
            <a:ext cx="210540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 Cond"/>
              </a:rPr>
              <a:t>ECONOMICALLY VIABLE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6734556" y="1408176"/>
            <a:ext cx="210540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7FB0CB"/>
                </a:solidFill>
                <a:latin typeface="Segoe UI"/>
              </a:rPr>
              <a:t>₹0 licences, runs on existing PCs.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9041130" y="1115568"/>
            <a:ext cx="2782062" cy="566928"/>
          </a:xfrm>
          <a:prstGeom prst="roundRect">
            <a:avLst>
              <a:gd name="adj" fmla="val 1129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6" name="Oval 17425"/>
          <p:cNvSpPr/>
          <p:nvPr/>
        </p:nvSpPr>
        <p:spPr>
          <a:xfrm>
            <a:off x="9169146" y="1216152"/>
            <a:ext cx="365760" cy="36576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27" name="Picture 17426" descr="layer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56928" y="1303934"/>
            <a:ext cx="190195" cy="190195"/>
          </a:xfrm>
          <a:prstGeom prst="rect">
            <a:avLst/>
          </a:prstGeom>
        </p:spPr>
      </p:pic>
      <p:sp>
        <p:nvSpPr>
          <p:cNvPr id="17428" name="TextBox 17427"/>
          <p:cNvSpPr txBox="1"/>
          <p:nvPr/>
        </p:nvSpPr>
        <p:spPr>
          <a:xfrm>
            <a:off x="9626346" y="1188720"/>
            <a:ext cx="210540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 Cond"/>
              </a:rPr>
              <a:t>ALREADY WORKING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9626346" y="1408176"/>
            <a:ext cx="210540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7FB0CB"/>
                </a:solidFill>
                <a:latin typeface="Segoe UI"/>
              </a:rPr>
              <a:t>All three ISRO milestones are built.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365760" y="1792224"/>
            <a:ext cx="5577840" cy="292608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THE HARD PROBLEMS, AND HOW EACH IS HANDLED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365760" y="2157984"/>
            <a:ext cx="5577840" cy="786384"/>
          </a:xfrm>
          <a:prstGeom prst="roundRect">
            <a:avLst>
              <a:gd name="adj" fmla="val 8139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2" name="Rectangle 17431"/>
          <p:cNvSpPr/>
          <p:nvPr/>
        </p:nvSpPr>
        <p:spPr>
          <a:xfrm>
            <a:off x="365760" y="2212848"/>
            <a:ext cx="54864" cy="676656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3" name="TextBox 17432"/>
          <p:cNvSpPr txBox="1"/>
          <p:nvPr/>
        </p:nvSpPr>
        <p:spPr>
          <a:xfrm>
            <a:off x="530352" y="2221991"/>
            <a:ext cx="5303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40" b="0" i="0">
                <a:solidFill>
                  <a:srgbClr val="C1440E"/>
                </a:solidFill>
                <a:latin typeface="Franklin Gothic Demi Cond"/>
              </a:rPr>
              <a:t>PROBLEM  </a:t>
            </a:r>
            <a:r>
              <a:rPr sz="940" b="0" i="0">
                <a:solidFill>
                  <a:srgbClr val="141B22"/>
                </a:solidFill>
                <a:latin typeface="Segoe UI Semibold"/>
              </a:rPr>
              <a:t>ISRO judges on 0.6 m Cartosat-2S; open LiDAR training imagery is 0.3 m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530352" y="2459736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40" b="0" i="0">
                <a:solidFill>
                  <a:srgbClr val="1E8E5A"/>
                </a:solidFill>
                <a:latin typeface="Franklin Gothic Demi Cond"/>
              </a:rPr>
              <a:t>HANDLED  </a:t>
            </a:r>
            <a:r>
              <a:rPr sz="890" b="0" i="0">
                <a:solidFill>
                  <a:srgbClr val="2A3540"/>
                </a:solidFill>
                <a:latin typeface="Segoe UI"/>
              </a:rPr>
              <a:t>Auto-zoom reads the GeoTIFF's pixel size and resamples to the scale the model learned. Its cost at 0.6 m is measured on the shipped model (slide 7); fine-tuning on 0.6 m-degraded tiles is next.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365760" y="2999232"/>
            <a:ext cx="5577840" cy="786384"/>
          </a:xfrm>
          <a:prstGeom prst="roundRect">
            <a:avLst>
              <a:gd name="adj" fmla="val 8139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6" name="Rectangle 17435"/>
          <p:cNvSpPr/>
          <p:nvPr/>
        </p:nvSpPr>
        <p:spPr>
          <a:xfrm>
            <a:off x="365760" y="3054096"/>
            <a:ext cx="54864" cy="676656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7" name="TextBox 17436"/>
          <p:cNvSpPr txBox="1"/>
          <p:nvPr/>
        </p:nvSpPr>
        <p:spPr>
          <a:xfrm>
            <a:off x="530352" y="3063239"/>
            <a:ext cx="5303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40" b="0" i="0">
                <a:solidFill>
                  <a:srgbClr val="C1440E"/>
                </a:solidFill>
                <a:latin typeface="Franklin Gothic Demi Cond"/>
              </a:rPr>
              <a:t>PROBLEM  </a:t>
            </a:r>
            <a:r>
              <a:rPr sz="940" b="0" i="0">
                <a:solidFill>
                  <a:srgbClr val="141B22"/>
                </a:solidFill>
                <a:latin typeface="Segoe UI Semibold"/>
              </a:rPr>
              <a:t>Cartosat-2S colour is not the aerial colour the model learned from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530352" y="3300984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40" b="0" i="0">
                <a:solidFill>
                  <a:srgbClr val="1E8E5A"/>
                </a:solidFill>
                <a:latin typeface="Franklin Gothic Demi Cond"/>
              </a:rPr>
              <a:t>HANDLED  </a:t>
            </a:r>
            <a:r>
              <a:rPr sz="890" b="0" i="0">
                <a:solidFill>
                  <a:srgbClr val="2A3540"/>
                </a:solidFill>
                <a:latin typeface="Segoe UI"/>
              </a:rPr>
              <a:t>Training jitters brightness, contrast and gamma to mimic sensor and haze; any band count loads. The cost on real Cartosat colour is not yet measured.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365760" y="3840480"/>
            <a:ext cx="5577840" cy="786384"/>
          </a:xfrm>
          <a:prstGeom prst="roundRect">
            <a:avLst>
              <a:gd name="adj" fmla="val 8139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0" name="Rectangle 17439"/>
          <p:cNvSpPr/>
          <p:nvPr/>
        </p:nvSpPr>
        <p:spPr>
          <a:xfrm>
            <a:off x="365760" y="3895344"/>
            <a:ext cx="54864" cy="676656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1" name="TextBox 17440"/>
          <p:cNvSpPr txBox="1"/>
          <p:nvPr/>
        </p:nvSpPr>
        <p:spPr>
          <a:xfrm>
            <a:off x="530352" y="3904488"/>
            <a:ext cx="5303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40" b="0" i="0">
                <a:solidFill>
                  <a:srgbClr val="C1440E"/>
                </a:solidFill>
                <a:latin typeface="Franklin Gothic Demi Cond"/>
              </a:rPr>
              <a:t>PROBLEM  </a:t>
            </a:r>
            <a:r>
              <a:rPr sz="940" b="0" i="0">
                <a:solidFill>
                  <a:srgbClr val="141B22"/>
                </a:solidFill>
                <a:latin typeface="Segoe UI Semibold"/>
              </a:rPr>
              <a:t>One image has no stereo parallax, so which heights can be trusted?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530352" y="4142232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40" b="0" i="0">
                <a:solidFill>
                  <a:srgbClr val="1E8E5A"/>
                </a:solidFill>
                <a:latin typeface="Franklin Gothic Demi Cond"/>
              </a:rPr>
              <a:t>HANDLED  </a:t>
            </a:r>
            <a:r>
              <a:rPr sz="890" b="0" i="0">
                <a:solidFill>
                  <a:srgbClr val="2A3540"/>
                </a:solidFill>
                <a:latin typeface="Segoe UI"/>
              </a:rPr>
              <a:t>Every pixel ships with an uncertainty (σ), calibrated against LiDAR. Unsure pixels are flagged for the analyst, not hidden.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365760" y="4681728"/>
            <a:ext cx="5577840" cy="786384"/>
          </a:xfrm>
          <a:prstGeom prst="roundRect">
            <a:avLst>
              <a:gd name="adj" fmla="val 8139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4" name="Rectangle 17443"/>
          <p:cNvSpPr/>
          <p:nvPr/>
        </p:nvSpPr>
        <p:spPr>
          <a:xfrm>
            <a:off x="365760" y="4736592"/>
            <a:ext cx="54864" cy="676656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5" name="TextBox 17444"/>
          <p:cNvSpPr txBox="1"/>
          <p:nvPr/>
        </p:nvSpPr>
        <p:spPr>
          <a:xfrm>
            <a:off x="530352" y="4745736"/>
            <a:ext cx="5303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40" b="0" i="0">
                <a:solidFill>
                  <a:srgbClr val="C1440E"/>
                </a:solidFill>
                <a:latin typeface="Franklin Gothic Demi Cond"/>
              </a:rPr>
              <a:t>PROBLEM  </a:t>
            </a:r>
            <a:r>
              <a:rPr sz="940" b="0" i="0">
                <a:solidFill>
                  <a:srgbClr val="141B22"/>
                </a:solidFill>
                <a:latin typeface="Segoe UI Semibold"/>
              </a:rPr>
              <a:t>An absolute DSM needs ground elevation a single image cannot give</a:t>
            </a:r>
          </a:p>
        </p:txBody>
      </p:sp>
      <p:sp>
        <p:nvSpPr>
          <p:cNvPr id="17446" name="TextBox 17445"/>
          <p:cNvSpPr txBox="1"/>
          <p:nvPr/>
        </p:nvSpPr>
        <p:spPr>
          <a:xfrm>
            <a:off x="530352" y="4983480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40" b="0" i="0">
                <a:solidFill>
                  <a:srgbClr val="1E8E5A"/>
                </a:solidFill>
                <a:latin typeface="Franklin Gothic Demi Cond"/>
              </a:rPr>
              <a:t>HANDLED  </a:t>
            </a:r>
            <a:r>
              <a:rPr sz="890" b="0" i="0">
                <a:solidFill>
                  <a:srgbClr val="2A3540"/>
                </a:solidFill>
                <a:latin typeface="Segoe UI"/>
              </a:rPr>
              <a:t>Copernicus GLO-30 terrain plus our above-ground heights, on by default. GLO-30's own error (&lt; 4 m, LE90) is inherited, and stated.</a:t>
            </a:r>
          </a:p>
        </p:txBody>
      </p:sp>
      <p:sp>
        <p:nvSpPr>
          <p:cNvPr id="17447" name="Rounded Rectangle 17446"/>
          <p:cNvSpPr/>
          <p:nvPr/>
        </p:nvSpPr>
        <p:spPr>
          <a:xfrm>
            <a:off x="365760" y="5522976"/>
            <a:ext cx="5577840" cy="786384"/>
          </a:xfrm>
          <a:prstGeom prst="roundRect">
            <a:avLst>
              <a:gd name="adj" fmla="val 8139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8" name="Rectangle 17447"/>
          <p:cNvSpPr/>
          <p:nvPr/>
        </p:nvSpPr>
        <p:spPr>
          <a:xfrm>
            <a:off x="365760" y="5577840"/>
            <a:ext cx="54864" cy="676656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9" name="TextBox 17448"/>
          <p:cNvSpPr txBox="1"/>
          <p:nvPr/>
        </p:nvSpPr>
        <p:spPr>
          <a:xfrm>
            <a:off x="530352" y="5586984"/>
            <a:ext cx="53035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40" b="0" i="0">
                <a:solidFill>
                  <a:srgbClr val="C1440E"/>
                </a:solidFill>
                <a:latin typeface="Franklin Gothic Demi Cond"/>
              </a:rPr>
              <a:t>PROBLEM  </a:t>
            </a:r>
            <a:r>
              <a:rPr sz="940" b="0" i="0">
                <a:solidFill>
                  <a:srgbClr val="141B22"/>
                </a:solidFill>
                <a:latin typeface="Segoe UI Semibold"/>
              </a:rPr>
              <a:t>Field offices have no GPU and often no reliable internet</a:t>
            </a:r>
          </a:p>
        </p:txBody>
      </p:sp>
      <p:sp>
        <p:nvSpPr>
          <p:cNvPr id="17450" name="TextBox 17449"/>
          <p:cNvSpPr txBox="1"/>
          <p:nvPr/>
        </p:nvSpPr>
        <p:spPr>
          <a:xfrm>
            <a:off x="530352" y="5824728"/>
            <a:ext cx="5303520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40" b="0" i="0">
                <a:solidFill>
                  <a:srgbClr val="1E8E5A"/>
                </a:solidFill>
                <a:latin typeface="Franklin Gothic Demi Cond"/>
              </a:rPr>
              <a:t>HANDLED  </a:t>
            </a:r>
            <a:r>
              <a:rPr sz="890" b="0" i="0">
                <a:solidFill>
                  <a:srgbClr val="2A3540"/>
                </a:solidFill>
                <a:latin typeface="Segoe UI"/>
              </a:rPr>
              <a:t>Inference runs on an ordinary desktop CPU, about a minute per km²; results open in a 3-D viewer that ships as one offline HTML file.</a:t>
            </a:r>
          </a:p>
        </p:txBody>
      </p:sp>
      <p:sp>
        <p:nvSpPr>
          <p:cNvPr id="17451" name="Rounded Rectangle 17450"/>
          <p:cNvSpPr/>
          <p:nvPr/>
        </p:nvSpPr>
        <p:spPr>
          <a:xfrm>
            <a:off x="6272784" y="1792224"/>
            <a:ext cx="5550407" cy="292608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OPEN RISKS, AND WHAT ANSWERS EACH</a:t>
            </a:r>
          </a:p>
        </p:txBody>
      </p:sp>
      <p:sp>
        <p:nvSpPr>
          <p:cNvPr id="17452" name="Rounded Rectangle 17451"/>
          <p:cNvSpPr/>
          <p:nvPr/>
        </p:nvSpPr>
        <p:spPr>
          <a:xfrm>
            <a:off x="6272784" y="2157984"/>
            <a:ext cx="5550407" cy="274320"/>
          </a:xfrm>
          <a:prstGeom prst="roundRect">
            <a:avLst>
              <a:gd name="adj" fmla="val 16666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3" name="Oval 17452"/>
          <p:cNvSpPr/>
          <p:nvPr/>
        </p:nvSpPr>
        <p:spPr>
          <a:xfrm>
            <a:off x="6345936" y="2185415"/>
            <a:ext cx="219456" cy="219456"/>
          </a:xfrm>
          <a:prstGeom prst="ellipse">
            <a:avLst/>
          </a:prstGeom>
          <a:solidFill>
            <a:srgbClr val="D89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54" name="Picture 17453" descr="triangle-aler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98605" y="2238085"/>
            <a:ext cx="114117" cy="114117"/>
          </a:xfrm>
          <a:prstGeom prst="rect">
            <a:avLst/>
          </a:prstGeom>
        </p:spPr>
      </p:pic>
      <p:sp>
        <p:nvSpPr>
          <p:cNvPr id="17455" name="TextBox 17454"/>
          <p:cNvSpPr txBox="1"/>
          <p:nvPr/>
        </p:nvSpPr>
        <p:spPr>
          <a:xfrm>
            <a:off x="6638544" y="2194560"/>
            <a:ext cx="507491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80" b="0" i="0">
                <a:solidFill>
                  <a:srgbClr val="FFFFFF"/>
                </a:solidFill>
                <a:latin typeface="Segoe UI Semibold"/>
              </a:rPr>
              <a:t>No Indian ground truth exists yet</a:t>
            </a:r>
          </a:p>
        </p:txBody>
      </p:sp>
      <p:sp>
        <p:nvSpPr>
          <p:cNvPr id="17456" name="Rounded Rectangle 17455"/>
          <p:cNvSpPr/>
          <p:nvPr/>
        </p:nvSpPr>
        <p:spPr>
          <a:xfrm>
            <a:off x="6455664" y="2468879"/>
            <a:ext cx="5367527" cy="585216"/>
          </a:xfrm>
          <a:prstGeom prst="roundRect">
            <a:avLst>
              <a:gd name="adj" fmla="val 10937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7" name="Rectangle 17456"/>
          <p:cNvSpPr/>
          <p:nvPr/>
        </p:nvSpPr>
        <p:spPr>
          <a:xfrm>
            <a:off x="6455664" y="2505456"/>
            <a:ext cx="54864" cy="512064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8" name="TextBox 17457"/>
          <p:cNvSpPr txBox="1"/>
          <p:nvPr/>
        </p:nvSpPr>
        <p:spPr>
          <a:xfrm>
            <a:off x="6601968" y="2496312"/>
            <a:ext cx="511149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2A3540"/>
                </a:solidFill>
                <a:latin typeface="Segoe UI"/>
              </a:rPr>
              <a:t>Over India we can only compare against another model, Google Open Buildings, so we report agreement, not accuracy. </a:t>
            </a:r>
            <a:r>
              <a:rPr sz="880" b="0" i="0">
                <a:solidFill>
                  <a:srgbClr val="141B22"/>
                </a:solidFill>
                <a:latin typeface="Segoe UI Semibold"/>
              </a:rPr>
              <a:t>Answered by </a:t>
            </a:r>
            <a:r>
              <a:rPr sz="880" b="0" i="0">
                <a:solidFill>
                  <a:srgbClr val="2A3540"/>
                </a:solidFill>
                <a:latin typeface="Segoe UI"/>
              </a:rPr>
              <a:t>SAC stereo or DGPS control points in the pilot (below).</a:t>
            </a:r>
          </a:p>
        </p:txBody>
      </p:sp>
      <p:sp>
        <p:nvSpPr>
          <p:cNvPr id="17459" name="Rounded Rectangle 17458"/>
          <p:cNvSpPr/>
          <p:nvPr/>
        </p:nvSpPr>
        <p:spPr>
          <a:xfrm>
            <a:off x="6272784" y="3108960"/>
            <a:ext cx="5550407" cy="274320"/>
          </a:xfrm>
          <a:prstGeom prst="roundRect">
            <a:avLst>
              <a:gd name="adj" fmla="val 16666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0" name="Oval 17459"/>
          <p:cNvSpPr/>
          <p:nvPr/>
        </p:nvSpPr>
        <p:spPr>
          <a:xfrm>
            <a:off x="6345936" y="3136391"/>
            <a:ext cx="219456" cy="219456"/>
          </a:xfrm>
          <a:prstGeom prst="ellipse">
            <a:avLst/>
          </a:prstGeom>
          <a:solidFill>
            <a:srgbClr val="D89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1" name="Picture 17460" descr="triangle-aler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98605" y="3189061"/>
            <a:ext cx="114117" cy="114117"/>
          </a:xfrm>
          <a:prstGeom prst="rect">
            <a:avLst/>
          </a:prstGeom>
        </p:spPr>
      </p:pic>
      <p:sp>
        <p:nvSpPr>
          <p:cNvPr id="17462" name="TextBox 17461"/>
          <p:cNvSpPr txBox="1"/>
          <p:nvPr/>
        </p:nvSpPr>
        <p:spPr>
          <a:xfrm>
            <a:off x="6638544" y="3145536"/>
            <a:ext cx="507491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80" b="0" i="0">
                <a:solidFill>
                  <a:srgbClr val="FFFFFF"/>
                </a:solidFill>
                <a:latin typeface="Segoe UI Semibold"/>
              </a:rPr>
              <a:t>Tall buildings compress toward the mean</a:t>
            </a:r>
          </a:p>
        </p:txBody>
      </p:sp>
      <p:sp>
        <p:nvSpPr>
          <p:cNvPr id="17463" name="Rounded Rectangle 17462"/>
          <p:cNvSpPr/>
          <p:nvPr/>
        </p:nvSpPr>
        <p:spPr>
          <a:xfrm>
            <a:off x="6455664" y="3419856"/>
            <a:ext cx="5367527" cy="585216"/>
          </a:xfrm>
          <a:prstGeom prst="roundRect">
            <a:avLst>
              <a:gd name="adj" fmla="val 10937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4" name="Rectangle 17463"/>
          <p:cNvSpPr/>
          <p:nvPr/>
        </p:nvSpPr>
        <p:spPr>
          <a:xfrm>
            <a:off x="6455664" y="3456432"/>
            <a:ext cx="54864" cy="512064"/>
          </a:xfrm>
          <a:prstGeom prst="rect">
            <a:avLst/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5" name="TextBox 17464"/>
          <p:cNvSpPr txBox="1"/>
          <p:nvPr/>
        </p:nvSpPr>
        <p:spPr>
          <a:xfrm>
            <a:off x="6601968" y="3447288"/>
            <a:ext cx="511149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2A3540"/>
                </a:solidFill>
                <a:latin typeface="Segoe UI"/>
              </a:rPr>
              <a:t>Open training data holds few towers (tallest 83 m), so they are under-called. </a:t>
            </a:r>
            <a:r>
              <a:rPr sz="880" b="0" i="0">
                <a:solidFill>
                  <a:srgbClr val="141B22"/>
                </a:solidFill>
                <a:latin typeface="Segoe UI Semibold"/>
              </a:rPr>
              <a:t>Partly answered by </a:t>
            </a:r>
            <a:r>
              <a:rPr sz="880" b="0" i="0">
                <a:solidFill>
                  <a:srgbClr val="2A3540"/>
                </a:solidFill>
                <a:latin typeface="Segoe UI"/>
              </a:rPr>
              <a:t>ISRO's GAMUS (it moved the gap significantly) and a control-point fit; fully, only by tall-building LiDAR.</a:t>
            </a:r>
          </a:p>
        </p:txBody>
      </p:sp>
      <p:sp>
        <p:nvSpPr>
          <p:cNvPr id="17466" name="Rounded Rectangle 17465"/>
          <p:cNvSpPr/>
          <p:nvPr/>
        </p:nvSpPr>
        <p:spPr>
          <a:xfrm>
            <a:off x="6272784" y="4078224"/>
            <a:ext cx="5550407" cy="274320"/>
          </a:xfrm>
          <a:prstGeom prst="roundRect">
            <a:avLst>
              <a:gd name="adj" fmla="val 50000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DEPLOYMENT PLAN</a:t>
            </a:r>
          </a:p>
        </p:txBody>
      </p:sp>
      <p:sp>
        <p:nvSpPr>
          <p:cNvPr id="17467" name="Rounded Rectangle 17466"/>
          <p:cNvSpPr/>
          <p:nvPr/>
        </p:nvSpPr>
        <p:spPr>
          <a:xfrm>
            <a:off x="6272784" y="4425696"/>
            <a:ext cx="1319022" cy="822960"/>
          </a:xfrm>
          <a:prstGeom prst="roundRect">
            <a:avLst>
              <a:gd name="adj" fmla="val 7777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8" name="Rounded Rectangle 17467"/>
          <p:cNvSpPr/>
          <p:nvPr/>
        </p:nvSpPr>
        <p:spPr>
          <a:xfrm>
            <a:off x="6345936" y="4489704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"/>
              </a:rPr>
              <a:t>1</a:t>
            </a:r>
          </a:p>
        </p:txBody>
      </p:sp>
      <p:sp>
        <p:nvSpPr>
          <p:cNvPr id="17469" name="TextBox 17468"/>
          <p:cNvSpPr txBox="1"/>
          <p:nvPr/>
        </p:nvSpPr>
        <p:spPr>
          <a:xfrm>
            <a:off x="6638544" y="4480560"/>
            <a:ext cx="898397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Pilot</a:t>
            </a:r>
          </a:p>
        </p:txBody>
      </p:sp>
      <p:sp>
        <p:nvSpPr>
          <p:cNvPr id="17470" name="TextBox 17469"/>
          <p:cNvSpPr txBox="1"/>
          <p:nvPr/>
        </p:nvSpPr>
        <p:spPr>
          <a:xfrm>
            <a:off x="6345936" y="4754880"/>
            <a:ext cx="119100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00" b="0" i="0">
                <a:solidFill>
                  <a:srgbClr val="2A3540"/>
                </a:solidFill>
                <a:latin typeface="Segoe UI"/>
              </a:rPr>
              <a:t>Open Bhoonidhi CartoDEM and LISS-4 tiles; per-terrain metrics.</a:t>
            </a:r>
          </a:p>
        </p:txBody>
      </p:sp>
      <p:sp>
        <p:nvSpPr>
          <p:cNvPr id="17471" name="Right Arrow 17470"/>
          <p:cNvSpPr/>
          <p:nvPr/>
        </p:nvSpPr>
        <p:spPr>
          <a:xfrm>
            <a:off x="7582662" y="4782312"/>
            <a:ext cx="109728" cy="128016"/>
          </a:xfrm>
          <a:prstGeom prst="rightArrow">
            <a:avLst/>
          </a:prstGeom>
          <a:solidFill>
            <a:srgbClr val="7FB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2" name="Rounded Rectangle 17471"/>
          <p:cNvSpPr/>
          <p:nvPr/>
        </p:nvSpPr>
        <p:spPr>
          <a:xfrm>
            <a:off x="7683246" y="4425696"/>
            <a:ext cx="1319022" cy="822960"/>
          </a:xfrm>
          <a:prstGeom prst="roundRect">
            <a:avLst>
              <a:gd name="adj" fmla="val 7777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3" name="Rounded Rectangle 17472"/>
          <p:cNvSpPr/>
          <p:nvPr/>
        </p:nvSpPr>
        <p:spPr>
          <a:xfrm>
            <a:off x="7756398" y="4489704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"/>
              </a:rPr>
              <a:t>2</a:t>
            </a:r>
          </a:p>
        </p:txBody>
      </p:sp>
      <p:sp>
        <p:nvSpPr>
          <p:cNvPr id="17474" name="TextBox 17473"/>
          <p:cNvSpPr txBox="1"/>
          <p:nvPr/>
        </p:nvSpPr>
        <p:spPr>
          <a:xfrm>
            <a:off x="8049006" y="4480560"/>
            <a:ext cx="898397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Validate</a:t>
            </a:r>
          </a:p>
        </p:txBody>
      </p:sp>
      <p:sp>
        <p:nvSpPr>
          <p:cNvPr id="17475" name="TextBox 17474"/>
          <p:cNvSpPr txBox="1"/>
          <p:nvPr/>
        </p:nvSpPr>
        <p:spPr>
          <a:xfrm>
            <a:off x="7756398" y="4754880"/>
            <a:ext cx="119100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00" b="0" i="0">
                <a:solidFill>
                  <a:srgbClr val="2A3540"/>
                </a:solidFill>
                <a:latin typeface="Segoe UI"/>
              </a:rPr>
              <a:t>SAC Cartosat stereo or DGPS turns the Sikkim check into accuracy.</a:t>
            </a:r>
          </a:p>
        </p:txBody>
      </p:sp>
      <p:sp>
        <p:nvSpPr>
          <p:cNvPr id="17476" name="Right Arrow 17475"/>
          <p:cNvSpPr/>
          <p:nvPr/>
        </p:nvSpPr>
        <p:spPr>
          <a:xfrm>
            <a:off x="8993124" y="4782312"/>
            <a:ext cx="109728" cy="128016"/>
          </a:xfrm>
          <a:prstGeom prst="rightArrow">
            <a:avLst/>
          </a:prstGeom>
          <a:solidFill>
            <a:srgbClr val="7FB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7" name="Rounded Rectangle 17476"/>
          <p:cNvSpPr/>
          <p:nvPr/>
        </p:nvSpPr>
        <p:spPr>
          <a:xfrm>
            <a:off x="9093708" y="4425696"/>
            <a:ext cx="1319022" cy="822960"/>
          </a:xfrm>
          <a:prstGeom prst="roundRect">
            <a:avLst>
              <a:gd name="adj" fmla="val 7777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8" name="Rounded Rectangle 17477"/>
          <p:cNvSpPr/>
          <p:nvPr/>
        </p:nvSpPr>
        <p:spPr>
          <a:xfrm>
            <a:off x="9166860" y="4489704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"/>
              </a:rPr>
              <a:t>3</a:t>
            </a:r>
          </a:p>
        </p:txBody>
      </p:sp>
      <p:sp>
        <p:nvSpPr>
          <p:cNvPr id="17479" name="TextBox 17478"/>
          <p:cNvSpPr txBox="1"/>
          <p:nvPr/>
        </p:nvSpPr>
        <p:spPr>
          <a:xfrm>
            <a:off x="9459468" y="4480560"/>
            <a:ext cx="898397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Integrate</a:t>
            </a:r>
          </a:p>
        </p:txBody>
      </p:sp>
      <p:sp>
        <p:nvSpPr>
          <p:cNvPr id="17480" name="TextBox 17479"/>
          <p:cNvSpPr txBox="1"/>
          <p:nvPr/>
        </p:nvSpPr>
        <p:spPr>
          <a:xfrm>
            <a:off x="9166860" y="4754880"/>
            <a:ext cx="119100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00" b="0" i="0">
                <a:solidFill>
                  <a:srgbClr val="2A3540"/>
                </a:solidFill>
                <a:latin typeface="Segoe UI"/>
              </a:rPr>
              <a:t>Container behind an internal API; the viewer opens from disk.</a:t>
            </a:r>
          </a:p>
        </p:txBody>
      </p:sp>
      <p:sp>
        <p:nvSpPr>
          <p:cNvPr id="17481" name="Right Arrow 17480"/>
          <p:cNvSpPr/>
          <p:nvPr/>
        </p:nvSpPr>
        <p:spPr>
          <a:xfrm>
            <a:off x="10403586" y="4782312"/>
            <a:ext cx="109728" cy="128016"/>
          </a:xfrm>
          <a:prstGeom prst="rightArrow">
            <a:avLst/>
          </a:prstGeom>
          <a:solidFill>
            <a:srgbClr val="7FB0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2" name="Rounded Rectangle 17481"/>
          <p:cNvSpPr/>
          <p:nvPr/>
        </p:nvSpPr>
        <p:spPr>
          <a:xfrm>
            <a:off x="10504170" y="4425696"/>
            <a:ext cx="1319022" cy="822960"/>
          </a:xfrm>
          <a:prstGeom prst="roundRect">
            <a:avLst>
              <a:gd name="adj" fmla="val 7777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3" name="Rounded Rectangle 17482"/>
          <p:cNvSpPr/>
          <p:nvPr/>
        </p:nvSpPr>
        <p:spPr>
          <a:xfrm>
            <a:off x="10577322" y="4489704"/>
            <a:ext cx="237744" cy="237744"/>
          </a:xfrm>
          <a:prstGeom prst="roundRect">
            <a:avLst>
              <a:gd name="adj" fmla="val 15384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"/>
              </a:rPr>
              <a:t>4</a:t>
            </a:r>
          </a:p>
        </p:txBody>
      </p:sp>
      <p:sp>
        <p:nvSpPr>
          <p:cNvPr id="17484" name="TextBox 17483"/>
          <p:cNvSpPr txBox="1"/>
          <p:nvPr/>
        </p:nvSpPr>
        <p:spPr>
          <a:xfrm>
            <a:off x="10869930" y="4480560"/>
            <a:ext cx="898397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1000" b="0" i="0">
                <a:solidFill>
                  <a:srgbClr val="141B22"/>
                </a:solidFill>
                <a:latin typeface="Segoe UI Semibold"/>
              </a:rPr>
              <a:t>Scale</a:t>
            </a:r>
          </a:p>
        </p:txBody>
      </p:sp>
      <p:sp>
        <p:nvSpPr>
          <p:cNvPr id="17485" name="TextBox 17484"/>
          <p:cNvSpPr txBox="1"/>
          <p:nvPr/>
        </p:nvSpPr>
        <p:spPr>
          <a:xfrm>
            <a:off x="10577322" y="4754880"/>
            <a:ext cx="1191005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00" b="0" i="0">
                <a:solidFill>
                  <a:srgbClr val="2A3540"/>
                </a:solidFill>
                <a:latin typeface="Segoe UI"/>
              </a:rPr>
              <a:t>Batch the archive: every scene gains a height layer.</a:t>
            </a:r>
          </a:p>
        </p:txBody>
      </p:sp>
      <p:sp>
        <p:nvSpPr>
          <p:cNvPr id="17486" name="Rounded Rectangle 17485"/>
          <p:cNvSpPr/>
          <p:nvPr/>
        </p:nvSpPr>
        <p:spPr>
          <a:xfrm>
            <a:off x="6272784" y="5340096"/>
            <a:ext cx="2720339" cy="256032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 Cond"/>
              </a:rPr>
              <a:t>COST ESTIMATE</a:t>
            </a:r>
          </a:p>
        </p:txBody>
      </p:sp>
      <p:sp>
        <p:nvSpPr>
          <p:cNvPr id="17487" name="TextBox 17486"/>
          <p:cNvSpPr txBox="1"/>
          <p:nvPr/>
        </p:nvSpPr>
        <p:spPr>
          <a:xfrm>
            <a:off x="6309360" y="5650992"/>
            <a:ext cx="2647187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20"/>
              </a:spcAft>
            </a:pPr>
            <a:r>
              <a:rPr sz="830" b="0" i="0">
                <a:solidFill>
                  <a:srgbClr val="141B22"/>
                </a:solidFill>
                <a:latin typeface="Segoe UI Semibold"/>
              </a:rPr>
              <a:t>Licences  </a:t>
            </a:r>
            <a:r>
              <a:rPr sz="830" b="0" i="0">
                <a:solidFill>
                  <a:srgbClr val="2A3540"/>
                </a:solidFill>
                <a:latin typeface="Segoe UI"/>
              </a:rPr>
              <a:t>₹0 — every dependency open source</a:t>
            </a:r>
          </a:p>
          <a:p>
            <a:pPr algn="l">
              <a:lnSpc>
                <a:spcPct val="100000"/>
              </a:lnSpc>
              <a:spcAft>
                <a:spcPts val="120"/>
              </a:spcAft>
            </a:pPr>
            <a:r>
              <a:rPr sz="830" b="0" i="0">
                <a:solidFill>
                  <a:srgbClr val="141B22"/>
                </a:solidFill>
                <a:latin typeface="Segoe UI Semibold"/>
              </a:rPr>
              <a:t>Training  </a:t>
            </a:r>
            <a:r>
              <a:rPr sz="830" b="0" i="0">
                <a:solidFill>
                  <a:srgbClr val="2A3540"/>
                </a:solidFill>
                <a:latin typeface="Segoe UI"/>
              </a:rPr>
              <a:t>one consumer RTX 3060 GPU</a:t>
            </a:r>
          </a:p>
          <a:p>
            <a:pPr algn="l">
              <a:lnSpc>
                <a:spcPct val="100000"/>
              </a:lnSpc>
              <a:spcAft>
                <a:spcPts val="120"/>
              </a:spcAft>
            </a:pPr>
            <a:r>
              <a:rPr sz="830" b="0" i="0">
                <a:solidFill>
                  <a:srgbClr val="141B22"/>
                </a:solidFill>
                <a:latin typeface="Segoe UI Semibold"/>
              </a:rPr>
              <a:t>Compute  </a:t>
            </a:r>
            <a:r>
              <a:rPr sz="830" b="0" i="0">
                <a:solidFill>
                  <a:srgbClr val="2A3540"/>
                </a:solidFill>
                <a:latin typeface="Segoe UI"/>
              </a:rPr>
              <a:t>~1 min per km² on a desktop CPU*</a:t>
            </a:r>
          </a:p>
          <a:p>
            <a:pPr algn="l">
              <a:lnSpc>
                <a:spcPct val="100000"/>
              </a:lnSpc>
              <a:spcAft>
                <a:spcPts val="120"/>
              </a:spcAft>
            </a:pPr>
            <a:r>
              <a:rPr sz="830" b="0" i="0">
                <a:solidFill>
                  <a:srgbClr val="141B22"/>
                </a:solidFill>
                <a:latin typeface="Segoe UI Semibold"/>
              </a:rPr>
              <a:t>Hosting  </a:t>
            </a:r>
            <a:r>
              <a:rPr sz="830" b="0" i="0">
                <a:solidFill>
                  <a:srgbClr val="2A3540"/>
                </a:solidFill>
                <a:latin typeface="Segoe UI"/>
              </a:rPr>
              <a:t>one two-core CPU server, live today</a:t>
            </a:r>
          </a:p>
          <a:p>
            <a:pPr algn="l">
              <a:lnSpc>
                <a:spcPct val="100000"/>
              </a:lnSpc>
              <a:spcAft>
                <a:spcPts val="120"/>
              </a:spcAft>
            </a:pPr>
            <a:r>
              <a:rPr sz="830" b="0" i="0">
                <a:solidFill>
                  <a:srgbClr val="141B22"/>
                </a:solidFill>
                <a:latin typeface="Segoe UI Semibold"/>
              </a:rPr>
              <a:t>Imagery  </a:t>
            </a:r>
            <a:r>
              <a:rPr sz="830" b="0" i="0">
                <a:solidFill>
                  <a:srgbClr val="2A3540"/>
                </a:solidFill>
                <a:latin typeface="Segoe UI"/>
              </a:rPr>
              <a:t>already flown and already paid for</a:t>
            </a:r>
          </a:p>
        </p:txBody>
      </p:sp>
      <p:sp>
        <p:nvSpPr>
          <p:cNvPr id="17488" name="Rounded Rectangle 17487"/>
          <p:cNvSpPr/>
          <p:nvPr/>
        </p:nvSpPr>
        <p:spPr>
          <a:xfrm>
            <a:off x="9102852" y="5340096"/>
            <a:ext cx="2720339" cy="256032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Franklin Gothic Demi Cond"/>
              </a:rPr>
              <a:t>TESTING PLAN</a:t>
            </a:r>
          </a:p>
        </p:txBody>
      </p:sp>
      <p:sp>
        <p:nvSpPr>
          <p:cNvPr id="17489" name="TextBox 17488"/>
          <p:cNvSpPr txBox="1"/>
          <p:nvPr/>
        </p:nvSpPr>
        <p:spPr>
          <a:xfrm>
            <a:off x="9139428" y="5650992"/>
            <a:ext cx="2647187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20"/>
              </a:spcAft>
            </a:pPr>
            <a:r>
              <a:rPr sz="830" b="0" i="0">
                <a:solidFill>
                  <a:srgbClr val="1E8E5A"/>
                </a:solidFill>
                <a:latin typeface="Segoe UI Semibold"/>
              </a:rPr>
              <a:t>Done  </a:t>
            </a:r>
            <a:r>
              <a:rPr sz="830" b="0" i="0">
                <a:solidFill>
                  <a:srgbClr val="2A3540"/>
                </a:solidFill>
                <a:latin typeface="Segoe UI"/>
              </a:rPr>
              <a:t>region-disjoint LiDAR validation</a:t>
            </a:r>
          </a:p>
          <a:p>
            <a:pPr algn="l">
              <a:lnSpc>
                <a:spcPct val="100000"/>
              </a:lnSpc>
              <a:spcAft>
                <a:spcPts val="120"/>
              </a:spcAft>
            </a:pPr>
            <a:r>
              <a:rPr sz="830" b="0" i="0">
                <a:solidFill>
                  <a:srgbClr val="1E8E5A"/>
                </a:solidFill>
                <a:latin typeface="Segoe UI Semibold"/>
              </a:rPr>
              <a:t>Done  </a:t>
            </a:r>
            <a:r>
              <a:rPr sz="830" b="0" i="0">
                <a:solidFill>
                  <a:srgbClr val="2A3540"/>
                </a:solidFill>
                <a:latin typeface="Segoe UI"/>
              </a:rPr>
              <a:t>second city, with a 338 m buffer</a:t>
            </a:r>
          </a:p>
          <a:p>
            <a:pPr algn="l">
              <a:lnSpc>
                <a:spcPct val="100000"/>
              </a:lnSpc>
              <a:spcAft>
                <a:spcPts val="120"/>
              </a:spcAft>
            </a:pPr>
            <a:r>
              <a:rPr sz="830" b="0" i="0">
                <a:solidFill>
                  <a:srgbClr val="1E8E5A"/>
                </a:solidFill>
                <a:latin typeface="Segoe UI Semibold"/>
              </a:rPr>
              <a:t>Done  </a:t>
            </a:r>
            <a:r>
              <a:rPr sz="830" b="0" i="0">
                <a:solidFill>
                  <a:srgbClr val="2A3540"/>
                </a:solidFill>
                <a:latin typeface="Segoe UI"/>
              </a:rPr>
              <a:t>ISRO's 0.6 m, simulated, on the shipped model</a:t>
            </a:r>
          </a:p>
          <a:p>
            <a:pPr algn="l">
              <a:lnSpc>
                <a:spcPct val="100000"/>
              </a:lnSpc>
              <a:spcAft>
                <a:spcPts val="120"/>
              </a:spcAft>
            </a:pPr>
            <a:r>
              <a:rPr sz="830" b="0" i="0">
                <a:solidFill>
                  <a:srgbClr val="2E6E92"/>
                </a:solidFill>
                <a:latin typeface="Segoe UI Semibold"/>
              </a:rPr>
              <a:t>Next  </a:t>
            </a:r>
            <a:r>
              <a:rPr sz="830" b="0" i="0">
                <a:solidFill>
                  <a:srgbClr val="2A3540"/>
                </a:solidFill>
                <a:latin typeface="Segoe UI"/>
              </a:rPr>
              <a:t>held-out test split, scored once</a:t>
            </a:r>
          </a:p>
          <a:p>
            <a:pPr algn="l">
              <a:lnSpc>
                <a:spcPct val="100000"/>
              </a:lnSpc>
              <a:spcAft>
                <a:spcPts val="120"/>
              </a:spcAft>
            </a:pPr>
            <a:r>
              <a:rPr sz="830" b="0" i="0">
                <a:solidFill>
                  <a:srgbClr val="2E6E92"/>
                </a:solidFill>
                <a:latin typeface="Segoe UI Semibold"/>
              </a:rPr>
              <a:t>Next  </a:t>
            </a:r>
            <a:r>
              <a:rPr sz="830" b="0" i="0">
                <a:solidFill>
                  <a:srgbClr val="2A3540"/>
                </a:solidFill>
                <a:latin typeface="Segoe UI"/>
              </a:rPr>
              <a:t>Indian truth: SAC stereo or DGPS</a:t>
            </a:r>
          </a:p>
        </p:txBody>
      </p:sp>
      <p:sp>
        <p:nvSpPr>
          <p:cNvPr id="17490" name="TextBox 17489"/>
          <p:cNvSpPr txBox="1"/>
          <p:nvPr/>
        </p:nvSpPr>
        <p:spPr>
          <a:xfrm>
            <a:off x="6272784" y="6400800"/>
            <a:ext cx="5550407" cy="128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00" b="0" i="0">
                <a:solidFill>
                  <a:srgbClr val="55636E"/>
                </a:solidFill>
                <a:latin typeface="Segoe UI"/>
              </a:rPr>
              <a:t>*Derived: 5.0 s per 1024 px tile (0.094 km²), single pass, measured on a desktop CPU.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601968"/>
            <a:ext cx="12191999" cy="256032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601968"/>
            <a:ext cx="2844800" cy="256032"/>
          </a:xfrm>
        </p:spPr>
        <p:txBody>
          <a:bodyPr anchor="ctr"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Dev Up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115568"/>
            <a:ext cx="5577840" cy="310896"/>
          </a:xfrm>
          <a:prstGeom prst="roundRect">
            <a:avLst>
              <a:gd name="adj" fmla="val 50000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Franklin Gothic Demi Cond"/>
              </a:rPr>
              <a:t>DISASTER USE CASE — BUILT, ON INDIAN TERRAIN</a:t>
            </a:r>
          </a:p>
        </p:txBody>
      </p:sp>
      <p:pic>
        <p:nvPicPr>
          <p:cNvPr id="17411" name="Picture 17410" descr="sikkim_flood_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481328"/>
            <a:ext cx="5577840" cy="2065866"/>
          </a:xfrm>
          <a:prstGeom prst="rect">
            <a:avLst/>
          </a:prstGeom>
          <a:ln w="9525">
            <a:solidFill>
              <a:srgbClr val="C7D5DF"/>
            </a:solidFill>
          </a:ln>
        </p:spPr>
      </p:pic>
      <p:sp>
        <p:nvSpPr>
          <p:cNvPr id="17412" name="Rounded Rectangle 17411"/>
          <p:cNvSpPr/>
          <p:nvPr/>
        </p:nvSpPr>
        <p:spPr>
          <a:xfrm>
            <a:off x="4023360" y="1481328"/>
            <a:ext cx="1649577" cy="237744"/>
          </a:xfrm>
          <a:prstGeom prst="roundRect">
            <a:avLst>
              <a:gd name="adj" fmla="val 15384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FFFFFF"/>
                </a:solidFill>
                <a:latin typeface="Franklin Gothic Demi Cond"/>
              </a:rPr>
              <a:t>SIKKIM · LIVE FLOOD TOOL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57200" y="3089994"/>
            <a:ext cx="5394959" cy="384048"/>
          </a:xfrm>
          <a:prstGeom prst="roundRect">
            <a:avLst>
              <a:gd name="adj" fmla="val 14285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4" name="TextBox 17413"/>
          <p:cNvSpPr txBox="1"/>
          <p:nvPr/>
        </p:nvSpPr>
        <p:spPr>
          <a:xfrm>
            <a:off x="548640" y="3135714"/>
            <a:ext cx="165201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D89E3C"/>
                </a:solidFill>
                <a:latin typeface="Franklin Gothic Demi"/>
              </a:rPr>
              <a:t>1,143 m  </a:t>
            </a:r>
            <a:r>
              <a:rPr sz="860" b="0" i="0">
                <a:solidFill>
                  <a:srgbClr val="FFFFFF"/>
                </a:solidFill>
                <a:latin typeface="Franklin Gothic Demi Cond"/>
              </a:rPr>
              <a:t>WATER LEVEL</a:t>
            </a:r>
          </a:p>
        </p:txBody>
      </p:sp>
      <p:sp>
        <p:nvSpPr>
          <p:cNvPr id="17415" name="Rectangle 17414"/>
          <p:cNvSpPr/>
          <p:nvPr/>
        </p:nvSpPr>
        <p:spPr>
          <a:xfrm>
            <a:off x="2255520" y="3163146"/>
            <a:ext cx="9144" cy="237744"/>
          </a:xfrm>
          <a:prstGeom prst="rect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6" name="TextBox 17415"/>
          <p:cNvSpPr txBox="1"/>
          <p:nvPr/>
        </p:nvSpPr>
        <p:spPr>
          <a:xfrm>
            <a:off x="2346960" y="3135714"/>
            <a:ext cx="165201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D89E3C"/>
                </a:solidFill>
                <a:latin typeface="Franklin Gothic Demi"/>
              </a:rPr>
              <a:t>20.5 %  </a:t>
            </a:r>
            <a:r>
              <a:rPr sz="860" b="0" i="0">
                <a:solidFill>
                  <a:srgbClr val="FFFFFF"/>
                </a:solidFill>
                <a:latin typeface="Franklin Gothic Demi Cond"/>
              </a:rPr>
              <a:t>GROUND UNDER WATER</a:t>
            </a:r>
          </a:p>
        </p:txBody>
      </p:sp>
      <p:sp>
        <p:nvSpPr>
          <p:cNvPr id="17417" name="Rectangle 17416"/>
          <p:cNvSpPr/>
          <p:nvPr/>
        </p:nvSpPr>
        <p:spPr>
          <a:xfrm>
            <a:off x="4053840" y="3163146"/>
            <a:ext cx="9144" cy="237744"/>
          </a:xfrm>
          <a:prstGeom prst="rect">
            <a:avLst/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8" name="TextBox 17417"/>
          <p:cNvSpPr txBox="1"/>
          <p:nvPr/>
        </p:nvSpPr>
        <p:spPr>
          <a:xfrm>
            <a:off x="4145280" y="3135714"/>
            <a:ext cx="1652016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D89E3C"/>
                </a:solidFill>
                <a:latin typeface="Franklin Gothic Demi"/>
              </a:rPr>
              <a:t>44  </a:t>
            </a:r>
            <a:r>
              <a:rPr sz="860" b="0" i="0">
                <a:solidFill>
                  <a:srgbClr val="FFFFFF"/>
                </a:solidFill>
                <a:latin typeface="Franklin Gothic Demi Cond"/>
              </a:rPr>
              <a:t>BUILDINGS FLOODED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365760" y="3583770"/>
            <a:ext cx="5577840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Raise the water and the viewer counts ground under water and buildings flooded</a:t>
            </a:r>
            <a:r>
              <a:rPr sz="860" b="0" i="0">
                <a:solidFill>
                  <a:srgbClr val="55636E"/>
                </a:solidFill>
                <a:latin typeface="Segoe UI"/>
              </a:rPr>
              <a:t>, and flags the ones too close to call from its own sigma. Ground from Copernicus GLO-30; a flat-water model, labelled as one. Imagery © Maxar, CC BY-NC 4.0.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365760" y="4041648"/>
            <a:ext cx="5577840" cy="274320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Franklin Gothic Demi Cond"/>
              </a:rPr>
              <a:t>WHO IT SERVES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365760" y="4407408"/>
            <a:ext cx="179832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2" name="Oval 17421"/>
          <p:cNvSpPr/>
          <p:nvPr/>
        </p:nvSpPr>
        <p:spPr>
          <a:xfrm>
            <a:off x="429768" y="4453128"/>
            <a:ext cx="274320" cy="274320"/>
          </a:xfrm>
          <a:prstGeom prst="ellipse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23" name="Picture 17422" descr="sire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604" y="4518964"/>
            <a:ext cx="142646" cy="142646"/>
          </a:xfrm>
          <a:prstGeom prst="rect">
            <a:avLst/>
          </a:prstGeom>
        </p:spPr>
      </p:pic>
      <p:sp>
        <p:nvSpPr>
          <p:cNvPr id="17424" name="TextBox 17423"/>
          <p:cNvSpPr txBox="1"/>
          <p:nvPr/>
        </p:nvSpPr>
        <p:spPr>
          <a:xfrm>
            <a:off x="768096" y="4480560"/>
            <a:ext cx="13228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40" b="0" i="0">
                <a:solidFill>
                  <a:srgbClr val="141B22"/>
                </a:solidFill>
                <a:latin typeface="Franklin Gothic Demi Cond"/>
              </a:rPr>
              <a:t>DISASTER RESPONSE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457200" y="4709160"/>
            <a:ext cx="163372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19" b="0" i="0">
                <a:solidFill>
                  <a:srgbClr val="2A3540"/>
                </a:solidFill>
                <a:latin typeface="Segoe UI"/>
              </a:rPr>
              <a:t>Post-event surfaces without waiting for a stereo pair.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2255519" y="4407408"/>
            <a:ext cx="179832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7" name="Oval 17426"/>
          <p:cNvSpPr/>
          <p:nvPr/>
        </p:nvSpPr>
        <p:spPr>
          <a:xfrm>
            <a:off x="2319528" y="4453128"/>
            <a:ext cx="274320" cy="274320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28" name="Picture 17427" descr="satell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85364" y="4518964"/>
            <a:ext cx="142646" cy="142646"/>
          </a:xfrm>
          <a:prstGeom prst="rect">
            <a:avLst/>
          </a:prstGeom>
        </p:spPr>
      </p:pic>
      <p:sp>
        <p:nvSpPr>
          <p:cNvPr id="17429" name="TextBox 17428"/>
          <p:cNvSpPr txBox="1"/>
          <p:nvPr/>
        </p:nvSpPr>
        <p:spPr>
          <a:xfrm>
            <a:off x="2657855" y="4480560"/>
            <a:ext cx="13228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40" b="0" i="0">
                <a:solidFill>
                  <a:srgbClr val="141B22"/>
                </a:solidFill>
                <a:latin typeface="Franklin Gothic Demi Cond"/>
              </a:rPr>
              <a:t>ISRO AND SAC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2346960" y="4709160"/>
            <a:ext cx="163372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19" b="0" i="0">
                <a:solidFill>
                  <a:srgbClr val="2A3540"/>
                </a:solidFill>
                <a:latin typeface="Segoe UI"/>
              </a:rPr>
              <a:t>Height for the single-view Cartosat archive.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4145280" y="4407408"/>
            <a:ext cx="179832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2" name="Oval 17431"/>
          <p:cNvSpPr/>
          <p:nvPr/>
        </p:nvSpPr>
        <p:spPr>
          <a:xfrm>
            <a:off x="4209287" y="4453128"/>
            <a:ext cx="274320" cy="274320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33" name="Picture 17432" descr="building-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75124" y="4518964"/>
            <a:ext cx="142646" cy="142646"/>
          </a:xfrm>
          <a:prstGeom prst="rect">
            <a:avLst/>
          </a:prstGeom>
        </p:spPr>
      </p:pic>
      <p:sp>
        <p:nvSpPr>
          <p:cNvPr id="17434" name="TextBox 17433"/>
          <p:cNvSpPr txBox="1"/>
          <p:nvPr/>
        </p:nvSpPr>
        <p:spPr>
          <a:xfrm>
            <a:off x="4547616" y="4480560"/>
            <a:ext cx="13228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40" b="0" i="0">
                <a:solidFill>
                  <a:srgbClr val="141B22"/>
                </a:solidFill>
                <a:latin typeface="Franklin Gothic Demi Cond"/>
              </a:rPr>
              <a:t>URBAN PLANNING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4236720" y="4709160"/>
            <a:ext cx="163372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19" b="0" i="0">
                <a:solidFill>
                  <a:srgbClr val="2A3540"/>
                </a:solidFill>
                <a:latin typeface="Segoe UI"/>
              </a:rPr>
              <a:t>Building heights for FSI and shadow checks (AMRUT).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365760" y="5029200"/>
            <a:ext cx="274320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7" name="Oval 17436"/>
          <p:cNvSpPr/>
          <p:nvPr/>
        </p:nvSpPr>
        <p:spPr>
          <a:xfrm>
            <a:off x="429768" y="5074920"/>
            <a:ext cx="274320" cy="274320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38" name="Picture 17437" descr="lea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5604" y="5140756"/>
            <a:ext cx="142646" cy="142646"/>
          </a:xfrm>
          <a:prstGeom prst="rect">
            <a:avLst/>
          </a:prstGeom>
        </p:spPr>
      </p:pic>
      <p:sp>
        <p:nvSpPr>
          <p:cNvPr id="17439" name="TextBox 17438"/>
          <p:cNvSpPr txBox="1"/>
          <p:nvPr/>
        </p:nvSpPr>
        <p:spPr>
          <a:xfrm>
            <a:off x="768096" y="5102352"/>
            <a:ext cx="22677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40" b="0" i="0">
                <a:solidFill>
                  <a:srgbClr val="141B22"/>
                </a:solidFill>
                <a:latin typeface="Franklin Gothic Demi Cond"/>
              </a:rPr>
              <a:t>FORESTRY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457200" y="5330952"/>
            <a:ext cx="257860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19" b="0" i="0">
                <a:solidFill>
                  <a:srgbClr val="2A3540"/>
                </a:solidFill>
                <a:latin typeface="Segoe UI"/>
              </a:rPr>
              <a:t>Canopy height proxies for biomass and encroachment.</a:t>
            </a:r>
          </a:p>
        </p:txBody>
      </p:sp>
      <p:sp>
        <p:nvSpPr>
          <p:cNvPr id="17441" name="Rounded Rectangle 17440"/>
          <p:cNvSpPr/>
          <p:nvPr/>
        </p:nvSpPr>
        <p:spPr>
          <a:xfrm>
            <a:off x="3200400" y="5029200"/>
            <a:ext cx="274320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2" name="Oval 17441"/>
          <p:cNvSpPr/>
          <p:nvPr/>
        </p:nvSpPr>
        <p:spPr>
          <a:xfrm>
            <a:off x="3264408" y="5074920"/>
            <a:ext cx="274320" cy="274320"/>
          </a:xfrm>
          <a:prstGeom prst="ellipse">
            <a:avLst/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43" name="Picture 17442" descr="radio-towe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30244" y="5140756"/>
            <a:ext cx="142646" cy="142646"/>
          </a:xfrm>
          <a:prstGeom prst="rect">
            <a:avLst/>
          </a:prstGeom>
        </p:spPr>
      </p:pic>
      <p:sp>
        <p:nvSpPr>
          <p:cNvPr id="17444" name="TextBox 17443"/>
          <p:cNvSpPr txBox="1"/>
          <p:nvPr/>
        </p:nvSpPr>
        <p:spPr>
          <a:xfrm>
            <a:off x="3602736" y="5102352"/>
            <a:ext cx="226771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40" b="0" i="0">
                <a:solidFill>
                  <a:srgbClr val="141B22"/>
                </a:solidFill>
                <a:latin typeface="Franklin Gothic Demi Cond"/>
              </a:rPr>
              <a:t>TELECOM ROLLOUT</a:t>
            </a:r>
          </a:p>
        </p:txBody>
      </p:sp>
      <p:sp>
        <p:nvSpPr>
          <p:cNvPr id="17445" name="TextBox 17444"/>
          <p:cNvSpPr txBox="1"/>
          <p:nvPr/>
        </p:nvSpPr>
        <p:spPr>
          <a:xfrm>
            <a:off x="3291840" y="5330952"/>
            <a:ext cx="257860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19" b="0" i="0">
                <a:solidFill>
                  <a:srgbClr val="2A3540"/>
                </a:solidFill>
                <a:latin typeface="Segoe UI"/>
              </a:rPr>
              <a:t>Line-of-sight and tower siting without a LiDAR survey.</a:t>
            </a:r>
          </a:p>
        </p:txBody>
      </p:sp>
      <p:sp>
        <p:nvSpPr>
          <p:cNvPr id="17446" name="Rounded Rectangle 17445"/>
          <p:cNvSpPr/>
          <p:nvPr/>
        </p:nvSpPr>
        <p:spPr>
          <a:xfrm>
            <a:off x="6126480" y="1115568"/>
            <a:ext cx="5696712" cy="310896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Franklin Gothic Demi Cond"/>
              </a:rPr>
              <a:t>BEFORE AND AFTER, FOR THE PEOPLE WHO USE IT</a:t>
            </a:r>
          </a:p>
        </p:txBody>
      </p:sp>
      <p:sp>
        <p:nvSpPr>
          <p:cNvPr id="17447" name="Rounded Rectangle 17446"/>
          <p:cNvSpPr/>
          <p:nvPr/>
        </p:nvSpPr>
        <p:spPr>
          <a:xfrm>
            <a:off x="7443215" y="1499616"/>
            <a:ext cx="1792224" cy="256032"/>
          </a:xfrm>
          <a:prstGeom prst="roundRect">
            <a:avLst>
              <a:gd name="adj" fmla="val 17857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60" b="0" i="0">
                <a:solidFill>
                  <a:srgbClr val="FFFFFF"/>
                </a:solidFill>
                <a:latin typeface="Franklin Gothic Demi Cond"/>
              </a:rPr>
              <a:t>TODAY</a:t>
            </a:r>
          </a:p>
        </p:txBody>
      </p:sp>
      <p:sp>
        <p:nvSpPr>
          <p:cNvPr id="17448" name="Rounded Rectangle 17447"/>
          <p:cNvSpPr/>
          <p:nvPr/>
        </p:nvSpPr>
        <p:spPr>
          <a:xfrm>
            <a:off x="9272015" y="1499616"/>
            <a:ext cx="2551176" cy="256032"/>
          </a:xfrm>
          <a:prstGeom prst="roundRect">
            <a:avLst>
              <a:gd name="adj" fmla="val 17857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60" b="0" i="0">
                <a:solidFill>
                  <a:srgbClr val="FFFFFF"/>
                </a:solidFill>
                <a:latin typeface="Franklin Gothic Demi Cond"/>
              </a:rPr>
              <a:t>WITH DEPTHWIZARD</a:t>
            </a:r>
          </a:p>
        </p:txBody>
      </p:sp>
      <p:sp>
        <p:nvSpPr>
          <p:cNvPr id="17449" name="Rounded Rectangle 17448"/>
          <p:cNvSpPr/>
          <p:nvPr/>
        </p:nvSpPr>
        <p:spPr>
          <a:xfrm>
            <a:off x="6126480" y="1810512"/>
            <a:ext cx="1280160" cy="585216"/>
          </a:xfrm>
          <a:prstGeom prst="roundRect">
            <a:avLst>
              <a:gd name="adj" fmla="val 781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0" name="Rounded Rectangle 17449"/>
          <p:cNvSpPr/>
          <p:nvPr/>
        </p:nvSpPr>
        <p:spPr>
          <a:xfrm>
            <a:off x="6199632" y="1883664"/>
            <a:ext cx="453542" cy="164592"/>
          </a:xfrm>
          <a:prstGeom prst="roundRect">
            <a:avLst>
              <a:gd name="adj" fmla="val 27777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20" b="0" i="0">
                <a:solidFill>
                  <a:srgbClr val="FFFFFF"/>
                </a:solidFill>
                <a:latin typeface="Franklin Gothic Demi Cond"/>
              </a:rPr>
              <a:t>SOCIAL</a:t>
            </a:r>
          </a:p>
        </p:txBody>
      </p:sp>
      <p:sp>
        <p:nvSpPr>
          <p:cNvPr id="17451" name="TextBox 17450"/>
          <p:cNvSpPr txBox="1"/>
          <p:nvPr/>
        </p:nvSpPr>
        <p:spPr>
          <a:xfrm>
            <a:off x="6199632" y="2084831"/>
            <a:ext cx="11704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00" b="0" i="0">
                <a:solidFill>
                  <a:srgbClr val="141B22"/>
                </a:solidFill>
                <a:latin typeface="Segoe UI Semibold"/>
              </a:rPr>
              <a:t>Disaster response</a:t>
            </a:r>
          </a:p>
        </p:txBody>
      </p:sp>
      <p:sp>
        <p:nvSpPr>
          <p:cNvPr id="17452" name="Rounded Rectangle 17451"/>
          <p:cNvSpPr/>
          <p:nvPr/>
        </p:nvSpPr>
        <p:spPr>
          <a:xfrm>
            <a:off x="7443215" y="1810512"/>
            <a:ext cx="1792224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3" name="TextBox 17452"/>
          <p:cNvSpPr txBox="1"/>
          <p:nvPr/>
        </p:nvSpPr>
        <p:spPr>
          <a:xfrm>
            <a:off x="7516367" y="1874519"/>
            <a:ext cx="164592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55636E"/>
                </a:solidFill>
                <a:latin typeface="Segoe UI"/>
              </a:rPr>
              <a:t>Wait for a stereo pair or a survey flight.</a:t>
            </a:r>
          </a:p>
        </p:txBody>
      </p:sp>
      <p:sp>
        <p:nvSpPr>
          <p:cNvPr id="17454" name="Rounded Rectangle 17453"/>
          <p:cNvSpPr/>
          <p:nvPr/>
        </p:nvSpPr>
        <p:spPr>
          <a:xfrm>
            <a:off x="9272015" y="1810512"/>
            <a:ext cx="2551176" cy="585216"/>
          </a:xfrm>
          <a:prstGeom prst="roundRect">
            <a:avLst>
              <a:gd name="adj" fmla="val 7812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5" name="TextBox 17454"/>
          <p:cNvSpPr txBox="1"/>
          <p:nvPr/>
        </p:nvSpPr>
        <p:spPr>
          <a:xfrm>
            <a:off x="9345167" y="1874519"/>
            <a:ext cx="2404872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A surface from one post-event image — about a minute per tile on a CPU web host.</a:t>
            </a:r>
          </a:p>
        </p:txBody>
      </p:sp>
      <p:sp>
        <p:nvSpPr>
          <p:cNvPr id="17456" name="Rounded Rectangle 17455"/>
          <p:cNvSpPr/>
          <p:nvPr/>
        </p:nvSpPr>
        <p:spPr>
          <a:xfrm>
            <a:off x="6126480" y="2432304"/>
            <a:ext cx="1280160" cy="585216"/>
          </a:xfrm>
          <a:prstGeom prst="roundRect">
            <a:avLst>
              <a:gd name="adj" fmla="val 781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7" name="Rounded Rectangle 17456"/>
          <p:cNvSpPr/>
          <p:nvPr/>
        </p:nvSpPr>
        <p:spPr>
          <a:xfrm>
            <a:off x="6199632" y="2505456"/>
            <a:ext cx="453542" cy="164592"/>
          </a:xfrm>
          <a:prstGeom prst="roundRect">
            <a:avLst>
              <a:gd name="adj" fmla="val 27777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20" b="0" i="0">
                <a:solidFill>
                  <a:srgbClr val="FFFFFF"/>
                </a:solidFill>
                <a:latin typeface="Franklin Gothic Demi Cond"/>
              </a:rPr>
              <a:t>SOCIAL</a:t>
            </a:r>
          </a:p>
        </p:txBody>
      </p:sp>
      <p:sp>
        <p:nvSpPr>
          <p:cNvPr id="17458" name="TextBox 17457"/>
          <p:cNvSpPr txBox="1"/>
          <p:nvPr/>
        </p:nvSpPr>
        <p:spPr>
          <a:xfrm>
            <a:off x="6199632" y="2706624"/>
            <a:ext cx="11704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00" b="0" i="0">
                <a:solidFill>
                  <a:srgbClr val="141B22"/>
                </a:solidFill>
                <a:latin typeface="Segoe UI Semibold"/>
              </a:rPr>
              <a:t>Trust in the number</a:t>
            </a:r>
          </a:p>
        </p:txBody>
      </p:sp>
      <p:sp>
        <p:nvSpPr>
          <p:cNvPr id="17459" name="Rounded Rectangle 17458"/>
          <p:cNvSpPr/>
          <p:nvPr/>
        </p:nvSpPr>
        <p:spPr>
          <a:xfrm>
            <a:off x="7443215" y="2432304"/>
            <a:ext cx="1792224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0" name="TextBox 17459"/>
          <p:cNvSpPr txBox="1"/>
          <p:nvPr/>
        </p:nvSpPr>
        <p:spPr>
          <a:xfrm>
            <a:off x="7516367" y="2496312"/>
            <a:ext cx="164592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55636E"/>
                </a:solidFill>
                <a:latin typeface="Segoe UI"/>
              </a:rPr>
              <a:t>One height, no error bar.</a:t>
            </a:r>
          </a:p>
        </p:txBody>
      </p:sp>
      <p:sp>
        <p:nvSpPr>
          <p:cNvPr id="17461" name="Rounded Rectangle 17460"/>
          <p:cNvSpPr/>
          <p:nvPr/>
        </p:nvSpPr>
        <p:spPr>
          <a:xfrm>
            <a:off x="9272015" y="2432304"/>
            <a:ext cx="2551176" cy="585216"/>
          </a:xfrm>
          <a:prstGeom prst="roundRect">
            <a:avLst>
              <a:gd name="adj" fmla="val 7812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2" name="TextBox 17461"/>
          <p:cNvSpPr txBox="1"/>
          <p:nvPr/>
        </p:nvSpPr>
        <p:spPr>
          <a:xfrm>
            <a:off x="9345167" y="2496312"/>
            <a:ext cx="2404872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Height plus a per-pixel sigma that ranks where it is likely wrong.</a:t>
            </a:r>
          </a:p>
        </p:txBody>
      </p:sp>
      <p:sp>
        <p:nvSpPr>
          <p:cNvPr id="17463" name="Rounded Rectangle 17462"/>
          <p:cNvSpPr/>
          <p:nvPr/>
        </p:nvSpPr>
        <p:spPr>
          <a:xfrm>
            <a:off x="6126480" y="3054096"/>
            <a:ext cx="1280160" cy="585216"/>
          </a:xfrm>
          <a:prstGeom prst="roundRect">
            <a:avLst>
              <a:gd name="adj" fmla="val 781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4" name="Rounded Rectangle 17463"/>
          <p:cNvSpPr/>
          <p:nvPr/>
        </p:nvSpPr>
        <p:spPr>
          <a:xfrm>
            <a:off x="6199632" y="3127248"/>
            <a:ext cx="574243" cy="164592"/>
          </a:xfrm>
          <a:prstGeom prst="roundRect">
            <a:avLst>
              <a:gd name="adj" fmla="val 27777"/>
            </a:avLst>
          </a:prstGeom>
          <a:solidFill>
            <a:srgbClr val="D89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20" b="0" i="0">
                <a:solidFill>
                  <a:srgbClr val="FFFFFF"/>
                </a:solidFill>
                <a:latin typeface="Franklin Gothic Demi Cond"/>
              </a:rPr>
              <a:t>ECONOMIC</a:t>
            </a:r>
          </a:p>
        </p:txBody>
      </p:sp>
      <p:sp>
        <p:nvSpPr>
          <p:cNvPr id="17465" name="TextBox 17464"/>
          <p:cNvSpPr txBox="1"/>
          <p:nvPr/>
        </p:nvSpPr>
        <p:spPr>
          <a:xfrm>
            <a:off x="6199632" y="3328415"/>
            <a:ext cx="11704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00" b="0" i="0">
                <a:solidFill>
                  <a:srgbClr val="141B22"/>
                </a:solidFill>
                <a:latin typeface="Segoe UI Semibold"/>
              </a:rPr>
              <a:t>The archive</a:t>
            </a:r>
          </a:p>
        </p:txBody>
      </p:sp>
      <p:sp>
        <p:nvSpPr>
          <p:cNvPr id="17466" name="Rounded Rectangle 17465"/>
          <p:cNvSpPr/>
          <p:nvPr/>
        </p:nvSpPr>
        <p:spPr>
          <a:xfrm>
            <a:off x="7443215" y="3054096"/>
            <a:ext cx="1792224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7" name="TextBox 17466"/>
          <p:cNvSpPr txBox="1"/>
          <p:nvPr/>
        </p:nvSpPr>
        <p:spPr>
          <a:xfrm>
            <a:off x="7516367" y="3118103"/>
            <a:ext cx="164592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55636E"/>
                </a:solidFill>
                <a:latin typeface="Segoe UI"/>
              </a:rPr>
              <a:t>Decades of single-view Cartosat with no height.</a:t>
            </a:r>
          </a:p>
        </p:txBody>
      </p:sp>
      <p:sp>
        <p:nvSpPr>
          <p:cNvPr id="17468" name="Rounded Rectangle 17467"/>
          <p:cNvSpPr/>
          <p:nvPr/>
        </p:nvSpPr>
        <p:spPr>
          <a:xfrm>
            <a:off x="9272015" y="3054096"/>
            <a:ext cx="2551176" cy="585216"/>
          </a:xfrm>
          <a:prstGeom prst="roundRect">
            <a:avLst>
              <a:gd name="adj" fmla="val 7812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9" name="TextBox 17468"/>
          <p:cNvSpPr txBox="1"/>
          <p:nvPr/>
        </p:nvSpPr>
        <p:spPr>
          <a:xfrm>
            <a:off x="9345167" y="3118103"/>
            <a:ext cx="2404872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Every archived scene can gain a height layer, with no new tasking.</a:t>
            </a:r>
          </a:p>
        </p:txBody>
      </p:sp>
      <p:sp>
        <p:nvSpPr>
          <p:cNvPr id="17470" name="Rounded Rectangle 17469"/>
          <p:cNvSpPr/>
          <p:nvPr/>
        </p:nvSpPr>
        <p:spPr>
          <a:xfrm>
            <a:off x="6126480" y="3675887"/>
            <a:ext cx="1280160" cy="585216"/>
          </a:xfrm>
          <a:prstGeom prst="roundRect">
            <a:avLst>
              <a:gd name="adj" fmla="val 781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1" name="Rounded Rectangle 17470"/>
          <p:cNvSpPr/>
          <p:nvPr/>
        </p:nvSpPr>
        <p:spPr>
          <a:xfrm>
            <a:off x="6199632" y="3749039"/>
            <a:ext cx="574243" cy="164592"/>
          </a:xfrm>
          <a:prstGeom prst="roundRect">
            <a:avLst>
              <a:gd name="adj" fmla="val 27777"/>
            </a:avLst>
          </a:prstGeom>
          <a:solidFill>
            <a:srgbClr val="D89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20" b="0" i="0">
                <a:solidFill>
                  <a:srgbClr val="FFFFFF"/>
                </a:solidFill>
                <a:latin typeface="Franklin Gothic Demi Cond"/>
              </a:rPr>
              <a:t>ECONOMIC</a:t>
            </a:r>
          </a:p>
        </p:txBody>
      </p:sp>
      <p:sp>
        <p:nvSpPr>
          <p:cNvPr id="17472" name="TextBox 17471"/>
          <p:cNvSpPr txBox="1"/>
          <p:nvPr/>
        </p:nvSpPr>
        <p:spPr>
          <a:xfrm>
            <a:off x="6199632" y="3950207"/>
            <a:ext cx="11704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00" b="0" i="0">
                <a:solidFill>
                  <a:srgbClr val="141B22"/>
                </a:solidFill>
                <a:latin typeface="Segoe UI Semibold"/>
              </a:rPr>
              <a:t>Municipal bodies</a:t>
            </a:r>
          </a:p>
        </p:txBody>
      </p:sp>
      <p:sp>
        <p:nvSpPr>
          <p:cNvPr id="17473" name="Rounded Rectangle 17472"/>
          <p:cNvSpPr/>
          <p:nvPr/>
        </p:nvSpPr>
        <p:spPr>
          <a:xfrm>
            <a:off x="7443215" y="3675887"/>
            <a:ext cx="1792224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4" name="TextBox 17473"/>
          <p:cNvSpPr txBox="1"/>
          <p:nvPr/>
        </p:nvSpPr>
        <p:spPr>
          <a:xfrm>
            <a:off x="7516367" y="3739896"/>
            <a:ext cx="164592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55636E"/>
                </a:solidFill>
                <a:latin typeface="Segoe UI"/>
              </a:rPr>
              <a:t>Building heights need a survey budget.</a:t>
            </a:r>
          </a:p>
        </p:txBody>
      </p:sp>
      <p:sp>
        <p:nvSpPr>
          <p:cNvPr id="17475" name="Rounded Rectangle 17474"/>
          <p:cNvSpPr/>
          <p:nvPr/>
        </p:nvSpPr>
        <p:spPr>
          <a:xfrm>
            <a:off x="9272015" y="3675887"/>
            <a:ext cx="2551176" cy="585216"/>
          </a:xfrm>
          <a:prstGeom prst="roundRect">
            <a:avLst>
              <a:gd name="adj" fmla="val 7812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6" name="TextBox 17475"/>
          <p:cNvSpPr txBox="1"/>
          <p:nvPr/>
        </p:nvSpPr>
        <p:spPr>
          <a:xfrm>
            <a:off x="9345167" y="3739896"/>
            <a:ext cx="2404872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Free and open; 36.8 MB runs offline on a laptop CPU.</a:t>
            </a:r>
          </a:p>
        </p:txBody>
      </p:sp>
      <p:sp>
        <p:nvSpPr>
          <p:cNvPr id="17477" name="Rounded Rectangle 17476"/>
          <p:cNvSpPr/>
          <p:nvPr/>
        </p:nvSpPr>
        <p:spPr>
          <a:xfrm>
            <a:off x="6126480" y="4297680"/>
            <a:ext cx="1280160" cy="585216"/>
          </a:xfrm>
          <a:prstGeom prst="roundRect">
            <a:avLst>
              <a:gd name="adj" fmla="val 781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8" name="Rounded Rectangle 17477"/>
          <p:cNvSpPr/>
          <p:nvPr/>
        </p:nvSpPr>
        <p:spPr>
          <a:xfrm>
            <a:off x="6199632" y="4370832"/>
            <a:ext cx="875995" cy="164592"/>
          </a:xfrm>
          <a:prstGeom prst="roundRect">
            <a:avLst>
              <a:gd name="adj" fmla="val 27777"/>
            </a:avLst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20" b="0" i="0">
                <a:solidFill>
                  <a:srgbClr val="FFFFFF"/>
                </a:solidFill>
                <a:latin typeface="Franklin Gothic Demi Cond"/>
              </a:rPr>
              <a:t>ENVIRONMENTAL</a:t>
            </a:r>
          </a:p>
        </p:txBody>
      </p:sp>
      <p:sp>
        <p:nvSpPr>
          <p:cNvPr id="17479" name="TextBox 17478"/>
          <p:cNvSpPr txBox="1"/>
          <p:nvPr/>
        </p:nvSpPr>
        <p:spPr>
          <a:xfrm>
            <a:off x="6199632" y="4572000"/>
            <a:ext cx="11704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00" b="0" i="0">
                <a:solidFill>
                  <a:srgbClr val="141B22"/>
                </a:solidFill>
                <a:latin typeface="Segoe UI Semibold"/>
              </a:rPr>
              <a:t>Survey flights</a:t>
            </a:r>
          </a:p>
        </p:txBody>
      </p:sp>
      <p:sp>
        <p:nvSpPr>
          <p:cNvPr id="17480" name="Rounded Rectangle 17479"/>
          <p:cNvSpPr/>
          <p:nvPr/>
        </p:nvSpPr>
        <p:spPr>
          <a:xfrm>
            <a:off x="7443215" y="4297680"/>
            <a:ext cx="1792224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1" name="TextBox 17480"/>
          <p:cNvSpPr txBox="1"/>
          <p:nvPr/>
        </p:nvSpPr>
        <p:spPr>
          <a:xfrm>
            <a:off x="7516367" y="4361688"/>
            <a:ext cx="164592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55636E"/>
                </a:solidFill>
                <a:latin typeface="Segoe UI"/>
              </a:rPr>
              <a:t>New LiDAR or stereo sorties to fly.</a:t>
            </a:r>
          </a:p>
        </p:txBody>
      </p:sp>
      <p:sp>
        <p:nvSpPr>
          <p:cNvPr id="17482" name="Rounded Rectangle 17481"/>
          <p:cNvSpPr/>
          <p:nvPr/>
        </p:nvSpPr>
        <p:spPr>
          <a:xfrm>
            <a:off x="9272015" y="4297680"/>
            <a:ext cx="2551176" cy="585216"/>
          </a:xfrm>
          <a:prstGeom prst="roundRect">
            <a:avLst>
              <a:gd name="adj" fmla="val 7812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3" name="TextBox 17482"/>
          <p:cNvSpPr txBox="1"/>
          <p:nvPr/>
        </p:nvSpPr>
        <p:spPr>
          <a:xfrm>
            <a:off x="9345167" y="4361688"/>
            <a:ext cx="2404872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None: it reuses imagery already flown.</a:t>
            </a:r>
          </a:p>
        </p:txBody>
      </p:sp>
      <p:sp>
        <p:nvSpPr>
          <p:cNvPr id="17484" name="Rounded Rectangle 17483"/>
          <p:cNvSpPr/>
          <p:nvPr/>
        </p:nvSpPr>
        <p:spPr>
          <a:xfrm>
            <a:off x="6126480" y="4919472"/>
            <a:ext cx="1280160" cy="585216"/>
          </a:xfrm>
          <a:prstGeom prst="roundRect">
            <a:avLst>
              <a:gd name="adj" fmla="val 781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5" name="Rounded Rectangle 17484"/>
          <p:cNvSpPr/>
          <p:nvPr/>
        </p:nvSpPr>
        <p:spPr>
          <a:xfrm>
            <a:off x="6199632" y="4992624"/>
            <a:ext cx="875995" cy="164592"/>
          </a:xfrm>
          <a:prstGeom prst="roundRect">
            <a:avLst>
              <a:gd name="adj" fmla="val 27777"/>
            </a:avLst>
          </a:prstGeom>
          <a:solidFill>
            <a:srgbClr val="1E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720" b="0" i="0">
                <a:solidFill>
                  <a:srgbClr val="FFFFFF"/>
                </a:solidFill>
                <a:latin typeface="Franklin Gothic Demi Cond"/>
              </a:rPr>
              <a:t>ENVIRONMENTAL</a:t>
            </a:r>
          </a:p>
        </p:txBody>
      </p:sp>
      <p:sp>
        <p:nvSpPr>
          <p:cNvPr id="17486" name="TextBox 17485"/>
          <p:cNvSpPr txBox="1"/>
          <p:nvPr/>
        </p:nvSpPr>
        <p:spPr>
          <a:xfrm>
            <a:off x="6199632" y="5193792"/>
            <a:ext cx="1170431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900" b="0" i="0">
                <a:solidFill>
                  <a:srgbClr val="141B22"/>
                </a:solidFill>
                <a:latin typeface="Segoe UI Semibold"/>
              </a:rPr>
              <a:t>Forest cover</a:t>
            </a:r>
          </a:p>
        </p:txBody>
      </p:sp>
      <p:sp>
        <p:nvSpPr>
          <p:cNvPr id="17487" name="Rounded Rectangle 17486"/>
          <p:cNvSpPr/>
          <p:nvPr/>
        </p:nvSpPr>
        <p:spPr>
          <a:xfrm>
            <a:off x="7443215" y="4919472"/>
            <a:ext cx="1792224" cy="585216"/>
          </a:xfrm>
          <a:prstGeom prst="roundRect">
            <a:avLst>
              <a:gd name="adj" fmla="val 7812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8" name="TextBox 17487"/>
          <p:cNvSpPr txBox="1"/>
          <p:nvPr/>
        </p:nvSpPr>
        <p:spPr>
          <a:xfrm>
            <a:off x="7516367" y="4983480"/>
            <a:ext cx="1645920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55636E"/>
                </a:solidFill>
                <a:latin typeface="Segoe UI"/>
              </a:rPr>
              <a:t>Canopy height needs airborne LiDAR.</a:t>
            </a:r>
          </a:p>
        </p:txBody>
      </p:sp>
      <p:sp>
        <p:nvSpPr>
          <p:cNvPr id="17489" name="Rounded Rectangle 17488"/>
          <p:cNvSpPr/>
          <p:nvPr/>
        </p:nvSpPr>
        <p:spPr>
          <a:xfrm>
            <a:off x="9272015" y="4919472"/>
            <a:ext cx="2551176" cy="585216"/>
          </a:xfrm>
          <a:prstGeom prst="roundRect">
            <a:avLst>
              <a:gd name="adj" fmla="val 7812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90" name="TextBox 17489"/>
          <p:cNvSpPr txBox="1"/>
          <p:nvPr/>
        </p:nvSpPr>
        <p:spPr>
          <a:xfrm>
            <a:off x="9345167" y="4983480"/>
            <a:ext cx="2404872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A canopy-height proxy from optical imagery alone.</a:t>
            </a:r>
          </a:p>
        </p:txBody>
      </p:sp>
      <p:sp>
        <p:nvSpPr>
          <p:cNvPr id="17491" name="Rounded Rectangle 17490"/>
          <p:cNvSpPr/>
          <p:nvPr/>
        </p:nvSpPr>
        <p:spPr>
          <a:xfrm>
            <a:off x="365760" y="5687568"/>
            <a:ext cx="2782062" cy="658368"/>
          </a:xfrm>
          <a:prstGeom prst="roundRect">
            <a:avLst>
              <a:gd name="adj" fmla="val 972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92" name="TextBox 17491"/>
          <p:cNvSpPr txBox="1"/>
          <p:nvPr/>
        </p:nvSpPr>
        <p:spPr>
          <a:xfrm>
            <a:off x="512064" y="5769864"/>
            <a:ext cx="252603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C1440E"/>
                </a:solidFill>
                <a:latin typeface="Franklin Gothic Demi"/>
              </a:rPr>
              <a:t>0</a:t>
            </a:r>
            <a:r>
              <a:rPr sz="1100" b="0" i="0">
                <a:solidFill>
                  <a:srgbClr val="C1440E"/>
                </a:solidFill>
                <a:latin typeface="Franklin Gothic Demi"/>
              </a:rPr>
              <a:t> new flights</a:t>
            </a:r>
          </a:p>
        </p:txBody>
      </p:sp>
      <p:sp>
        <p:nvSpPr>
          <p:cNvPr id="17493" name="TextBox 17492"/>
          <p:cNvSpPr txBox="1"/>
          <p:nvPr/>
        </p:nvSpPr>
        <p:spPr>
          <a:xfrm>
            <a:off x="512064" y="6108192"/>
            <a:ext cx="2526030" cy="2011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input is imagery already flown and paid for</a:t>
            </a:r>
          </a:p>
        </p:txBody>
      </p:sp>
      <p:sp>
        <p:nvSpPr>
          <p:cNvPr id="17494" name="Rounded Rectangle 17493"/>
          <p:cNvSpPr/>
          <p:nvPr/>
        </p:nvSpPr>
        <p:spPr>
          <a:xfrm>
            <a:off x="3257550" y="5687568"/>
            <a:ext cx="2782062" cy="658368"/>
          </a:xfrm>
          <a:prstGeom prst="roundRect">
            <a:avLst>
              <a:gd name="adj" fmla="val 972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95" name="TextBox 17494"/>
          <p:cNvSpPr txBox="1"/>
          <p:nvPr/>
        </p:nvSpPr>
        <p:spPr>
          <a:xfrm>
            <a:off x="3403854" y="5769864"/>
            <a:ext cx="252603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C1440E"/>
                </a:solidFill>
                <a:latin typeface="Franklin Gothic Demi"/>
              </a:rPr>
              <a:t>1</a:t>
            </a:r>
            <a:r>
              <a:rPr sz="1100" b="0" i="0">
                <a:solidFill>
                  <a:srgbClr val="C1440E"/>
                </a:solidFill>
                <a:latin typeface="Franklin Gothic Demi"/>
              </a:rPr>
              <a:t> image</a:t>
            </a:r>
          </a:p>
        </p:txBody>
      </p:sp>
      <p:sp>
        <p:nvSpPr>
          <p:cNvPr id="17496" name="TextBox 17495"/>
          <p:cNvSpPr txBox="1"/>
          <p:nvPr/>
        </p:nvSpPr>
        <p:spPr>
          <a:xfrm>
            <a:off x="3403854" y="6108192"/>
            <a:ext cx="2526030" cy="2011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no stereo pair, no revisit wait</a:t>
            </a:r>
          </a:p>
        </p:txBody>
      </p:sp>
      <p:sp>
        <p:nvSpPr>
          <p:cNvPr id="17497" name="Rounded Rectangle 17496"/>
          <p:cNvSpPr/>
          <p:nvPr/>
        </p:nvSpPr>
        <p:spPr>
          <a:xfrm>
            <a:off x="6149340" y="5687568"/>
            <a:ext cx="2782062" cy="658368"/>
          </a:xfrm>
          <a:prstGeom prst="roundRect">
            <a:avLst>
              <a:gd name="adj" fmla="val 972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98" name="TextBox 17497"/>
          <p:cNvSpPr txBox="1"/>
          <p:nvPr/>
        </p:nvSpPr>
        <p:spPr>
          <a:xfrm>
            <a:off x="6295644" y="5769864"/>
            <a:ext cx="252603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C1440E"/>
                </a:solidFill>
                <a:latin typeface="Franklin Gothic Demi"/>
              </a:rPr>
              <a:t>1</a:t>
            </a:r>
            <a:r>
              <a:rPr sz="1100" b="0" i="0">
                <a:solidFill>
                  <a:srgbClr val="C1440E"/>
                </a:solidFill>
                <a:latin typeface="Franklin Gothic Demi"/>
              </a:rPr>
              <a:t> min / km²</a:t>
            </a:r>
          </a:p>
        </p:txBody>
      </p:sp>
      <p:sp>
        <p:nvSpPr>
          <p:cNvPr id="17499" name="TextBox 17498"/>
          <p:cNvSpPr txBox="1"/>
          <p:nvPr/>
        </p:nvSpPr>
        <p:spPr>
          <a:xfrm>
            <a:off x="6295644" y="6108192"/>
            <a:ext cx="2526030" cy="2011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on a desktop CPU, single pass*</a:t>
            </a:r>
          </a:p>
        </p:txBody>
      </p:sp>
      <p:sp>
        <p:nvSpPr>
          <p:cNvPr id="17500" name="Rounded Rectangle 17499"/>
          <p:cNvSpPr/>
          <p:nvPr/>
        </p:nvSpPr>
        <p:spPr>
          <a:xfrm>
            <a:off x="9041130" y="5687568"/>
            <a:ext cx="2782062" cy="658368"/>
          </a:xfrm>
          <a:prstGeom prst="roundRect">
            <a:avLst>
              <a:gd name="adj" fmla="val 9722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501" name="TextBox 17500"/>
          <p:cNvSpPr txBox="1"/>
          <p:nvPr/>
        </p:nvSpPr>
        <p:spPr>
          <a:xfrm>
            <a:off x="9187434" y="5769864"/>
            <a:ext cx="252603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C1440E"/>
                </a:solidFill>
                <a:latin typeface="Franklin Gothic Demi"/>
              </a:rPr>
              <a:t>0</a:t>
            </a:r>
            <a:r>
              <a:rPr sz="1100" b="0" i="0">
                <a:solidFill>
                  <a:srgbClr val="C1440E"/>
                </a:solidFill>
                <a:latin typeface="Franklin Gothic Demi"/>
              </a:rPr>
              <a:t> licence fees</a:t>
            </a:r>
          </a:p>
        </p:txBody>
      </p:sp>
      <p:sp>
        <p:nvSpPr>
          <p:cNvPr id="17502" name="TextBox 17501"/>
          <p:cNvSpPr txBox="1"/>
          <p:nvPr/>
        </p:nvSpPr>
        <p:spPr>
          <a:xfrm>
            <a:off x="9187434" y="6108192"/>
            <a:ext cx="2526030" cy="2011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any state agency can adopt it</a:t>
            </a:r>
          </a:p>
        </p:txBody>
      </p:sp>
      <p:sp>
        <p:nvSpPr>
          <p:cNvPr id="17503" name="TextBox 17502"/>
          <p:cNvSpPr txBox="1"/>
          <p:nvPr/>
        </p:nvSpPr>
        <p:spPr>
          <a:xfrm>
            <a:off x="365760" y="6373368"/>
            <a:ext cx="11457432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19" b="1" i="0">
                <a:solidFill>
                  <a:srgbClr val="141B22"/>
                </a:solidFill>
                <a:latin typeface="Segoe UI Semibold"/>
              </a:rPr>
              <a:t>Scales by batch, on CPUs agencies already own: the whole archive, not one scene.</a:t>
            </a:r>
            <a:r>
              <a:rPr sz="819" b="0" i="0">
                <a:solidFill>
                  <a:srgbClr val="55636E"/>
                </a:solidFill>
                <a:latin typeface="Segoe UI"/>
              </a:rPr>
              <a:t>   *Derived: 5.0 s per 1024 px tile (0.094 km²) measured on a desktop CPU.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601968"/>
            <a:ext cx="12191999" cy="256032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601968"/>
            <a:ext cx="2844800" cy="256032"/>
          </a:xfrm>
        </p:spPr>
        <p:txBody>
          <a:bodyPr anchor="ctr"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Dev Up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115568"/>
            <a:ext cx="3639312" cy="274320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RESEARCH THAT CHANGED WHAT WE BUILT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65760" y="1481328"/>
            <a:ext cx="3639312" cy="2011680"/>
          </a:xfrm>
          <a:prstGeom prst="roundRect">
            <a:avLst>
              <a:gd name="adj" fmla="val 4545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2" name="TextBox 17411"/>
          <p:cNvSpPr txBox="1"/>
          <p:nvPr/>
        </p:nvSpPr>
        <p:spPr>
          <a:xfrm>
            <a:off x="475488" y="1527048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Depth Anything V2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Yang et al., NeurIPS 2024. The backbone we fine-tune.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75488" y="1911096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HTC-DC Net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Chen et al., TGRS 2023. Head-tail cut, distribution constraints.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475488" y="2295144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Depth Any Canopy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Rege Cambrin et al., ECCV-W 2024. The recipe for aerial height.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475488" y="2679192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Beta-NLL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Seitzer et al., ICLR 2022. Keeps the mean head learning.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475488" y="3063240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IM2HEIGHT, TSE-Net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Mou &amp; Zhu 2018; Chen &amp; Zhu 2025, both arXiv. Prior single-view height.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365760" y="3639312"/>
            <a:ext cx="3639312" cy="274320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DATA AND REFERENCE SURFACES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365760" y="4005072"/>
            <a:ext cx="3639312" cy="2395728"/>
          </a:xfrm>
          <a:prstGeom prst="roundRect">
            <a:avLst>
              <a:gd name="adj" fmla="val 3816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9" name="TextBox 17418"/>
          <p:cNvSpPr txBox="1"/>
          <p:nvPr/>
        </p:nvSpPr>
        <p:spPr>
          <a:xfrm>
            <a:off x="475488" y="4050791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DFC2019 Track 1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US3D at 0.3 m GSD with airborne LiDAR truth.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475488" y="4434840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GAMUS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ISRO's recommended set. 6,204 tiles, 0.33 m, DC and Philadelphia.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475488" y="4818888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Copernicus GLO-30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Free 30 m global DEM; the absolute metric anchor.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475488" y="5202936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GlobalBuildingAtlas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Published 5.9 m RMSE over Asia — the external bar.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475488" y="5586983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Google Open Buildings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A cross-check over India, never used as truth.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475488" y="5971031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Maxar Open Data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Sikkim imagery, CC BY-NC 4.0, © Maxar Technologies.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4206240" y="1115568"/>
            <a:ext cx="3639312" cy="274320"/>
          </a:xfrm>
          <a:prstGeom prst="roundRect">
            <a:avLst>
              <a:gd name="adj" fmla="val 50000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TRIED, MEASURED, REJECTED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4206240" y="1481328"/>
            <a:ext cx="3639312" cy="2011680"/>
          </a:xfrm>
          <a:prstGeom prst="roundRect">
            <a:avLst>
              <a:gd name="adj" fmla="val 4545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7" name="TextBox 17426"/>
          <p:cNvSpPr txBox="1"/>
          <p:nvPr/>
        </p:nvSpPr>
        <p:spPr>
          <a:xfrm>
            <a:off x="4315968" y="1527048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Ordinal / binned head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All heads land at a 0.43–0.49 slope. No gain.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4315968" y="1911096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Shadow photogrammetry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Oracle shadows reach r 0.503; our earlier net, 0.787.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4315968" y="2295144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LDS tail reweighting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Pixels above 20 m are 7.5% but carry 78.8% of error.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4315968" y="2679192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Two-model ensemble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Error correlation 0.925 — averaging buys nothing.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4315968" y="3063240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Global de-compression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A rescale moves error, it does not remove it.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4206240" y="3639312"/>
            <a:ext cx="3639312" cy="274320"/>
          </a:xfrm>
          <a:prstGeom prst="roundRect">
            <a:avLst>
              <a:gd name="adj" fmla="val 50000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PROBES WE RAN, AND WHAT EACH CLOSED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4206240" y="4005072"/>
            <a:ext cx="3639312" cy="2011680"/>
          </a:xfrm>
          <a:prstGeom prst="roundRect">
            <a:avLst>
              <a:gd name="adj" fmla="val 4545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4" name="TextBox 17433"/>
          <p:cNvSpPr txBox="1"/>
          <p:nvPr/>
        </p:nvSpPr>
        <p:spPr>
          <a:xfrm>
            <a:off x="4315968" y="4050791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01 Tall buildings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Data, not capacity. Open 0.3 m sets hold few towers.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4315968" y="4434840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03 Guided filtering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Squaring off roofs made every metric worse.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4315968" y="4818888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04 Where detail went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Detail follows the ground area one token covers.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4315968" y="5202936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05b ISRO's 0.6 m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Shipped model, 80 tiles: +15% per building after auto-zoom.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4315968" y="5586983"/>
            <a:ext cx="3419856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50" b="1" i="0">
                <a:solidFill>
                  <a:srgbClr val="141B22"/>
                </a:solidFill>
                <a:latin typeface="Segoe UI Semibold"/>
              </a:rPr>
              <a:t>06 Height compression 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Measured: 0.473 × truth + 2.66 m.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8046720" y="1115568"/>
            <a:ext cx="3776471" cy="274320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HOW WE COMPARE</a:t>
            </a:r>
          </a:p>
        </p:txBody>
      </p:sp>
      <p:sp>
        <p:nvSpPr>
          <p:cNvPr id="17440" name="Rounded Rectangle 17439"/>
          <p:cNvSpPr/>
          <p:nvPr/>
        </p:nvSpPr>
        <p:spPr>
          <a:xfrm>
            <a:off x="8046720" y="1481328"/>
            <a:ext cx="1700601" cy="402336"/>
          </a:xfrm>
          <a:prstGeom prst="roundRect">
            <a:avLst>
              <a:gd name="adj" fmla="val 11363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Franklin Gothic Demi"/>
              </a:rPr>
              <a:t>PARAMETER</a:t>
            </a:r>
          </a:p>
        </p:txBody>
      </p:sp>
      <p:sp>
        <p:nvSpPr>
          <p:cNvPr id="17441" name="Rounded Rectangle 17440"/>
          <p:cNvSpPr/>
          <p:nvPr/>
        </p:nvSpPr>
        <p:spPr>
          <a:xfrm>
            <a:off x="9783897" y="1481328"/>
            <a:ext cx="643188" cy="402336"/>
          </a:xfrm>
          <a:prstGeom prst="roundRect">
            <a:avLst>
              <a:gd name="adj" fmla="val 11363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0" bIns="0"/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800" b="0" i="0">
                <a:solidFill>
                  <a:srgbClr val="FFFFFF"/>
                </a:solidFill>
                <a:latin typeface="Franklin Gothic Demi Cond"/>
              </a:rPr>
              <a:t>STEREO OR LIDAR SURVEY</a:t>
            </a:r>
          </a:p>
        </p:txBody>
      </p:sp>
      <p:sp>
        <p:nvSpPr>
          <p:cNvPr id="17442" name="Rounded Rectangle 17441"/>
          <p:cNvSpPr/>
          <p:nvPr/>
        </p:nvSpPr>
        <p:spPr>
          <a:xfrm>
            <a:off x="10463662" y="1481328"/>
            <a:ext cx="643188" cy="402336"/>
          </a:xfrm>
          <a:prstGeom prst="roundRect">
            <a:avLst>
              <a:gd name="adj" fmla="val 11363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0" bIns="0"/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800" b="0" i="0">
                <a:solidFill>
                  <a:srgbClr val="FFFFFF"/>
                </a:solidFill>
                <a:latin typeface="Franklin Gothic Demi Cond"/>
              </a:rPr>
              <a:t>PUBLISHED SINGLE-VIEW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11143427" y="1481328"/>
            <a:ext cx="643188" cy="402336"/>
          </a:xfrm>
          <a:prstGeom prst="roundRect">
            <a:avLst>
              <a:gd name="adj" fmla="val 11363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9144" rIns="9144" tIns="0" bIns="0"/>
          <a:lstStyle/>
          <a:p>
            <a:pPr algn="ctr">
              <a:lnSpc>
                <a:spcPct val="92000"/>
              </a:lnSpc>
              <a:spcAft>
                <a:spcPts val="0"/>
              </a:spcAft>
            </a:pPr>
            <a:r>
              <a:rPr sz="819" b="0" i="0">
                <a:solidFill>
                  <a:srgbClr val="FFFFFF"/>
                </a:solidFill>
                <a:latin typeface="Franklin Gothic Demi Cond"/>
              </a:rPr>
              <a:t>DEPTHWIZARD</a:t>
            </a:r>
          </a:p>
        </p:txBody>
      </p:sp>
      <p:sp>
        <p:nvSpPr>
          <p:cNvPr id="17444" name="Rounded Rectangle 17443"/>
          <p:cNvSpPr/>
          <p:nvPr/>
        </p:nvSpPr>
        <p:spPr>
          <a:xfrm>
            <a:off x="8046720" y="1929384"/>
            <a:ext cx="1700601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5" name="TextBox 17444"/>
          <p:cNvSpPr txBox="1"/>
          <p:nvPr/>
        </p:nvSpPr>
        <p:spPr>
          <a:xfrm>
            <a:off x="8138160" y="1975103"/>
            <a:ext cx="151772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One archived image</a:t>
            </a:r>
          </a:p>
        </p:txBody>
      </p:sp>
      <p:sp>
        <p:nvSpPr>
          <p:cNvPr id="17446" name="Rounded Rectangle 17445"/>
          <p:cNvSpPr/>
          <p:nvPr/>
        </p:nvSpPr>
        <p:spPr>
          <a:xfrm>
            <a:off x="9783897" y="1929384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47" name="Picture 17446" descr="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2339" y="2002536"/>
            <a:ext cx="146304" cy="146304"/>
          </a:xfrm>
          <a:prstGeom prst="rect">
            <a:avLst/>
          </a:prstGeom>
        </p:spPr>
      </p:pic>
      <p:sp>
        <p:nvSpPr>
          <p:cNvPr id="17448" name="Rounded Rectangle 17447"/>
          <p:cNvSpPr/>
          <p:nvPr/>
        </p:nvSpPr>
        <p:spPr>
          <a:xfrm>
            <a:off x="10463662" y="1929384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49" name="Picture 17448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12104" y="2002536"/>
            <a:ext cx="146304" cy="146304"/>
          </a:xfrm>
          <a:prstGeom prst="rect">
            <a:avLst/>
          </a:prstGeom>
        </p:spPr>
      </p:pic>
      <p:sp>
        <p:nvSpPr>
          <p:cNvPr id="17450" name="Rounded Rectangle 17449"/>
          <p:cNvSpPr/>
          <p:nvPr/>
        </p:nvSpPr>
        <p:spPr>
          <a:xfrm>
            <a:off x="11143427" y="1929384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51" name="Picture 17450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8153" y="1988819"/>
            <a:ext cx="173736" cy="173736"/>
          </a:xfrm>
          <a:prstGeom prst="rect">
            <a:avLst/>
          </a:prstGeom>
        </p:spPr>
      </p:pic>
      <p:sp>
        <p:nvSpPr>
          <p:cNvPr id="17452" name="Rounded Rectangle 17451"/>
          <p:cNvSpPr/>
          <p:nvPr/>
        </p:nvSpPr>
        <p:spPr>
          <a:xfrm>
            <a:off x="8046720" y="2258568"/>
            <a:ext cx="1700601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3" name="TextBox 17452"/>
          <p:cNvSpPr txBox="1"/>
          <p:nvPr/>
        </p:nvSpPr>
        <p:spPr>
          <a:xfrm>
            <a:off x="8138160" y="2304287"/>
            <a:ext cx="151772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Absolute metric height</a:t>
            </a:r>
          </a:p>
        </p:txBody>
      </p:sp>
      <p:sp>
        <p:nvSpPr>
          <p:cNvPr id="17454" name="Rounded Rectangle 17453"/>
          <p:cNvSpPr/>
          <p:nvPr/>
        </p:nvSpPr>
        <p:spPr>
          <a:xfrm>
            <a:off x="9783897" y="2258568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55" name="Picture 17454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32339" y="2331720"/>
            <a:ext cx="146304" cy="146304"/>
          </a:xfrm>
          <a:prstGeom prst="rect">
            <a:avLst/>
          </a:prstGeom>
        </p:spPr>
      </p:pic>
      <p:sp>
        <p:nvSpPr>
          <p:cNvPr id="17456" name="Rounded Rectangle 17455"/>
          <p:cNvSpPr/>
          <p:nvPr/>
        </p:nvSpPr>
        <p:spPr>
          <a:xfrm>
            <a:off x="10463662" y="2258568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57" name="Picture 17456" descr="minu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12104" y="2331720"/>
            <a:ext cx="146304" cy="146304"/>
          </a:xfrm>
          <a:prstGeom prst="rect">
            <a:avLst/>
          </a:prstGeom>
        </p:spPr>
      </p:pic>
      <p:sp>
        <p:nvSpPr>
          <p:cNvPr id="17458" name="Rounded Rectangle 17457"/>
          <p:cNvSpPr/>
          <p:nvPr/>
        </p:nvSpPr>
        <p:spPr>
          <a:xfrm>
            <a:off x="11143427" y="2258568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59" name="Picture 17458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8153" y="2318003"/>
            <a:ext cx="173736" cy="173736"/>
          </a:xfrm>
          <a:prstGeom prst="rect">
            <a:avLst/>
          </a:prstGeom>
        </p:spPr>
      </p:pic>
      <p:sp>
        <p:nvSpPr>
          <p:cNvPr id="17460" name="Rounded Rectangle 17459"/>
          <p:cNvSpPr/>
          <p:nvPr/>
        </p:nvSpPr>
        <p:spPr>
          <a:xfrm>
            <a:off x="8046720" y="2587751"/>
            <a:ext cx="1700601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1" name="TextBox 17460"/>
          <p:cNvSpPr txBox="1"/>
          <p:nvPr/>
        </p:nvSpPr>
        <p:spPr>
          <a:xfrm>
            <a:off x="8138160" y="2633471"/>
            <a:ext cx="151772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Per-pixel uncertainty</a:t>
            </a:r>
          </a:p>
        </p:txBody>
      </p:sp>
      <p:sp>
        <p:nvSpPr>
          <p:cNvPr id="17462" name="Rounded Rectangle 17461"/>
          <p:cNvSpPr/>
          <p:nvPr/>
        </p:nvSpPr>
        <p:spPr>
          <a:xfrm>
            <a:off x="9783897" y="2587751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3" name="Picture 17462" descr="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2339" y="2660903"/>
            <a:ext cx="146304" cy="146304"/>
          </a:xfrm>
          <a:prstGeom prst="rect">
            <a:avLst/>
          </a:prstGeom>
        </p:spPr>
      </p:pic>
      <p:sp>
        <p:nvSpPr>
          <p:cNvPr id="17464" name="Rounded Rectangle 17463"/>
          <p:cNvSpPr/>
          <p:nvPr/>
        </p:nvSpPr>
        <p:spPr>
          <a:xfrm>
            <a:off x="10463662" y="2587751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5" name="Picture 17464" descr="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2104" y="2660903"/>
            <a:ext cx="146304" cy="146304"/>
          </a:xfrm>
          <a:prstGeom prst="rect">
            <a:avLst/>
          </a:prstGeom>
        </p:spPr>
      </p:pic>
      <p:sp>
        <p:nvSpPr>
          <p:cNvPr id="17466" name="Rounded Rectangle 17465"/>
          <p:cNvSpPr/>
          <p:nvPr/>
        </p:nvSpPr>
        <p:spPr>
          <a:xfrm>
            <a:off x="11143427" y="2587751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7" name="Picture 17466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8153" y="2647187"/>
            <a:ext cx="173736" cy="173736"/>
          </a:xfrm>
          <a:prstGeom prst="rect">
            <a:avLst/>
          </a:prstGeom>
        </p:spPr>
      </p:pic>
      <p:sp>
        <p:nvSpPr>
          <p:cNvPr id="17468" name="Rounded Rectangle 17467"/>
          <p:cNvSpPr/>
          <p:nvPr/>
        </p:nvSpPr>
        <p:spPr>
          <a:xfrm>
            <a:off x="8046720" y="2916935"/>
            <a:ext cx="1700601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69" name="TextBox 17468"/>
          <p:cNvSpPr txBox="1"/>
          <p:nvPr/>
        </p:nvSpPr>
        <p:spPr>
          <a:xfrm>
            <a:off x="8138160" y="2962655"/>
            <a:ext cx="151772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Scored per terrain</a:t>
            </a:r>
          </a:p>
        </p:txBody>
      </p:sp>
      <p:sp>
        <p:nvSpPr>
          <p:cNvPr id="17470" name="Rounded Rectangle 17469"/>
          <p:cNvSpPr/>
          <p:nvPr/>
        </p:nvSpPr>
        <p:spPr>
          <a:xfrm>
            <a:off x="9783897" y="2916935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71" name="Picture 17470" descr="minu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32339" y="2990087"/>
            <a:ext cx="146304" cy="146304"/>
          </a:xfrm>
          <a:prstGeom prst="rect">
            <a:avLst/>
          </a:prstGeom>
        </p:spPr>
      </p:pic>
      <p:sp>
        <p:nvSpPr>
          <p:cNvPr id="17472" name="Rounded Rectangle 17471"/>
          <p:cNvSpPr/>
          <p:nvPr/>
        </p:nvSpPr>
        <p:spPr>
          <a:xfrm>
            <a:off x="10463662" y="2916935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73" name="Picture 17472" descr="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2104" y="2990087"/>
            <a:ext cx="146304" cy="146304"/>
          </a:xfrm>
          <a:prstGeom prst="rect">
            <a:avLst/>
          </a:prstGeom>
        </p:spPr>
      </p:pic>
      <p:sp>
        <p:nvSpPr>
          <p:cNvPr id="17474" name="Rounded Rectangle 17473"/>
          <p:cNvSpPr/>
          <p:nvPr/>
        </p:nvSpPr>
        <p:spPr>
          <a:xfrm>
            <a:off x="11143427" y="2916935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75" name="Picture 17474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8153" y="2976371"/>
            <a:ext cx="173736" cy="173736"/>
          </a:xfrm>
          <a:prstGeom prst="rect">
            <a:avLst/>
          </a:prstGeom>
        </p:spPr>
      </p:pic>
      <p:sp>
        <p:nvSpPr>
          <p:cNvPr id="17476" name="Rounded Rectangle 17475"/>
          <p:cNvSpPr/>
          <p:nvPr/>
        </p:nvSpPr>
        <p:spPr>
          <a:xfrm>
            <a:off x="8046720" y="3246119"/>
            <a:ext cx="1700601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77" name="TextBox 17476"/>
          <p:cNvSpPr txBox="1"/>
          <p:nvPr/>
        </p:nvSpPr>
        <p:spPr>
          <a:xfrm>
            <a:off x="8138160" y="3291839"/>
            <a:ext cx="151772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Runs with no GPU</a:t>
            </a:r>
          </a:p>
        </p:txBody>
      </p:sp>
      <p:sp>
        <p:nvSpPr>
          <p:cNvPr id="17478" name="Rounded Rectangle 17477"/>
          <p:cNvSpPr/>
          <p:nvPr/>
        </p:nvSpPr>
        <p:spPr>
          <a:xfrm>
            <a:off x="9783897" y="3246119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79" name="Picture 17478" descr="minu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32339" y="3319271"/>
            <a:ext cx="146304" cy="146304"/>
          </a:xfrm>
          <a:prstGeom prst="rect">
            <a:avLst/>
          </a:prstGeom>
        </p:spPr>
      </p:pic>
      <p:sp>
        <p:nvSpPr>
          <p:cNvPr id="17480" name="Rounded Rectangle 17479"/>
          <p:cNvSpPr/>
          <p:nvPr/>
        </p:nvSpPr>
        <p:spPr>
          <a:xfrm>
            <a:off x="10463662" y="3246119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81" name="Picture 17480" descr="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2104" y="3319271"/>
            <a:ext cx="146304" cy="146304"/>
          </a:xfrm>
          <a:prstGeom prst="rect">
            <a:avLst/>
          </a:prstGeom>
        </p:spPr>
      </p:pic>
      <p:sp>
        <p:nvSpPr>
          <p:cNvPr id="17482" name="Rounded Rectangle 17481"/>
          <p:cNvSpPr/>
          <p:nvPr/>
        </p:nvSpPr>
        <p:spPr>
          <a:xfrm>
            <a:off x="11143427" y="3246119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83" name="Picture 17482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8153" y="3305555"/>
            <a:ext cx="173736" cy="173736"/>
          </a:xfrm>
          <a:prstGeom prst="rect">
            <a:avLst/>
          </a:prstGeom>
        </p:spPr>
      </p:pic>
      <p:sp>
        <p:nvSpPr>
          <p:cNvPr id="17484" name="Rounded Rectangle 17483"/>
          <p:cNvSpPr/>
          <p:nvPr/>
        </p:nvSpPr>
        <p:spPr>
          <a:xfrm>
            <a:off x="8046720" y="3575303"/>
            <a:ext cx="1700601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85" name="TextBox 17484"/>
          <p:cNvSpPr txBox="1"/>
          <p:nvPr/>
        </p:nvSpPr>
        <p:spPr>
          <a:xfrm>
            <a:off x="8138160" y="3621023"/>
            <a:ext cx="151772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3D viewer shipped</a:t>
            </a:r>
          </a:p>
        </p:txBody>
      </p:sp>
      <p:sp>
        <p:nvSpPr>
          <p:cNvPr id="17486" name="Rounded Rectangle 17485"/>
          <p:cNvSpPr/>
          <p:nvPr/>
        </p:nvSpPr>
        <p:spPr>
          <a:xfrm>
            <a:off x="9783897" y="3575303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87" name="Picture 17486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32339" y="3648455"/>
            <a:ext cx="146304" cy="146304"/>
          </a:xfrm>
          <a:prstGeom prst="rect">
            <a:avLst/>
          </a:prstGeom>
        </p:spPr>
      </p:pic>
      <p:sp>
        <p:nvSpPr>
          <p:cNvPr id="17488" name="Rounded Rectangle 17487"/>
          <p:cNvSpPr/>
          <p:nvPr/>
        </p:nvSpPr>
        <p:spPr>
          <a:xfrm>
            <a:off x="10463662" y="3575303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89" name="Picture 17488" descr="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2104" y="3648455"/>
            <a:ext cx="146304" cy="146304"/>
          </a:xfrm>
          <a:prstGeom prst="rect">
            <a:avLst/>
          </a:prstGeom>
        </p:spPr>
      </p:pic>
      <p:sp>
        <p:nvSpPr>
          <p:cNvPr id="17490" name="Rounded Rectangle 17489"/>
          <p:cNvSpPr/>
          <p:nvPr/>
        </p:nvSpPr>
        <p:spPr>
          <a:xfrm>
            <a:off x="11143427" y="3575303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91" name="Picture 17490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8153" y="3634739"/>
            <a:ext cx="173736" cy="173736"/>
          </a:xfrm>
          <a:prstGeom prst="rect">
            <a:avLst/>
          </a:prstGeom>
        </p:spPr>
      </p:pic>
      <p:sp>
        <p:nvSpPr>
          <p:cNvPr id="17492" name="Rounded Rectangle 17491"/>
          <p:cNvSpPr/>
          <p:nvPr/>
        </p:nvSpPr>
        <p:spPr>
          <a:xfrm>
            <a:off x="8046720" y="3904487"/>
            <a:ext cx="1700601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93" name="TextBox 17492"/>
          <p:cNvSpPr txBox="1"/>
          <p:nvPr/>
        </p:nvSpPr>
        <p:spPr>
          <a:xfrm>
            <a:off x="8138160" y="3950207"/>
            <a:ext cx="151772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6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Failure modes published</a:t>
            </a:r>
          </a:p>
        </p:txBody>
      </p:sp>
      <p:sp>
        <p:nvSpPr>
          <p:cNvPr id="17494" name="Rounded Rectangle 17493"/>
          <p:cNvSpPr/>
          <p:nvPr/>
        </p:nvSpPr>
        <p:spPr>
          <a:xfrm>
            <a:off x="9783897" y="3904487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95" name="Picture 17494" descr="minu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32339" y="3977639"/>
            <a:ext cx="146304" cy="146304"/>
          </a:xfrm>
          <a:prstGeom prst="rect">
            <a:avLst/>
          </a:prstGeom>
        </p:spPr>
      </p:pic>
      <p:sp>
        <p:nvSpPr>
          <p:cNvPr id="17496" name="Rounded Rectangle 17495"/>
          <p:cNvSpPr/>
          <p:nvPr/>
        </p:nvSpPr>
        <p:spPr>
          <a:xfrm>
            <a:off x="10463662" y="3904487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97" name="Picture 17496" descr="minu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12104" y="3977639"/>
            <a:ext cx="146304" cy="146304"/>
          </a:xfrm>
          <a:prstGeom prst="rect">
            <a:avLst/>
          </a:prstGeom>
        </p:spPr>
      </p:pic>
      <p:sp>
        <p:nvSpPr>
          <p:cNvPr id="17498" name="Rounded Rectangle 17497"/>
          <p:cNvSpPr/>
          <p:nvPr/>
        </p:nvSpPr>
        <p:spPr>
          <a:xfrm>
            <a:off x="11143427" y="3904487"/>
            <a:ext cx="643188" cy="292608"/>
          </a:xfrm>
          <a:prstGeom prst="roundRect">
            <a:avLst>
              <a:gd name="adj" fmla="val 12500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99" name="Picture 17498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8153" y="3963924"/>
            <a:ext cx="173736" cy="173736"/>
          </a:xfrm>
          <a:prstGeom prst="rect">
            <a:avLst/>
          </a:prstGeom>
        </p:spPr>
      </p:pic>
      <p:pic>
        <p:nvPicPr>
          <p:cNvPr id="17500" name="Picture 17499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7867" y="4274820"/>
            <a:ext cx="155448" cy="155448"/>
          </a:xfrm>
          <a:prstGeom prst="rect">
            <a:avLst/>
          </a:prstGeom>
        </p:spPr>
      </p:pic>
      <p:sp>
        <p:nvSpPr>
          <p:cNvPr id="17501" name="TextBox 17500"/>
          <p:cNvSpPr txBox="1"/>
          <p:nvPr/>
        </p:nvSpPr>
        <p:spPr>
          <a:xfrm>
            <a:off x="8284464" y="4261104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yes</a:t>
            </a:r>
          </a:p>
        </p:txBody>
      </p:sp>
      <p:pic>
        <p:nvPicPr>
          <p:cNvPr id="17502" name="Picture 17501" descr="minu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32850" y="4274820"/>
            <a:ext cx="155448" cy="155448"/>
          </a:xfrm>
          <a:prstGeom prst="rect">
            <a:avLst/>
          </a:prstGeom>
        </p:spPr>
      </p:pic>
      <p:sp>
        <p:nvSpPr>
          <p:cNvPr id="17503" name="TextBox 17502"/>
          <p:cNvSpPr txBox="1"/>
          <p:nvPr/>
        </p:nvSpPr>
        <p:spPr>
          <a:xfrm>
            <a:off x="8829446" y="4261104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partial</a:t>
            </a:r>
          </a:p>
        </p:txBody>
      </p:sp>
      <p:pic>
        <p:nvPicPr>
          <p:cNvPr id="17504" name="Picture 17503" descr="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68028" y="4274820"/>
            <a:ext cx="155448" cy="155448"/>
          </a:xfrm>
          <a:prstGeom prst="rect">
            <a:avLst/>
          </a:prstGeom>
        </p:spPr>
      </p:pic>
      <p:sp>
        <p:nvSpPr>
          <p:cNvPr id="17505" name="TextBox 17504"/>
          <p:cNvSpPr txBox="1"/>
          <p:nvPr/>
        </p:nvSpPr>
        <p:spPr>
          <a:xfrm>
            <a:off x="9564624" y="4261104"/>
            <a:ext cx="11887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60" b="0" i="0">
                <a:solidFill>
                  <a:srgbClr val="55636E"/>
                </a:solidFill>
                <a:latin typeface="Segoe UI"/>
              </a:rPr>
              <a:t>no</a:t>
            </a:r>
          </a:p>
        </p:txBody>
      </p:sp>
      <p:sp>
        <p:nvSpPr>
          <p:cNvPr id="17506" name="TextBox 17505"/>
          <p:cNvSpPr txBox="1"/>
          <p:nvPr/>
        </p:nvSpPr>
        <p:spPr>
          <a:xfrm>
            <a:off x="8101584" y="4489704"/>
            <a:ext cx="366674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40" b="1" i="0">
                <a:solidFill>
                  <a:srgbClr val="141B22"/>
                </a:solidFill>
                <a:latin typeface="Segoe UI Semibold"/>
              </a:rPr>
              <a:t>Two rows the alternatives win. </a:t>
            </a:r>
            <a:r>
              <a:rPr sz="840" b="0" i="0">
                <a:solidFill>
                  <a:srgbClr val="2A3540"/>
                </a:solidFill>
                <a:latin typeface="Segoe UI"/>
              </a:rPr>
              <a:t>A stereo survey gives absolute height directly and ships mature viewers — the table is only useful to a panel if the rows we lose are still in it.</a:t>
            </a:r>
          </a:p>
        </p:txBody>
      </p:sp>
      <p:sp>
        <p:nvSpPr>
          <p:cNvPr id="17507" name="Rounded Rectangle 17506"/>
          <p:cNvSpPr/>
          <p:nvPr/>
        </p:nvSpPr>
        <p:spPr>
          <a:xfrm>
            <a:off x="8046720" y="4965192"/>
            <a:ext cx="3776471" cy="274320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EVIDENCE BEHIND EVERY NUMBER</a:t>
            </a:r>
          </a:p>
        </p:txBody>
      </p:sp>
      <p:sp>
        <p:nvSpPr>
          <p:cNvPr id="17508" name="TextBox 17507"/>
          <p:cNvSpPr txBox="1"/>
          <p:nvPr/>
        </p:nvSpPr>
        <p:spPr>
          <a:xfrm>
            <a:off x="8101584" y="5294376"/>
            <a:ext cx="2715767" cy="9875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90" b="0" i="0">
                <a:solidFill>
                  <a:srgbClr val="141B22"/>
                </a:solidFill>
                <a:latin typeface="Segoe UI Semibold"/>
              </a:rPr>
              <a:t>Slide 7 is our preliminary work. </a:t>
            </a:r>
            <a:r>
              <a:rPr sz="890" b="0" i="0">
                <a:solidFill>
                  <a:srgbClr val="2A3540"/>
                </a:solidFill>
                <a:latin typeface="Segoe UI"/>
              </a:rPr>
              <a:t>Each figure on it regenerates from the evidence pack in the repository, and the documentation site walks through data, training, evaluation and failures in full.</a:t>
            </a:r>
          </a:p>
        </p:txBody>
      </p:sp>
      <p:pic>
        <p:nvPicPr>
          <p:cNvPr id="17509" name="Picture 17508" descr="pitch_qr.png">
            <a:hlinkClick r:id="rId8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81944" y="5312664"/>
            <a:ext cx="841248" cy="841248"/>
          </a:xfrm>
          <a:prstGeom prst="rect">
            <a:avLst/>
          </a:prstGeom>
        </p:spPr>
      </p:pic>
      <p:sp>
        <p:nvSpPr>
          <p:cNvPr id="17510" name="TextBox 17509"/>
          <p:cNvSpPr txBox="1"/>
          <p:nvPr/>
        </p:nvSpPr>
        <p:spPr>
          <a:xfrm>
            <a:off x="10799064" y="6163055"/>
            <a:ext cx="120700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40" b="0" i="0">
                <a:solidFill>
                  <a:srgbClr val="55636E"/>
                </a:solidFill>
                <a:latin typeface="Segoe UI Semibold"/>
              </a:rPr>
              <a:t>Scan: pitch video</a:t>
            </a:r>
          </a:p>
        </p:txBody>
      </p:sp>
      <p:sp>
        <p:nvSpPr>
          <p:cNvPr id="17511" name="TextBox 17510"/>
          <p:cNvSpPr txBox="1"/>
          <p:nvPr/>
        </p:nvSpPr>
        <p:spPr>
          <a:xfrm>
            <a:off x="8046720" y="6190488"/>
            <a:ext cx="3776471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00" b="0" i="0">
                <a:solidFill>
                  <a:srgbClr val="C1440E"/>
                </a:solidFill>
                <a:latin typeface="Franklin Gothic Demi Cond"/>
              </a:rPr>
              <a:t>Live  </a:t>
            </a:r>
            <a:r>
              <a:rPr sz="780" b="0" i="0">
                <a:solidFill>
                  <a:srgbClr val="2E6E92"/>
                </a:solidFill>
                <a:latin typeface="Segoe UI Semibold"/>
                <a:hlinkClick r:id="rId9"/>
              </a:rPr>
              <a:t>project5.zaidansari.tech</a:t>
            </a:r>
          </a:p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00" b="0" i="0">
                <a:solidFill>
                  <a:srgbClr val="C1440E"/>
                </a:solidFill>
                <a:latin typeface="Franklin Gothic Demi Cond"/>
              </a:rPr>
              <a:t>Docs  </a:t>
            </a:r>
            <a:r>
              <a:rPr sz="780" b="0" i="0">
                <a:solidFill>
                  <a:srgbClr val="2E6E92"/>
                </a:solidFill>
                <a:latin typeface="Segoe UI Semibold"/>
                <a:hlinkClick r:id="rId10"/>
              </a:rPr>
              <a:t>project5.zaidansari.tech/documentation</a:t>
            </a:r>
          </a:p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900" b="0" i="0">
                <a:solidFill>
                  <a:srgbClr val="C1440E"/>
                </a:solidFill>
                <a:latin typeface="Franklin Gothic Demi Cond"/>
              </a:rPr>
              <a:t>Evidence  </a:t>
            </a:r>
            <a:r>
              <a:rPr sz="780" b="0" i="0">
                <a:solidFill>
                  <a:srgbClr val="2E6E92"/>
                </a:solidFill>
                <a:latin typeface="Segoe UI Semibold"/>
                <a:hlinkClick r:id="rId11"/>
              </a:rPr>
              <a:t>github.com/…/sih2026-depthwizard/docs/evidence-pack.md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601968"/>
            <a:ext cx="12191999" cy="256032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PRELIMINARY WORK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737600" y="6601968"/>
            <a:ext cx="2844800" cy="256032"/>
          </a:xfrm>
        </p:spPr>
        <p:txBody>
          <a:bodyPr anchor="ctr"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Dev Up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365760" y="1115568"/>
            <a:ext cx="2782062" cy="749808"/>
          </a:xfrm>
          <a:prstGeom prst="roundRect">
            <a:avLst>
              <a:gd name="adj" fmla="val 8536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1" name="TextBox 17410"/>
          <p:cNvSpPr txBox="1"/>
          <p:nvPr/>
        </p:nvSpPr>
        <p:spPr>
          <a:xfrm>
            <a:off x="512064" y="1197864"/>
            <a:ext cx="252603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D89E3C"/>
                </a:solidFill>
                <a:latin typeface="Franklin Gothic Demi"/>
              </a:rPr>
              <a:t>3.464</a:t>
            </a:r>
            <a:r>
              <a:rPr sz="1100" b="0" i="0">
                <a:solidFill>
                  <a:srgbClr val="D89E3C"/>
                </a:solidFill>
                <a:latin typeface="Franklin Gothic Demi"/>
              </a:rPr>
              <a:t> m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512064" y="1536192"/>
            <a:ext cx="2526030" cy="2926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C4D3DE"/>
                </a:solidFill>
                <a:latin typeface="Segoe UI"/>
              </a:rPr>
              <a:t>per-building RMSE vs airborne LiDAR;
5.9 m published for Asia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257550" y="1115568"/>
            <a:ext cx="2782062" cy="749808"/>
          </a:xfrm>
          <a:prstGeom prst="roundRect">
            <a:avLst>
              <a:gd name="adj" fmla="val 8536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4" name="TextBox 17413"/>
          <p:cNvSpPr txBox="1"/>
          <p:nvPr/>
        </p:nvSpPr>
        <p:spPr>
          <a:xfrm>
            <a:off x="3403854" y="1197864"/>
            <a:ext cx="252603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D89E3C"/>
                </a:solidFill>
                <a:latin typeface="Franklin Gothic Demi"/>
              </a:rPr>
              <a:t>6.008</a:t>
            </a:r>
            <a:r>
              <a:rPr sz="1100" b="0" i="0">
                <a:solidFill>
                  <a:srgbClr val="D89E3C"/>
                </a:solidFill>
                <a:latin typeface="Franklin Gothic Demi"/>
              </a:rPr>
              <a:t> m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3403854" y="1536192"/>
            <a:ext cx="2526030" cy="2926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C4D3DE"/>
                </a:solidFill>
                <a:latin typeface="Segoe UI"/>
              </a:rPr>
              <a:t>whole-tile RMSE on 80 held-out
tiles from unseen regions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6149340" y="1115568"/>
            <a:ext cx="2782062" cy="749808"/>
          </a:xfrm>
          <a:prstGeom prst="roundRect">
            <a:avLst>
              <a:gd name="adj" fmla="val 8536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17" name="TextBox 17416"/>
          <p:cNvSpPr txBox="1"/>
          <p:nvPr/>
        </p:nvSpPr>
        <p:spPr>
          <a:xfrm>
            <a:off x="6295644" y="1197864"/>
            <a:ext cx="252603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D89E3C"/>
                </a:solidFill>
                <a:latin typeface="Franklin Gothic Demi"/>
              </a:rPr>
              <a:t>0.063</a:t>
            </a:r>
            <a:r>
              <a:rPr sz="1100" b="0" i="0">
                <a:solidFill>
                  <a:srgbClr val="D89E3C"/>
                </a:solidFill>
                <a:latin typeface="Franklin Gothic Demi"/>
              </a:rPr>
              <a:t/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6295644" y="1536192"/>
            <a:ext cx="2526030" cy="2926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C4D3DE"/>
                </a:solidFill>
                <a:latin typeface="Segoe UI"/>
              </a:rPr>
              <a:t>calibration error of the per-pixel
uncertainty (ECE)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9041130" y="1115568"/>
            <a:ext cx="2782062" cy="749808"/>
          </a:xfrm>
          <a:prstGeom prst="roundRect">
            <a:avLst>
              <a:gd name="adj" fmla="val 8536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20" name="TextBox 17419"/>
          <p:cNvSpPr txBox="1"/>
          <p:nvPr/>
        </p:nvSpPr>
        <p:spPr>
          <a:xfrm>
            <a:off x="9187434" y="1197864"/>
            <a:ext cx="252603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2400" b="0" i="0">
                <a:solidFill>
                  <a:srgbClr val="C1440E"/>
                </a:solidFill>
                <a:latin typeface="Franklin Gothic Demi"/>
              </a:rPr>
              <a:t>+15</a:t>
            </a:r>
            <a:r>
              <a:rPr sz="1100" b="0" i="0">
                <a:solidFill>
                  <a:srgbClr val="C1440E"/>
                </a:solidFill>
                <a:latin typeface="Franklin Gothic Demi"/>
              </a:rPr>
              <a:t> %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9187434" y="1536192"/>
            <a:ext cx="2526030" cy="29260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8000"/>
              </a:lnSpc>
              <a:spcAft>
                <a:spcPts val="0"/>
              </a:spcAft>
            </a:pPr>
            <a:r>
              <a:rPr sz="860" b="0" i="0">
                <a:solidFill>
                  <a:srgbClr val="C4D3DE"/>
                </a:solidFill>
                <a:latin typeface="Segoe UI"/>
              </a:rPr>
              <a:t>per-building error at ISRO's 0.6 m,
after auto-zoom (80 tiles)</a:t>
            </a:r>
          </a:p>
        </p:txBody>
      </p:sp>
      <p:sp>
        <p:nvSpPr>
          <p:cNvPr id="17422" name="Rounded Rectangle 17421"/>
          <p:cNvSpPr/>
          <p:nvPr/>
        </p:nvSpPr>
        <p:spPr>
          <a:xfrm>
            <a:off x="365760" y="1956816"/>
            <a:ext cx="5577840" cy="274320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ACCURACY ACROSS THE FOUR LANDSCAPES ISRO NAMES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365760" y="2286000"/>
            <a:ext cx="5577840" cy="1975104"/>
          </a:xfrm>
          <a:prstGeom prst="roundRect">
            <a:avLst>
              <a:gd name="adj" fmla="val 4629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24" name="Picture 17423" descr="terrain_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350008"/>
            <a:ext cx="3072384" cy="1847088"/>
          </a:xfrm>
          <a:prstGeom prst="rect">
            <a:avLst/>
          </a:prstGeom>
        </p:spPr>
      </p:pic>
      <p:sp>
        <p:nvSpPr>
          <p:cNvPr id="17425" name="TextBox 17424"/>
          <p:cNvSpPr txBox="1"/>
          <p:nvPr/>
        </p:nvSpPr>
        <p:spPr>
          <a:xfrm>
            <a:off x="3621024" y="2377440"/>
            <a:ext cx="2194559" cy="18105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00" b="0" i="0">
                <a:solidFill>
                  <a:srgbClr val="141B22"/>
                </a:solidFill>
                <a:latin typeface="Segoe UI Semibold"/>
              </a:rPr>
              <a:t>Three of four classes at or under 3.3 m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, correlation never below +0.77. Urban is one specific thing: the buildings above 20 m.
</a:t>
            </a:r>
            <a:r>
              <a:rPr sz="900" b="0" i="0">
                <a:solidFill>
                  <a:srgbClr val="141B22"/>
                </a:solidFill>
                <a:latin typeface="Segoe UI Semibold"/>
              </a:rPr>
              <a:t>Hilly: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DFC2019 has no hills, so Sikkim is a cross-check, not a score.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365760" y="4352544"/>
            <a:ext cx="5577840" cy="274320"/>
          </a:xfrm>
          <a:prstGeom prst="roundRect">
            <a:avLst>
              <a:gd name="adj" fmla="val 50000"/>
            </a:avLst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WHERE THE ERROR LIVES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365760" y="4681728"/>
            <a:ext cx="5577840" cy="1847088"/>
          </a:xfrm>
          <a:prstGeom prst="roundRect">
            <a:avLst>
              <a:gd name="adj" fmla="val 4950"/>
            </a:avLst>
          </a:prstGeom>
          <a:solidFill>
            <a:srgbClr val="F7FAFC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28" name="Picture 17427" descr="error_by_height_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745736"/>
            <a:ext cx="3072384" cy="1719072"/>
          </a:xfrm>
          <a:prstGeom prst="rect">
            <a:avLst/>
          </a:prstGeom>
        </p:spPr>
      </p:pic>
      <p:sp>
        <p:nvSpPr>
          <p:cNvPr id="17429" name="TextBox 17428"/>
          <p:cNvSpPr txBox="1"/>
          <p:nvPr/>
        </p:nvSpPr>
        <p:spPr>
          <a:xfrm>
            <a:off x="3657600" y="4773168"/>
            <a:ext cx="2157983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0"/>
              </a:spcAft>
            </a:pPr>
            <a:r>
              <a:rPr sz="900" b="0" i="0">
                <a:solidFill>
                  <a:srgbClr val="C1440E"/>
                </a:solidFill>
                <a:latin typeface="Segoe UI Semibold"/>
              </a:rPr>
              <a:t>77% of squared error comes from 1.9% of buildings.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 Under 10 m, 94% of the stock, we are at 1.4 m. </a:t>
            </a:r>
            <a:r>
              <a:rPr sz="900" b="0" i="0">
                <a:solidFill>
                  <a:srgbClr val="141B22"/>
                </a:solidFill>
                <a:latin typeface="Segoe UI Semibold"/>
              </a:rPr>
              <a:t>Above 20 m we under-call by 15.6 m; </a:t>
            </a:r>
            <a:r>
              <a:rPr sz="900" b="0" i="0">
                <a:solidFill>
                  <a:srgbClr val="2A3540"/>
                </a:solidFill>
                <a:latin typeface="Segoe UI"/>
              </a:rPr>
              <a:t>we pre-registered −13 m and missed it.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6272784" y="1956816"/>
            <a:ext cx="5550407" cy="274320"/>
          </a:xfrm>
          <a:prstGeom prst="roundRect">
            <a:avLst>
              <a:gd name="adj" fmla="val 50000"/>
            </a:avLst>
          </a:prstGeom>
          <a:solidFill>
            <a:srgbClr val="0E2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ISRO'S 0.6 M CARTOSAT-2S, SIMULATED ON THE SHIPPED MODEL</a:t>
            </a:r>
          </a:p>
        </p:txBody>
      </p:sp>
      <p:sp>
        <p:nvSpPr>
          <p:cNvPr id="17431" name="Rounded Rectangle 17430"/>
          <p:cNvSpPr/>
          <p:nvPr/>
        </p:nvSpPr>
        <p:spPr>
          <a:xfrm>
            <a:off x="6272784" y="2286000"/>
            <a:ext cx="1627632" cy="237744"/>
          </a:xfrm>
          <a:prstGeom prst="roundRect">
            <a:avLst>
              <a:gd name="adj" fmla="val 15384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INPUT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7973568" y="2286000"/>
            <a:ext cx="1243584" cy="237744"/>
          </a:xfrm>
          <a:prstGeom prst="roundRect">
            <a:avLst>
              <a:gd name="adj" fmla="val 15384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PER BUILDING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9290304" y="2286000"/>
            <a:ext cx="1243584" cy="237744"/>
          </a:xfrm>
          <a:prstGeom prst="roundRect">
            <a:avLst>
              <a:gd name="adj" fmla="val 15384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BUILDINGS ≤ 20 M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10607040" y="2286000"/>
            <a:ext cx="1179575" cy="237744"/>
          </a:xfrm>
          <a:prstGeom prst="roundRect">
            <a:avLst>
              <a:gd name="adj" fmla="val 15384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60" b="0" i="0">
                <a:solidFill>
                  <a:srgbClr val="FFFFFF"/>
                </a:solidFill>
                <a:latin typeface="Franklin Gothic Demi Cond"/>
              </a:rPr>
              <a:t>WHOLE TILE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6272784" y="2560320"/>
            <a:ext cx="1627632" cy="237744"/>
          </a:xfrm>
          <a:prstGeom prst="roundRect">
            <a:avLst>
              <a:gd name="adj" fmla="val 15384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6" name="TextBox 17435"/>
          <p:cNvSpPr txBox="1"/>
          <p:nvPr/>
        </p:nvSpPr>
        <p:spPr>
          <a:xfrm>
            <a:off x="6345936" y="2587751"/>
            <a:ext cx="15179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 Semibold"/>
              </a:rPr>
              <a:t>0.3 m, native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7973568" y="2560320"/>
            <a:ext cx="1243584" cy="237744"/>
          </a:xfrm>
          <a:prstGeom prst="roundRect">
            <a:avLst>
              <a:gd name="adj" fmla="val 15384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38" name="TextBox 17437"/>
          <p:cNvSpPr txBox="1"/>
          <p:nvPr/>
        </p:nvSpPr>
        <p:spPr>
          <a:xfrm>
            <a:off x="8046720" y="2587751"/>
            <a:ext cx="113385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3.464 m</a:t>
            </a:r>
          </a:p>
        </p:txBody>
      </p:sp>
      <p:sp>
        <p:nvSpPr>
          <p:cNvPr id="17439" name="Rounded Rectangle 17438"/>
          <p:cNvSpPr/>
          <p:nvPr/>
        </p:nvSpPr>
        <p:spPr>
          <a:xfrm>
            <a:off x="9290304" y="2560320"/>
            <a:ext cx="1243584" cy="237744"/>
          </a:xfrm>
          <a:prstGeom prst="roundRect">
            <a:avLst>
              <a:gd name="adj" fmla="val 15384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0" name="TextBox 17439"/>
          <p:cNvSpPr txBox="1"/>
          <p:nvPr/>
        </p:nvSpPr>
        <p:spPr>
          <a:xfrm>
            <a:off x="9363456" y="2587751"/>
            <a:ext cx="113385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1.667 m</a:t>
            </a:r>
          </a:p>
        </p:txBody>
      </p:sp>
      <p:sp>
        <p:nvSpPr>
          <p:cNvPr id="17441" name="Rounded Rectangle 17440"/>
          <p:cNvSpPr/>
          <p:nvPr/>
        </p:nvSpPr>
        <p:spPr>
          <a:xfrm>
            <a:off x="10607040" y="2560320"/>
            <a:ext cx="1179575" cy="237744"/>
          </a:xfrm>
          <a:prstGeom prst="roundRect">
            <a:avLst>
              <a:gd name="adj" fmla="val 15384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2" name="TextBox 17441"/>
          <p:cNvSpPr txBox="1"/>
          <p:nvPr/>
        </p:nvSpPr>
        <p:spPr>
          <a:xfrm>
            <a:off x="10680192" y="2587751"/>
            <a:ext cx="106984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6.008 m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6272784" y="2834639"/>
            <a:ext cx="1627632" cy="237744"/>
          </a:xfrm>
          <a:prstGeom prst="roundRect">
            <a:avLst>
              <a:gd name="adj" fmla="val 15384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4" name="TextBox 17443"/>
          <p:cNvSpPr txBox="1"/>
          <p:nvPr/>
        </p:nvSpPr>
        <p:spPr>
          <a:xfrm>
            <a:off x="6345936" y="2862071"/>
            <a:ext cx="15179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 Semibold"/>
              </a:rPr>
              <a:t>0.6 m, untreated</a:t>
            </a:r>
          </a:p>
        </p:txBody>
      </p:sp>
      <p:sp>
        <p:nvSpPr>
          <p:cNvPr id="17445" name="Rounded Rectangle 17444"/>
          <p:cNvSpPr/>
          <p:nvPr/>
        </p:nvSpPr>
        <p:spPr>
          <a:xfrm>
            <a:off x="7973568" y="2834639"/>
            <a:ext cx="1243584" cy="237744"/>
          </a:xfrm>
          <a:prstGeom prst="roundRect">
            <a:avLst>
              <a:gd name="adj" fmla="val 15384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6" name="TextBox 17445"/>
          <p:cNvSpPr txBox="1"/>
          <p:nvPr/>
        </p:nvSpPr>
        <p:spPr>
          <a:xfrm>
            <a:off x="8046720" y="2862071"/>
            <a:ext cx="113385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4.185 m</a:t>
            </a:r>
          </a:p>
        </p:txBody>
      </p:sp>
      <p:sp>
        <p:nvSpPr>
          <p:cNvPr id="17447" name="Rounded Rectangle 17446"/>
          <p:cNvSpPr/>
          <p:nvPr/>
        </p:nvSpPr>
        <p:spPr>
          <a:xfrm>
            <a:off x="9290304" y="2834639"/>
            <a:ext cx="1243584" cy="237744"/>
          </a:xfrm>
          <a:prstGeom prst="roundRect">
            <a:avLst>
              <a:gd name="adj" fmla="val 15384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48" name="TextBox 17447"/>
          <p:cNvSpPr txBox="1"/>
          <p:nvPr/>
        </p:nvSpPr>
        <p:spPr>
          <a:xfrm>
            <a:off x="9363456" y="2862071"/>
            <a:ext cx="113385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2.090 m</a:t>
            </a:r>
          </a:p>
        </p:txBody>
      </p:sp>
      <p:sp>
        <p:nvSpPr>
          <p:cNvPr id="17449" name="Rounded Rectangle 17448"/>
          <p:cNvSpPr/>
          <p:nvPr/>
        </p:nvSpPr>
        <p:spPr>
          <a:xfrm>
            <a:off x="10607040" y="2834639"/>
            <a:ext cx="1179575" cy="237744"/>
          </a:xfrm>
          <a:prstGeom prst="roundRect">
            <a:avLst>
              <a:gd name="adj" fmla="val 15384"/>
            </a:avLst>
          </a:prstGeom>
          <a:solidFill>
            <a:srgbClr val="EC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0" name="TextBox 17449"/>
          <p:cNvSpPr txBox="1"/>
          <p:nvPr/>
        </p:nvSpPr>
        <p:spPr>
          <a:xfrm>
            <a:off x="10680192" y="2862071"/>
            <a:ext cx="106984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"/>
              </a:rPr>
              <a:t>6.738 m</a:t>
            </a:r>
          </a:p>
        </p:txBody>
      </p:sp>
      <p:sp>
        <p:nvSpPr>
          <p:cNvPr id="17451" name="Rounded Rectangle 17450"/>
          <p:cNvSpPr/>
          <p:nvPr/>
        </p:nvSpPr>
        <p:spPr>
          <a:xfrm>
            <a:off x="6272784" y="3108959"/>
            <a:ext cx="1627632" cy="237744"/>
          </a:xfrm>
          <a:prstGeom prst="roundRect">
            <a:avLst>
              <a:gd name="adj" fmla="val 15384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2" name="TextBox 17451"/>
          <p:cNvSpPr txBox="1"/>
          <p:nvPr/>
        </p:nvSpPr>
        <p:spPr>
          <a:xfrm>
            <a:off x="6345936" y="3136391"/>
            <a:ext cx="15179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 Semibold"/>
              </a:rPr>
              <a:t>0.6 m, auto-zoom</a:t>
            </a:r>
          </a:p>
        </p:txBody>
      </p:sp>
      <p:sp>
        <p:nvSpPr>
          <p:cNvPr id="17453" name="Rounded Rectangle 17452"/>
          <p:cNvSpPr/>
          <p:nvPr/>
        </p:nvSpPr>
        <p:spPr>
          <a:xfrm>
            <a:off x="7973568" y="3108959"/>
            <a:ext cx="1243584" cy="237744"/>
          </a:xfrm>
          <a:prstGeom prst="roundRect">
            <a:avLst>
              <a:gd name="adj" fmla="val 15384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4" name="TextBox 17453"/>
          <p:cNvSpPr txBox="1"/>
          <p:nvPr/>
        </p:nvSpPr>
        <p:spPr>
          <a:xfrm>
            <a:off x="8046720" y="3136391"/>
            <a:ext cx="113385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 Semibold"/>
              </a:rPr>
              <a:t>3.999 m</a:t>
            </a:r>
          </a:p>
        </p:txBody>
      </p:sp>
      <p:sp>
        <p:nvSpPr>
          <p:cNvPr id="17455" name="Rounded Rectangle 17454"/>
          <p:cNvSpPr/>
          <p:nvPr/>
        </p:nvSpPr>
        <p:spPr>
          <a:xfrm>
            <a:off x="9290304" y="3108959"/>
            <a:ext cx="1243584" cy="237744"/>
          </a:xfrm>
          <a:prstGeom prst="roundRect">
            <a:avLst>
              <a:gd name="adj" fmla="val 15384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6" name="TextBox 17455"/>
          <p:cNvSpPr txBox="1"/>
          <p:nvPr/>
        </p:nvSpPr>
        <p:spPr>
          <a:xfrm>
            <a:off x="9363456" y="3136391"/>
            <a:ext cx="1133856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 Semibold"/>
              </a:rPr>
              <a:t>2.095 m</a:t>
            </a:r>
          </a:p>
        </p:txBody>
      </p:sp>
      <p:sp>
        <p:nvSpPr>
          <p:cNvPr id="17457" name="Rounded Rectangle 17456"/>
          <p:cNvSpPr/>
          <p:nvPr/>
        </p:nvSpPr>
        <p:spPr>
          <a:xfrm>
            <a:off x="10607040" y="3108959"/>
            <a:ext cx="1179575" cy="237744"/>
          </a:xfrm>
          <a:prstGeom prst="roundRect">
            <a:avLst>
              <a:gd name="adj" fmla="val 15384"/>
            </a:avLst>
          </a:prstGeom>
          <a:solidFill>
            <a:srgbClr val="E7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sp>
        <p:nvSpPr>
          <p:cNvPr id="17458" name="TextBox 17457"/>
          <p:cNvSpPr txBox="1"/>
          <p:nvPr/>
        </p:nvSpPr>
        <p:spPr>
          <a:xfrm>
            <a:off x="10680192" y="3136391"/>
            <a:ext cx="1069847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80" b="0" i="0">
                <a:solidFill>
                  <a:srgbClr val="141B22"/>
                </a:solidFill>
                <a:latin typeface="Segoe UI Semibold"/>
              </a:rPr>
              <a:t>6.494 m</a:t>
            </a:r>
          </a:p>
        </p:txBody>
      </p:sp>
      <p:sp>
        <p:nvSpPr>
          <p:cNvPr id="17459" name="TextBox 17458"/>
          <p:cNvSpPr txBox="1"/>
          <p:nvPr/>
        </p:nvSpPr>
        <p:spPr>
          <a:xfrm>
            <a:off x="6272784" y="3401567"/>
            <a:ext cx="5550407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141B22"/>
                </a:solidFill>
                <a:latin typeface="Segoe UI Semibold"/>
              </a:rPr>
              <a:t>Auto-zoom cuts the 0.6 m penalty from +21% to +15%, all on tall buildings; </a:t>
            </a:r>
            <a:r>
              <a:rPr sz="800" b="0" i="0">
                <a:solidFill>
                  <a:srgbClr val="55636E"/>
                </a:solidFill>
                <a:latin typeface="Segoe UI"/>
              </a:rPr>
              <a:t>under 20 m it does not help. We had pre-registered ≤ 10% and missed it. 0.6 m is simulated by downsampling, so this is the resolution gap, not the sensor gap.</a:t>
            </a:r>
          </a:p>
        </p:txBody>
      </p:sp>
      <p:sp>
        <p:nvSpPr>
          <p:cNvPr id="17460" name="Rounded Rectangle 17459"/>
          <p:cNvSpPr/>
          <p:nvPr/>
        </p:nvSpPr>
        <p:spPr>
          <a:xfrm>
            <a:off x="6272784" y="3749039"/>
            <a:ext cx="5550407" cy="274320"/>
          </a:xfrm>
          <a:prstGeom prst="roundRect">
            <a:avLst>
              <a:gd name="adj" fmla="val 50000"/>
            </a:avLst>
          </a:prstGeom>
          <a:solidFill>
            <a:srgbClr val="163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BUILT AND WORKING TODAY</a:t>
            </a:r>
          </a:p>
        </p:txBody>
      </p:sp>
      <p:sp>
        <p:nvSpPr>
          <p:cNvPr id="17461" name="Rounded Rectangle 17460"/>
          <p:cNvSpPr/>
          <p:nvPr/>
        </p:nvSpPr>
        <p:spPr>
          <a:xfrm>
            <a:off x="6272784" y="4078224"/>
            <a:ext cx="2729484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2" name="Picture 17461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5936" y="4178808"/>
            <a:ext cx="164592" cy="164592"/>
          </a:xfrm>
          <a:prstGeom prst="rect">
            <a:avLst/>
          </a:prstGeom>
        </p:spPr>
      </p:pic>
      <p:sp>
        <p:nvSpPr>
          <p:cNvPr id="17463" name="TextBox 17462"/>
          <p:cNvSpPr txBox="1"/>
          <p:nvPr/>
        </p:nvSpPr>
        <p:spPr>
          <a:xfrm>
            <a:off x="6565392" y="4114800"/>
            <a:ext cx="23820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Elevation extraction
</a:t>
            </a:r>
            <a:r>
              <a:rPr sz="780" b="0" i="0">
                <a:solidFill>
                  <a:srgbClr val="2A3540"/>
                </a:solidFill>
                <a:latin typeface="Segoe UI"/>
              </a:rPr>
              <a:t>fine-tuned DA-V2 with a sigma head</a:t>
            </a:r>
          </a:p>
        </p:txBody>
      </p:sp>
      <p:sp>
        <p:nvSpPr>
          <p:cNvPr id="17464" name="Rounded Rectangle 17463"/>
          <p:cNvSpPr/>
          <p:nvPr/>
        </p:nvSpPr>
        <p:spPr>
          <a:xfrm>
            <a:off x="9093708" y="4078224"/>
            <a:ext cx="2729484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5" name="Picture 17464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6860" y="4178808"/>
            <a:ext cx="164592" cy="164592"/>
          </a:xfrm>
          <a:prstGeom prst="rect">
            <a:avLst/>
          </a:prstGeom>
        </p:spPr>
      </p:pic>
      <p:sp>
        <p:nvSpPr>
          <p:cNvPr id="17466" name="TextBox 17465"/>
          <p:cNvSpPr txBox="1"/>
          <p:nvPr/>
        </p:nvSpPr>
        <p:spPr>
          <a:xfrm>
            <a:off x="9386316" y="4114800"/>
            <a:ext cx="23820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Scale calibration
</a:t>
            </a:r>
            <a:r>
              <a:rPr sz="780" b="0" i="0">
                <a:solidFill>
                  <a:srgbClr val="2A3540"/>
                </a:solidFill>
                <a:latin typeface="Segoe UI"/>
              </a:rPr>
              <a:t>GLO-30 absolute DSM; GCP power-law fit</a:t>
            </a:r>
          </a:p>
        </p:txBody>
      </p:sp>
      <p:sp>
        <p:nvSpPr>
          <p:cNvPr id="17467" name="Rounded Rectangle 17466"/>
          <p:cNvSpPr/>
          <p:nvPr/>
        </p:nvSpPr>
        <p:spPr>
          <a:xfrm>
            <a:off x="6272784" y="4498848"/>
            <a:ext cx="2729484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68" name="Picture 17467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5936" y="4599432"/>
            <a:ext cx="164592" cy="164592"/>
          </a:xfrm>
          <a:prstGeom prst="rect">
            <a:avLst/>
          </a:prstGeom>
        </p:spPr>
      </p:pic>
      <p:sp>
        <p:nvSpPr>
          <p:cNvPr id="17469" name="TextBox 17468"/>
          <p:cNvSpPr txBox="1"/>
          <p:nvPr/>
        </p:nvSpPr>
        <p:spPr>
          <a:xfrm>
            <a:off x="6565392" y="4535424"/>
            <a:ext cx="23820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Visualisation
</a:t>
            </a:r>
            <a:r>
              <a:rPr sz="780" b="0" i="0">
                <a:solidFill>
                  <a:srgbClr val="2A3540"/>
                </a:solidFill>
                <a:latin typeface="Segoe UI"/>
              </a:rPr>
              <a:t>three.js flythrough, measure, compare</a:t>
            </a:r>
          </a:p>
        </p:txBody>
      </p:sp>
      <p:sp>
        <p:nvSpPr>
          <p:cNvPr id="17470" name="Rounded Rectangle 17469"/>
          <p:cNvSpPr/>
          <p:nvPr/>
        </p:nvSpPr>
        <p:spPr>
          <a:xfrm>
            <a:off x="9093708" y="4498848"/>
            <a:ext cx="2729484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71" name="Picture 17470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6860" y="4599432"/>
            <a:ext cx="164592" cy="164592"/>
          </a:xfrm>
          <a:prstGeom prst="rect">
            <a:avLst/>
          </a:prstGeom>
        </p:spPr>
      </p:pic>
      <p:sp>
        <p:nvSpPr>
          <p:cNvPr id="17472" name="TextBox 17471"/>
          <p:cNvSpPr txBox="1"/>
          <p:nvPr/>
        </p:nvSpPr>
        <p:spPr>
          <a:xfrm>
            <a:off x="9386316" y="4535424"/>
            <a:ext cx="23820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Live web app + API
</a:t>
            </a:r>
            <a:r>
              <a:rPr sz="780" b="0" i="0">
                <a:solidFill>
                  <a:srgbClr val="2A3540"/>
                </a:solidFill>
                <a:latin typeface="Segoe UI"/>
              </a:rPr>
              <a:t>upload a GeoTIFF, download the DSM</a:t>
            </a:r>
          </a:p>
        </p:txBody>
      </p:sp>
      <p:sp>
        <p:nvSpPr>
          <p:cNvPr id="17473" name="Rounded Rectangle 17472"/>
          <p:cNvSpPr/>
          <p:nvPr/>
        </p:nvSpPr>
        <p:spPr>
          <a:xfrm>
            <a:off x="6272784" y="4919472"/>
            <a:ext cx="2729484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74" name="Picture 17473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45936" y="5020056"/>
            <a:ext cx="164592" cy="164592"/>
          </a:xfrm>
          <a:prstGeom prst="rect">
            <a:avLst/>
          </a:prstGeom>
        </p:spPr>
      </p:pic>
      <p:sp>
        <p:nvSpPr>
          <p:cNvPr id="17475" name="TextBox 17474"/>
          <p:cNvSpPr txBox="1"/>
          <p:nvPr/>
        </p:nvSpPr>
        <p:spPr>
          <a:xfrm>
            <a:off x="6565392" y="4956048"/>
            <a:ext cx="23820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Flood tool
</a:t>
            </a:r>
            <a:r>
              <a:rPr sz="780" b="0" i="0">
                <a:solidFill>
                  <a:srgbClr val="2A3540"/>
                </a:solidFill>
                <a:latin typeface="Segoe UI"/>
              </a:rPr>
              <a:t>water level over Indian terrain</a:t>
            </a:r>
          </a:p>
        </p:txBody>
      </p:sp>
      <p:sp>
        <p:nvSpPr>
          <p:cNvPr id="17476" name="Rounded Rectangle 17475"/>
          <p:cNvSpPr/>
          <p:nvPr/>
        </p:nvSpPr>
        <p:spPr>
          <a:xfrm>
            <a:off x="9093708" y="4919472"/>
            <a:ext cx="2729484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C7D5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/>
        </p:txBody>
      </p:sp>
      <p:pic>
        <p:nvPicPr>
          <p:cNvPr id="17477" name="Picture 17476" descr="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6860" y="5020056"/>
            <a:ext cx="164592" cy="164592"/>
          </a:xfrm>
          <a:prstGeom prst="rect">
            <a:avLst/>
          </a:prstGeom>
        </p:spPr>
      </p:pic>
      <p:sp>
        <p:nvSpPr>
          <p:cNvPr id="17478" name="TextBox 17477"/>
          <p:cNvSpPr txBox="1"/>
          <p:nvPr/>
        </p:nvSpPr>
        <p:spPr>
          <a:xfrm>
            <a:off x="9386316" y="4956048"/>
            <a:ext cx="2382012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860" b="0" i="0">
                <a:solidFill>
                  <a:srgbClr val="141B22"/>
                </a:solidFill>
                <a:latin typeface="Segoe UI Semibold"/>
              </a:rPr>
              <a:t>Offline + CPU
</a:t>
            </a:r>
            <a:r>
              <a:rPr sz="780" b="0" i="0">
                <a:solidFill>
                  <a:srgbClr val="2A3540"/>
                </a:solidFill>
                <a:latin typeface="Segoe UI"/>
              </a:rPr>
              <a:t>one HTML viewer; ONNX int8, no GPU</a:t>
            </a:r>
          </a:p>
        </p:txBody>
      </p:sp>
      <p:sp>
        <p:nvSpPr>
          <p:cNvPr id="17479" name="Rounded Rectangle 17478"/>
          <p:cNvSpPr/>
          <p:nvPr/>
        </p:nvSpPr>
        <p:spPr>
          <a:xfrm>
            <a:off x="6272784" y="5413248"/>
            <a:ext cx="5550407" cy="274320"/>
          </a:xfrm>
          <a:prstGeom prst="roundRect">
            <a:avLst>
              <a:gd name="adj" fmla="val 50000"/>
            </a:avLst>
          </a:prstGeom>
          <a:solidFill>
            <a:srgbClr val="2E6E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Franklin Gothic Demi Cond"/>
              </a:rPr>
              <a:t>HOW THESE WERE MEASURED</a:t>
            </a:r>
          </a:p>
        </p:txBody>
      </p:sp>
      <p:sp>
        <p:nvSpPr>
          <p:cNvPr id="17480" name="TextBox 17479"/>
          <p:cNvSpPr txBox="1"/>
          <p:nvPr/>
        </p:nvSpPr>
        <p:spPr>
          <a:xfrm>
            <a:off x="6272784" y="5742432"/>
            <a:ext cx="458114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40" b="0" i="0">
                <a:solidFill>
                  <a:srgbClr val="2A3540"/>
                </a:solidFill>
                <a:latin typeface="Segoe UI"/>
              </a:rPr>
              <a:t>80 whole held-out US tiles, 3,090 buildings, region-disjoint from training, against airborne LiDAR; no trained model has seen the test split. Full method: </a:t>
            </a:r>
            <a:r>
              <a:rPr sz="840" b="0" i="0">
                <a:solidFill>
                  <a:srgbClr val="2E6E92"/>
                </a:solidFill>
                <a:latin typeface="Segoe UI Semibold"/>
                <a:hlinkClick r:id="rId7"/>
              </a:rPr>
              <a:t>project5.zaidansari.tech/documentation</a:t>
            </a:r>
          </a:p>
        </p:txBody>
      </p:sp>
      <p:pic>
        <p:nvPicPr>
          <p:cNvPr id="17481" name="Picture 17480" descr="docs_qr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73384" y="5724144"/>
            <a:ext cx="658368" cy="658368"/>
          </a:xfrm>
          <a:prstGeom prst="rect">
            <a:avLst/>
          </a:prstGeom>
        </p:spPr>
      </p:pic>
      <p:sp>
        <p:nvSpPr>
          <p:cNvPr id="17482" name="TextBox 17481"/>
          <p:cNvSpPr txBox="1"/>
          <p:nvPr/>
        </p:nvSpPr>
        <p:spPr>
          <a:xfrm>
            <a:off x="10890504" y="6391655"/>
            <a:ext cx="1024128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40" b="0" i="0">
                <a:solidFill>
                  <a:srgbClr val="55636E"/>
                </a:solidFill>
                <a:latin typeface="Segoe UI Semibold"/>
              </a:rPr>
              <a:t>Scan: documentation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