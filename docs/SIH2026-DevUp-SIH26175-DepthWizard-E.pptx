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project5.zaidansari.tech" TargetMode="External"/><Relationship Id="rId5" Type="http://schemas.openxmlformats.org/officeDocument/2006/relationships/hyperlink" Target="https://project5.zaidansari.tech/documentation/" TargetMode="External"/><Relationship Id="rId6" Type="http://schemas.openxmlformats.org/officeDocument/2006/relationships/hyperlink" Target="https://github.com/zaidnansari2011/sih2026-depthwizar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3.png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4.png"/><Relationship Id="rId14" Type="http://schemas.openxmlformats.org/officeDocument/2006/relationships/image" Target="../media/image5.png"/><Relationship Id="rId15" Type="http://schemas.openxmlformats.org/officeDocument/2006/relationships/image" Target="../media/image7.png"/><Relationship Id="rId16" Type="http://schemas.openxmlformats.org/officeDocument/2006/relationships/image" Target="../media/image20.png"/><Relationship Id="rId17" Type="http://schemas.openxmlformats.org/officeDocument/2006/relationships/image" Target="../media/image21.png"/><Relationship Id="rId18" Type="http://schemas.openxmlformats.org/officeDocument/2006/relationships/image" Target="../media/image22.png"/><Relationship Id="rId19" Type="http://schemas.openxmlformats.org/officeDocument/2006/relationships/image" Target="../media/image23.png"/><Relationship Id="rId20" Type="http://schemas.openxmlformats.org/officeDocument/2006/relationships/image" Target="../media/image24.png"/><Relationship Id="rId21" Type="http://schemas.openxmlformats.org/officeDocument/2006/relationships/image" Target="../media/image25.png"/><Relationship Id="rId22" Type="http://schemas.openxmlformats.org/officeDocument/2006/relationships/image" Target="../media/image26.png"/><Relationship Id="rId23" Type="http://schemas.openxmlformats.org/officeDocument/2006/relationships/image" Target="../media/image27.png"/><Relationship Id="rId24" Type="http://schemas.openxmlformats.org/officeDocument/2006/relationships/image" Target="../media/image28.png"/><Relationship Id="rId25" Type="http://schemas.openxmlformats.org/officeDocument/2006/relationships/image" Target="../media/image29.png"/><Relationship Id="rId26" Type="http://schemas.openxmlformats.org/officeDocument/2006/relationships/image" Target="../media/image30.png"/><Relationship Id="rId27" Type="http://schemas.openxmlformats.org/officeDocument/2006/relationships/hyperlink" Target="https://project5.zaidansari.tech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1.png"/><Relationship Id="rId5" Type="http://schemas.openxmlformats.org/officeDocument/2006/relationships/image" Target="../media/image8.png"/><Relationship Id="rId6" Type="http://schemas.openxmlformats.org/officeDocument/2006/relationships/image" Target="../media/image32.png"/><Relationship Id="rId7" Type="http://schemas.openxmlformats.org/officeDocument/2006/relationships/image" Target="../media/image15.png"/><Relationship Id="rId8" Type="http://schemas.openxmlformats.org/officeDocument/2006/relationships/image" Target="../media/image3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14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hyperlink" Target="https://youtu.be/4NpR74MS5oE" TargetMode="External"/><Relationship Id="rId9" Type="http://schemas.openxmlformats.org/officeDocument/2006/relationships/hyperlink" Target="https://project5.zaidansari.tech" TargetMode="External"/><Relationship Id="rId10" Type="http://schemas.openxmlformats.org/officeDocument/2006/relationships/hyperlink" Target="https://project5.zaidansari.tech/documentation/" TargetMode="External"/><Relationship Id="rId11" Type="http://schemas.openxmlformats.org/officeDocument/2006/relationships/hyperlink" Target="https://github.com/zaidnansari2011/sih2026-depthwizard/blob/master/docs/evidence-pack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0.png"/><Relationship Id="rId6" Type="http://schemas.openxmlformats.org/officeDocument/2006/relationships/image" Target="../media/image45.png"/><Relationship Id="rId7" Type="http://schemas.openxmlformats.org/officeDocument/2006/relationships/hyperlink" Target="https://project5.zaidansari.tech/documentatio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365760" y="1188720"/>
            <a:ext cx="5138928" cy="3255264"/>
          </a:xfrm>
          <a:prstGeom prst="roundRect">
            <a:avLst>
              <a:gd name="adj" fmla="val 2808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365760" y="1188720"/>
            <a:ext cx="5138928" cy="621792"/>
          </a:xfrm>
          <a:prstGeom prst="roundRect">
            <a:avLst>
              <a:gd name="adj" fmla="val 14705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48640" y="1298448"/>
            <a:ext cx="477316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300" b="0" i="0">
                <a:solidFill>
                  <a:srgbClr val="FFFFFF"/>
                </a:solidFill>
                <a:latin typeface="Franklin Gothic Demi"/>
              </a:rPr>
              <a:t>DEPTH</a:t>
            </a:r>
            <a:r>
              <a:rPr sz="2300" b="0" i="0">
                <a:solidFill>
                  <a:srgbClr val="D89E3C"/>
                </a:solidFill>
                <a:latin typeface="Franklin Gothic Demi"/>
              </a:rPr>
              <a:t>WIZARD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1938528"/>
            <a:ext cx="47731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A3540"/>
                </a:solidFill>
                <a:latin typeface="Segoe UI"/>
              </a:rPr>
              <a:t>One satellite image in, a measurable 3D surface out.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2340864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PROBLEM STATEMENT 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96312" y="2313432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SIH26175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2660904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PROBLEM STATEMENT TITLE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96312" y="2633472"/>
            <a:ext cx="2862072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DepthWizard - Single-View Height Estimation and 3D Flythrough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3154680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THEME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96312" y="3127248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Disaster Management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3474720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PS CATEGORY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96312" y="3447288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Software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3794760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TEAM ID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96312" y="3767328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129655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4114800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TEAM NAME (ON PORTAL)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96312" y="4087368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Dev Up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5760" y="4572000"/>
            <a:ext cx="5138928" cy="310896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A WORKING PROTOTYPE — MEASURED RESULTS ON SLIDE 7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4974336"/>
            <a:ext cx="1639824" cy="804672"/>
          </a:xfrm>
          <a:prstGeom prst="roundRect">
            <a:avLst>
              <a:gd name="adj" fmla="val 795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12064" y="5056632"/>
            <a:ext cx="13837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1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image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2064" y="5394960"/>
            <a:ext cx="138379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in: GeoTIFF, or plain
PNG / JPG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115311" y="4974336"/>
            <a:ext cx="1639824" cy="804672"/>
          </a:xfrm>
          <a:prstGeom prst="roundRect">
            <a:avLst>
              <a:gd name="adj" fmla="val 795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2261616" y="5056632"/>
            <a:ext cx="13837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2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layers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61616" y="5394960"/>
            <a:ext cx="138379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out: metric height and
per-pixel confidence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864864" y="4974336"/>
            <a:ext cx="1639824" cy="804672"/>
          </a:xfrm>
          <a:prstGeom prst="roundRect">
            <a:avLst>
              <a:gd name="adj" fmla="val 795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011168" y="5056632"/>
            <a:ext cx="13837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0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GPUs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11168" y="5394960"/>
            <a:ext cx="138379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needed to run it or
its 3D viewer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5888736"/>
            <a:ext cx="856488" cy="109728"/>
          </a:xfrm>
          <a:prstGeom prst="rect">
            <a:avLst/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1222248" y="5888736"/>
            <a:ext cx="856488" cy="109728"/>
          </a:xfrm>
          <a:prstGeom prst="rect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2078736" y="5888736"/>
            <a:ext cx="856488" cy="109728"/>
          </a:xfrm>
          <a:prstGeom prst="rect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2935224" y="5888736"/>
            <a:ext cx="856488" cy="109728"/>
          </a:xfrm>
          <a:prstGeom prst="rect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3791712" y="5888736"/>
            <a:ext cx="856488" cy="109728"/>
          </a:xfrm>
          <a:prstGeom prst="rect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4648200" y="5888736"/>
            <a:ext cx="856488" cy="109728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365760" y="6025896"/>
            <a:ext cx="51389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0" i="0">
                <a:solidFill>
                  <a:srgbClr val="55636E"/>
                </a:solidFill>
                <a:latin typeface="Segoe UI"/>
              </a:rPr>
              <a:t>The palette is the model's own output scale: 0 m at the left, 155 m at the right.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236208"/>
            <a:ext cx="513892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LIVE 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4"/>
              </a:rPr>
              <a:t>project5.zaidansari.tech</a:t>
            </a:r>
            <a:r>
              <a:rPr sz="940" b="0" i="0">
                <a:solidFill>
                  <a:srgbClr val="C1440E"/>
                </a:solidFill>
                <a:latin typeface="Franklin Gothic Demi Cond"/>
              </a:rPr>
              <a:t>      DOCS 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5"/>
              </a:rPr>
              <a:t>project5.zaidansari.tech/documentation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CODE 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6"/>
              </a:rPr>
              <a:t>github.com/zaidnansari2011/sih2026-depthwizard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91640" y="256032"/>
            <a:ext cx="7955279" cy="768096"/>
          </a:xfrm>
          <a:prstGeom prst="roundRect">
            <a:avLst>
              <a:gd name="adj" fmla="val 11904"/>
            </a:avLst>
          </a:prstGeom>
          <a:solidFill>
            <a:srgbClr val="ECF1F5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892808" y="402336"/>
            <a:ext cx="26517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500" b="0" i="0">
                <a:solidFill>
                  <a:srgbClr val="0E2A3F"/>
                </a:solidFill>
                <a:latin typeface="Franklin Gothic Demi"/>
              </a:rPr>
              <a:t>DEPTH</a:t>
            </a:r>
            <a:r>
              <a:rPr sz="2500" b="0" i="0">
                <a:solidFill>
                  <a:srgbClr val="C1440E"/>
                </a:solidFill>
                <a:latin typeface="Franklin Gothic Demi"/>
              </a:rPr>
              <a:t>WIZARD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402336"/>
            <a:ext cx="18288" cy="493776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727448" y="384048"/>
            <a:ext cx="47000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"/>
              </a:rPr>
              <a:t>One satellite image in, a measurable 3D surface out. </a:t>
            </a:r>
            <a:r>
              <a:rPr sz="1250" b="1" i="0">
                <a:solidFill>
                  <a:srgbClr val="C1440E"/>
                </a:solidFill>
                <a:latin typeface="Segoe UI"/>
              </a:rPr>
              <a:t>Height, how sure we are, and a scene to check it 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1115568"/>
            <a:ext cx="393192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THE PROBLEM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1115568"/>
            <a:ext cx="7251192" cy="310896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OUR SOLUTION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1499616"/>
            <a:ext cx="3931920" cy="2724912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93776" y="1591056"/>
            <a:ext cx="45720" cy="457200"/>
          </a:xfrm>
          <a:prstGeom prst="rect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1792" y="1554480"/>
            <a:ext cx="356616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19" b="0" i="1">
                <a:solidFill>
                  <a:srgbClr val="141B22"/>
                </a:solidFill>
                <a:latin typeface="Segoe UI"/>
              </a:rPr>
              <a:t>“[Stereo, LiDAR and InSAR] can be cost-prohibitive, dependent on specific sensor availability, and computationally intensive.”</a:t>
            </a:r>
            <a:r>
              <a:rPr sz="800" b="0" i="0">
                <a:solidFill>
                  <a:srgbClr val="55636E"/>
                </a:solidFill>
                <a:latin typeface="Segoe UI Semibold"/>
              </a:rPr>
              <a:t>
— ISRO, problem statement SIH26175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121408"/>
            <a:ext cx="3749039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548640" y="2212848"/>
            <a:ext cx="329184" cy="274320"/>
          </a:xfrm>
          <a:prstGeom prst="roundRect">
            <a:avLst>
              <a:gd name="adj" fmla="val 16666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2167127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Archives with no height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2359152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Stereo and LiDAR cannot be flown into the past. Decades of Cartosat archive carry no height.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734056"/>
            <a:ext cx="3749039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48640" y="2825496"/>
            <a:ext cx="329184" cy="274320"/>
          </a:xfrm>
          <a:prstGeom prst="roundRect">
            <a:avLst>
              <a:gd name="adj" fmla="val 16666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2779775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Relative depth, not metres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297180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Depth models learn from ground-level photos. From orbit they give shape, but no metric scale.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346704"/>
            <a:ext cx="3749039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548640" y="3438144"/>
            <a:ext cx="329184" cy="274320"/>
          </a:xfrm>
          <a:prstGeom prst="roundRect">
            <a:avLst>
              <a:gd name="adj" fmla="val 16666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339242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No confidence, no product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3584448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A bare height hides where it is wrong, and a checkpoint is not a scene an analyst can open.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3776" y="3977639"/>
            <a:ext cx="932688" cy="182880"/>
          </a:xfrm>
          <a:prstGeom prst="roundRect">
            <a:avLst>
              <a:gd name="adj" fmla="val 25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Franklin Gothic Demi Cond"/>
              </a:rPr>
              <a:t>WHO FEELS 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81328" y="3950208"/>
            <a:ext cx="272491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 i="0">
                <a:solidFill>
                  <a:srgbClr val="141B22"/>
                </a:solidFill>
                <a:latin typeface="Segoe UI Semibold"/>
              </a:rPr>
              <a:t>SAC analysts · disaster responders · planners · foresters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0" y="1499616"/>
            <a:ext cx="7251192" cy="2724912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663440" y="1572768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7" name="Oval 36"/>
          <p:cNvSpPr/>
          <p:nvPr/>
        </p:nvSpPr>
        <p:spPr>
          <a:xfrm>
            <a:off x="4754880" y="1645920"/>
            <a:ext cx="402336" cy="40233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38" name="Picture 37" descr="image-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1440" y="1742480"/>
            <a:ext cx="209214" cy="20921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230368" y="1682495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One image to a metric DSM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91455" y="2103120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Depth Anything V2, fine-tuned on airborne-LiDAR heights. GeoTIFF out, metadata or not.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56120" y="1572768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42" name="Oval 41"/>
          <p:cNvSpPr/>
          <p:nvPr/>
        </p:nvSpPr>
        <p:spPr>
          <a:xfrm>
            <a:off x="7147560" y="1645920"/>
            <a:ext cx="402336" cy="402336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43" name="Picture 42" descr="shield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4120" y="1742480"/>
            <a:ext cx="209214" cy="20921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623047" y="1682495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Confidence, not just height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84136" y="2103120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A per-pixel sigma beside every height, so the model says where it is unsure.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448799" y="1572768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47" name="Oval 46"/>
          <p:cNvSpPr/>
          <p:nvPr/>
        </p:nvSpPr>
        <p:spPr>
          <a:xfrm>
            <a:off x="9540239" y="1645920"/>
            <a:ext cx="402336" cy="40233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48" name="Picture 47" descr="bo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6800" y="1742480"/>
            <a:ext cx="209214" cy="20921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015727" y="1682495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A navigable 3D scene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76816" y="2103120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three.js flythrough with measure, flood and drag-to-compare-against-LiDAR tools.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63440" y="2688336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2" name="Oval 51"/>
          <p:cNvSpPr/>
          <p:nvPr/>
        </p:nvSpPr>
        <p:spPr>
          <a:xfrm>
            <a:off x="4754880" y="2761487"/>
            <a:ext cx="402336" cy="402336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53" name="Picture 52" descr="rul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1440" y="2858048"/>
            <a:ext cx="209214" cy="209214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230368" y="2798064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Validation inside the product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91455" y="3218688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RMSE, MAE and correlation against LiDAR — per terrain class, not one flattering average.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056120" y="2688336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7" name="Oval 56"/>
          <p:cNvSpPr/>
          <p:nvPr/>
        </p:nvSpPr>
        <p:spPr>
          <a:xfrm>
            <a:off x="7147560" y="2761487"/>
            <a:ext cx="402336" cy="40233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58" name="Picture 57" descr="map-pinn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44120" y="2858048"/>
            <a:ext cx="209214" cy="209214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623047" y="2798064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Absolute heights, two ways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84136" y="3218688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Copernicus GLO-30 for any GeoTIFF, or ground control points via a power-law fit.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48799" y="2688336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2" name="Oval 61"/>
          <p:cNvSpPr/>
          <p:nvPr/>
        </p:nvSpPr>
        <p:spPr>
          <a:xfrm>
            <a:off x="9540239" y="2761487"/>
            <a:ext cx="402336" cy="402336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63" name="Picture 62" descr="wifi-o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6800" y="2858048"/>
            <a:ext cx="209214" cy="20921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015727" y="2798064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Deployable, not a demo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76816" y="3218688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No GPU needed. The viewer is one HTML file that opens from disk, offline.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663440" y="3813048"/>
            <a:ext cx="7068312" cy="347472"/>
          </a:xfrm>
          <a:prstGeom prst="roundRect">
            <a:avLst>
              <a:gd name="adj" fmla="val 13157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7" name="Rounded Rectangle 66"/>
          <p:cNvSpPr/>
          <p:nvPr/>
        </p:nvSpPr>
        <p:spPr>
          <a:xfrm>
            <a:off x="4736592" y="3877056"/>
            <a:ext cx="1280160" cy="219456"/>
          </a:xfrm>
          <a:prstGeom prst="roundRect">
            <a:avLst>
              <a:gd name="adj" fmla="val 20833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19" b="0" i="0">
                <a:solidFill>
                  <a:srgbClr val="FFFFFF"/>
                </a:solidFill>
                <a:latin typeface="Franklin Gothic Demi Cond"/>
              </a:rPr>
              <a:t>THE GAP WE CLOSE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08192" y="3831336"/>
            <a:ext cx="555040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2A3540"/>
                </a:solidFill>
                <a:latin typeface="Segoe UI"/>
              </a:rPr>
              <a:t>Published single-view work stops at weights and a score. </a:t>
            </a:r>
            <a:r>
              <a:rPr sz="880" b="0" i="0">
                <a:solidFill>
                  <a:srgbClr val="141B22"/>
                </a:solidFill>
                <a:latin typeface="Segoe UI Semibold"/>
              </a:rPr>
              <a:t>We ship metric height, calibrated confidence and a no-GPU 3D viewer</a:t>
            </a:r>
            <a:r>
              <a:rPr sz="880" b="0" i="0">
                <a:solidFill>
                  <a:srgbClr val="2A3540"/>
                </a:solidFill>
                <a:latin typeface="Segoe UI"/>
              </a:rPr>
              <a:t> — compared row by row on slide 6.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65760" y="4315968"/>
            <a:ext cx="11457432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THE IDEA, RUNNING: ONE ARCHIVED IMAGE IN, A MEASURABLE SURFACE OUT — CAPTURES OF OUR PROTOTYPE, NOT MOCK-UPS</a:t>
            </a:r>
          </a:p>
        </p:txBody>
      </p:sp>
      <p:pic>
        <p:nvPicPr>
          <p:cNvPr id="70" name="Picture 69" descr="omaha_inpu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4663440"/>
            <a:ext cx="1591056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1" name="Rounded Rectangle 70"/>
          <p:cNvSpPr/>
          <p:nvPr/>
        </p:nvSpPr>
        <p:spPr>
          <a:xfrm>
            <a:off x="365760" y="4663440"/>
            <a:ext cx="1046073" cy="237744"/>
          </a:xfrm>
          <a:prstGeom prst="roundRect">
            <a:avLst>
              <a:gd name="adj" fmla="val 15384"/>
            </a:avLst>
          </a:prstGeom>
          <a:solidFill>
            <a:srgbClr val="556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BEFORE · INPUT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2020824" y="5303520"/>
            <a:ext cx="274320" cy="310896"/>
          </a:xfrm>
          <a:prstGeom prst="rightArrow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73" name="Picture 72" descr="omaha_height_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59152" y="4663440"/>
            <a:ext cx="3017520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4" name="Rounded Rectangle 73"/>
          <p:cNvSpPr/>
          <p:nvPr/>
        </p:nvSpPr>
        <p:spPr>
          <a:xfrm>
            <a:off x="2359152" y="4663440"/>
            <a:ext cx="1468526" cy="237744"/>
          </a:xfrm>
          <a:prstGeom prst="roundRect">
            <a:avLst>
              <a:gd name="adj" fmla="val 1538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AFTER · HEIGHT, IN 3D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59152" y="6291072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Same tile: roofs, tree crowns and kerbs at 0.3 m.</a:t>
            </a:r>
          </a:p>
        </p:txBody>
      </p:sp>
      <p:pic>
        <p:nvPicPr>
          <p:cNvPr id="76" name="Picture 75" descr="omaha_sigma_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4688" y="4663440"/>
            <a:ext cx="3017520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7" name="Rounded Rectangle 76"/>
          <p:cNvSpPr/>
          <p:nvPr/>
        </p:nvSpPr>
        <p:spPr>
          <a:xfrm>
            <a:off x="5504688" y="4663440"/>
            <a:ext cx="1287475" cy="237744"/>
          </a:xfrm>
          <a:prstGeom prst="roundRect">
            <a:avLst>
              <a:gd name="adj" fmla="val 1538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AFTER · CONFIDENCE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04688" y="6291072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Where the estimate is weak, the sigma says so.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5760" y="6291072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One Omaha tile, as flown.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686799" y="4754879"/>
            <a:ext cx="18288" cy="1408176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81" name="Picture 80" descr="sikkim_hilly_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05672" y="4663440"/>
            <a:ext cx="3017520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82" name="Rounded Rectangle 81"/>
          <p:cNvSpPr/>
          <p:nvPr/>
        </p:nvSpPr>
        <p:spPr>
          <a:xfrm>
            <a:off x="8805672" y="4663440"/>
            <a:ext cx="1468526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SIKKIM, INDIA · HILLY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05672" y="6291072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967 m of relief across 2 km, draped.</a:t>
            </a:r>
            <a:r>
              <a:rPr sz="700" b="0" i="0">
                <a:solidFill>
                  <a:srgbClr val="55636E"/>
                </a:solidFill>
                <a:latin typeface="Segoe UI"/>
              </a:rPr>
              <a:t>  Imagery © Maxar, CC-BY-4.0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48640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ARCHITECTURE — ONE IMAGE TO A CHECKED SURFACE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517904"/>
            <a:ext cx="5486400" cy="3986784"/>
          </a:xfrm>
          <a:prstGeom prst="roundRect">
            <a:avLst>
              <a:gd name="adj" fmla="val 2293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475488" y="1609344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INPUT LAYER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75488" y="1810512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Oval 17413"/>
          <p:cNvSpPr/>
          <p:nvPr/>
        </p:nvSpPr>
        <p:spPr>
          <a:xfrm>
            <a:off x="548640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5" name="Picture 17414" descr="file-t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09" y="1927189"/>
            <a:ext cx="114117" cy="114117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804672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GeoTIFF with
geo metadata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2231136" y="1865376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8" name="Oval 17417"/>
          <p:cNvSpPr/>
          <p:nvPr/>
        </p:nvSpPr>
        <p:spPr>
          <a:xfrm>
            <a:off x="2304288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9" name="Picture 17418" descr="image-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6957" y="1927189"/>
            <a:ext cx="114117" cy="114117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2560320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Plain PNG / JPG,
no metadata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3986783" y="1865376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4059935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3" name="Picture 17422" descr="satell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605" y="1927189"/>
            <a:ext cx="114117" cy="114117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4315968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Cartosat-2S,
0.6 m</a:t>
            </a:r>
          </a:p>
        </p:txBody>
      </p:sp>
      <p:sp>
        <p:nvSpPr>
          <p:cNvPr id="17425" name="Down Arrow 17424"/>
          <p:cNvSpPr/>
          <p:nvPr/>
        </p:nvSpPr>
        <p:spPr>
          <a:xfrm>
            <a:off x="3035808" y="2176272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6" name="Rounded Rectangle 17425"/>
          <p:cNvSpPr/>
          <p:nvPr/>
        </p:nvSpPr>
        <p:spPr>
          <a:xfrm>
            <a:off x="475488" y="2276856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NORMALISATION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75488" y="2478024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8" name="Oval 17427"/>
          <p:cNvSpPr/>
          <p:nvPr/>
        </p:nvSpPr>
        <p:spPr>
          <a:xfrm>
            <a:off x="548640" y="2542032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9" name="Picture 17428" descr="rul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309" y="2594701"/>
            <a:ext cx="114117" cy="114117"/>
          </a:xfrm>
          <a:prstGeom prst="rect">
            <a:avLst/>
          </a:prstGeom>
        </p:spPr>
      </p:pic>
      <p:sp>
        <p:nvSpPr>
          <p:cNvPr id="17430" name="TextBox 17429"/>
          <p:cNvSpPr txBox="1"/>
          <p:nvPr/>
        </p:nvSpPr>
        <p:spPr>
          <a:xfrm>
            <a:off x="804672" y="252374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Ground sample distance
read from metadata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3108960" y="2532888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3182112" y="2542032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3" name="Picture 17432" descr="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34781" y="2594701"/>
            <a:ext cx="114117" cy="114117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3438144" y="252374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Auto-zoom and resample
to a 0.3 m scale</a:t>
            </a:r>
          </a:p>
        </p:txBody>
      </p:sp>
      <p:sp>
        <p:nvSpPr>
          <p:cNvPr id="17435" name="Down Arrow 17434"/>
          <p:cNvSpPr/>
          <p:nvPr/>
        </p:nvSpPr>
        <p:spPr>
          <a:xfrm>
            <a:off x="3035808" y="2843784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Rounded Rectangle 17435"/>
          <p:cNvSpPr/>
          <p:nvPr/>
        </p:nvSpPr>
        <p:spPr>
          <a:xfrm>
            <a:off x="475488" y="2944368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MODEL CORE — DEPTH ANYTHING V2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475488" y="3145536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8" name="Oval 17437"/>
          <p:cNvSpPr/>
          <p:nvPr/>
        </p:nvSpPr>
        <p:spPr>
          <a:xfrm>
            <a:off x="548640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9" name="Picture 17438" descr="cp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309" y="3262213"/>
            <a:ext cx="114117" cy="114117"/>
          </a:xfrm>
          <a:prstGeom prst="rect">
            <a:avLst/>
          </a:prstGeom>
        </p:spPr>
      </p:pic>
      <p:sp>
        <p:nvSpPr>
          <p:cNvPr id="17440" name="TextBox 17439"/>
          <p:cNvSpPr txBox="1"/>
          <p:nvPr/>
        </p:nvSpPr>
        <p:spPr>
          <a:xfrm>
            <a:off x="804672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ViT encoder</a:t>
            </a:r>
          </a:p>
        </p:txBody>
      </p:sp>
      <p:sp>
        <p:nvSpPr>
          <p:cNvPr id="17441" name="Rectangle 17440"/>
          <p:cNvSpPr/>
          <p:nvPr/>
        </p:nvSpPr>
        <p:spPr>
          <a:xfrm>
            <a:off x="2231136" y="3200400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Oval 17441"/>
          <p:cNvSpPr/>
          <p:nvPr/>
        </p:nvSpPr>
        <p:spPr>
          <a:xfrm>
            <a:off x="2304288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3" name="Picture 17442" descr="workflo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56957" y="3262213"/>
            <a:ext cx="114117" cy="114117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2560320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DPT neck</a:t>
            </a:r>
          </a:p>
        </p:txBody>
      </p:sp>
      <p:sp>
        <p:nvSpPr>
          <p:cNvPr id="17445" name="Rectangle 17444"/>
          <p:cNvSpPr/>
          <p:nvPr/>
        </p:nvSpPr>
        <p:spPr>
          <a:xfrm>
            <a:off x="3986783" y="3200400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6" name="Oval 17445"/>
          <p:cNvSpPr/>
          <p:nvPr/>
        </p:nvSpPr>
        <p:spPr>
          <a:xfrm>
            <a:off x="4059935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7" name="Picture 17446" descr="databas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2605" y="3262213"/>
            <a:ext cx="114117" cy="114117"/>
          </a:xfrm>
          <a:prstGeom prst="rect">
            <a:avLst/>
          </a:prstGeom>
        </p:spPr>
      </p:pic>
      <p:sp>
        <p:nvSpPr>
          <p:cNvPr id="17448" name="TextBox 17447"/>
          <p:cNvSpPr txBox="1"/>
          <p:nvPr/>
        </p:nvSpPr>
        <p:spPr>
          <a:xfrm>
            <a:off x="4315968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Fine-tuned on
DFC2019 + GAMUS</a:t>
            </a:r>
          </a:p>
        </p:txBody>
      </p:sp>
      <p:sp>
        <p:nvSpPr>
          <p:cNvPr id="17449" name="Down Arrow 17448"/>
          <p:cNvSpPr/>
          <p:nvPr/>
        </p:nvSpPr>
        <p:spPr>
          <a:xfrm>
            <a:off x="3035808" y="3511296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Rounded Rectangle 17449"/>
          <p:cNvSpPr/>
          <p:nvPr/>
        </p:nvSpPr>
        <p:spPr>
          <a:xfrm>
            <a:off x="475488" y="3611879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DUAL HEAD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475488" y="3813048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2" name="Oval 17451"/>
          <p:cNvSpPr/>
          <p:nvPr/>
        </p:nvSpPr>
        <p:spPr>
          <a:xfrm>
            <a:off x="548640" y="3877056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3" name="Picture 17452" descr="mountain-sno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1309" y="3929725"/>
            <a:ext cx="114117" cy="114117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804672" y="3858768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Height mu,
per pixel</a:t>
            </a:r>
          </a:p>
        </p:txBody>
      </p:sp>
      <p:sp>
        <p:nvSpPr>
          <p:cNvPr id="17455" name="Rectangle 17454"/>
          <p:cNvSpPr/>
          <p:nvPr/>
        </p:nvSpPr>
        <p:spPr>
          <a:xfrm>
            <a:off x="3108960" y="3867911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6" name="Oval 17455"/>
          <p:cNvSpPr/>
          <p:nvPr/>
        </p:nvSpPr>
        <p:spPr>
          <a:xfrm>
            <a:off x="3182112" y="3877056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7" name="Picture 17456" descr="shield-che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34781" y="3929725"/>
            <a:ext cx="114117" cy="114117"/>
          </a:xfrm>
          <a:prstGeom prst="rect">
            <a:avLst/>
          </a:prstGeom>
        </p:spPr>
      </p:pic>
      <p:sp>
        <p:nvSpPr>
          <p:cNvPr id="17458" name="TextBox 17457"/>
          <p:cNvSpPr txBox="1"/>
          <p:nvPr/>
        </p:nvSpPr>
        <p:spPr>
          <a:xfrm>
            <a:off x="3438144" y="3858768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Log-variance sigma,
per pixel</a:t>
            </a:r>
          </a:p>
        </p:txBody>
      </p:sp>
      <p:sp>
        <p:nvSpPr>
          <p:cNvPr id="17459" name="Down Arrow 17458"/>
          <p:cNvSpPr/>
          <p:nvPr/>
        </p:nvSpPr>
        <p:spPr>
          <a:xfrm>
            <a:off x="3035808" y="4178807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Rounded Rectangle 17459"/>
          <p:cNvSpPr/>
          <p:nvPr/>
        </p:nvSpPr>
        <p:spPr>
          <a:xfrm>
            <a:off x="475488" y="4279391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POST-PROCESS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475488" y="4480559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2" name="Oval 17461"/>
          <p:cNvSpPr/>
          <p:nvPr/>
        </p:nvSpPr>
        <p:spPr>
          <a:xfrm>
            <a:off x="548640" y="4544567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3" name="Picture 17462" descr="box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1309" y="4597237"/>
            <a:ext cx="114117" cy="114117"/>
          </a:xfrm>
          <a:prstGeom prst="rect">
            <a:avLst/>
          </a:prstGeom>
        </p:spPr>
      </p:pic>
      <p:sp>
        <p:nvSpPr>
          <p:cNvPr id="17464" name="TextBox 17463"/>
          <p:cNvSpPr txBox="1"/>
          <p:nvPr/>
        </p:nvSpPr>
        <p:spPr>
          <a:xfrm>
            <a:off x="804672" y="4526279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518 px tiling,
overlap blend, TTA</a:t>
            </a:r>
          </a:p>
        </p:txBody>
      </p:sp>
      <p:sp>
        <p:nvSpPr>
          <p:cNvPr id="17465" name="Rectangle 17464"/>
          <p:cNvSpPr/>
          <p:nvPr/>
        </p:nvSpPr>
        <p:spPr>
          <a:xfrm>
            <a:off x="3108960" y="4535423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6" name="Oval 17465"/>
          <p:cNvSpPr/>
          <p:nvPr/>
        </p:nvSpPr>
        <p:spPr>
          <a:xfrm>
            <a:off x="3182112" y="4544567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7" name="Picture 17466" descr="map-pinn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34781" y="4597237"/>
            <a:ext cx="114117" cy="114117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3438144" y="4526279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Scale anchor: GLO-30
or ground control</a:t>
            </a:r>
          </a:p>
        </p:txBody>
      </p:sp>
      <p:sp>
        <p:nvSpPr>
          <p:cNvPr id="17469" name="Down Arrow 17468"/>
          <p:cNvSpPr/>
          <p:nvPr/>
        </p:nvSpPr>
        <p:spPr>
          <a:xfrm>
            <a:off x="3035808" y="4846319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0" name="Rounded Rectangle 17469"/>
          <p:cNvSpPr/>
          <p:nvPr/>
        </p:nvSpPr>
        <p:spPr>
          <a:xfrm>
            <a:off x="475488" y="4946903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OUTPUT LAYER</a:t>
            </a:r>
          </a:p>
        </p:txBody>
      </p:sp>
      <p:sp>
        <p:nvSpPr>
          <p:cNvPr id="17471" name="Rounded Rectangle 17470"/>
          <p:cNvSpPr/>
          <p:nvPr/>
        </p:nvSpPr>
        <p:spPr>
          <a:xfrm>
            <a:off x="475488" y="5148071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2" name="Oval 17471"/>
          <p:cNvSpPr/>
          <p:nvPr/>
        </p:nvSpPr>
        <p:spPr>
          <a:xfrm>
            <a:off x="548640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3" name="Picture 17472" descr="file-t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09" y="5264749"/>
            <a:ext cx="114117" cy="114117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804672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Absolute DSM /
relative DSM</a:t>
            </a:r>
          </a:p>
        </p:txBody>
      </p:sp>
      <p:sp>
        <p:nvSpPr>
          <p:cNvPr id="17475" name="Rectangle 17474"/>
          <p:cNvSpPr/>
          <p:nvPr/>
        </p:nvSpPr>
        <p:spPr>
          <a:xfrm>
            <a:off x="2231136" y="5202935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6" name="Oval 17475"/>
          <p:cNvSpPr/>
          <p:nvPr/>
        </p:nvSpPr>
        <p:spPr>
          <a:xfrm>
            <a:off x="2304288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7" name="Picture 17476" descr="gau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356957" y="5264749"/>
            <a:ext cx="114117" cy="114117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2560320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Sigma map</a:t>
            </a:r>
          </a:p>
        </p:txBody>
      </p:sp>
      <p:sp>
        <p:nvSpPr>
          <p:cNvPr id="17479" name="Rectangle 17478"/>
          <p:cNvSpPr/>
          <p:nvPr/>
        </p:nvSpPr>
        <p:spPr>
          <a:xfrm>
            <a:off x="3986783" y="5202935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0" name="Oval 17479"/>
          <p:cNvSpPr/>
          <p:nvPr/>
        </p:nvSpPr>
        <p:spPr>
          <a:xfrm>
            <a:off x="4059935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1" name="Picture 17480" descr="monitor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112605" y="5264749"/>
            <a:ext cx="114117" cy="114117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4315968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three.js scene,
live error map</a:t>
            </a:r>
          </a:p>
        </p:txBody>
      </p:sp>
      <p:sp>
        <p:nvSpPr>
          <p:cNvPr id="17483" name="Rounded Rectangle 17482"/>
          <p:cNvSpPr/>
          <p:nvPr/>
        </p:nvSpPr>
        <p:spPr>
          <a:xfrm>
            <a:off x="6126480" y="1115568"/>
            <a:ext cx="269748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HOW IT RUNS — HARDWARE, API, DATA</a:t>
            </a:r>
          </a:p>
        </p:txBody>
      </p:sp>
      <p:sp>
        <p:nvSpPr>
          <p:cNvPr id="17484" name="Rounded Rectangle 17483"/>
          <p:cNvSpPr/>
          <p:nvPr/>
        </p:nvSpPr>
        <p:spPr>
          <a:xfrm>
            <a:off x="6126480" y="1517904"/>
            <a:ext cx="2697480" cy="3986784"/>
          </a:xfrm>
          <a:prstGeom prst="roundRect">
            <a:avLst>
              <a:gd name="adj" fmla="val 3389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Rounded Rectangle 17484"/>
          <p:cNvSpPr/>
          <p:nvPr/>
        </p:nvSpPr>
        <p:spPr>
          <a:xfrm>
            <a:off x="6236208" y="162763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1</a:t>
            </a:r>
          </a:p>
        </p:txBody>
      </p:sp>
      <p:sp>
        <p:nvSpPr>
          <p:cNvPr id="17486" name="Rectangle 17485"/>
          <p:cNvSpPr/>
          <p:nvPr/>
        </p:nvSpPr>
        <p:spPr>
          <a:xfrm>
            <a:off x="6373368" y="1938528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7" name="TextBox 17486"/>
          <p:cNvSpPr txBox="1"/>
          <p:nvPr/>
        </p:nvSpPr>
        <p:spPr>
          <a:xfrm>
            <a:off x="6638544" y="1645920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Trained on one consumer GPU</a:t>
            </a:r>
          </a:p>
        </p:txBody>
      </p:sp>
      <p:sp>
        <p:nvSpPr>
          <p:cNvPr id="17488" name="TextBox 17487"/>
          <p:cNvSpPr txBox="1"/>
          <p:nvPr/>
        </p:nvSpPr>
        <p:spPr>
          <a:xfrm>
            <a:off x="6638544" y="1901952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RTX 3060, 12 GB. Backbone: Depth Anything V2 Small, Apache 2.0, 24.8 M parameters.</a:t>
            </a:r>
          </a:p>
        </p:txBody>
      </p:sp>
      <p:sp>
        <p:nvSpPr>
          <p:cNvPr id="17489" name="Rounded Rectangle 17488"/>
          <p:cNvSpPr/>
          <p:nvPr/>
        </p:nvSpPr>
        <p:spPr>
          <a:xfrm>
            <a:off x="6236208" y="259689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2</a:t>
            </a:r>
          </a:p>
        </p:txBody>
      </p:sp>
      <p:sp>
        <p:nvSpPr>
          <p:cNvPr id="17490" name="Rectangle 17489"/>
          <p:cNvSpPr/>
          <p:nvPr/>
        </p:nvSpPr>
        <p:spPr>
          <a:xfrm>
            <a:off x="6373368" y="2907791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1" name="TextBox 17490"/>
          <p:cNvSpPr txBox="1"/>
          <p:nvPr/>
        </p:nvSpPr>
        <p:spPr>
          <a:xfrm>
            <a:off x="6638544" y="2615184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Exported for CPU</a:t>
            </a:r>
          </a:p>
        </p:txBody>
      </p:sp>
      <p:sp>
        <p:nvSpPr>
          <p:cNvPr id="17492" name="TextBox 17491"/>
          <p:cNvSpPr txBox="1"/>
          <p:nvPr/>
        </p:nvSpPr>
        <p:spPr>
          <a:xfrm>
            <a:off x="6638544" y="2871215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ONNX, int8-quantised to 36.8 MB. Inference needs no GPU at all.</a:t>
            </a:r>
          </a:p>
        </p:txBody>
      </p:sp>
      <p:sp>
        <p:nvSpPr>
          <p:cNvPr id="17493" name="Rounded Rectangle 17492"/>
          <p:cNvSpPr/>
          <p:nvPr/>
        </p:nvSpPr>
        <p:spPr>
          <a:xfrm>
            <a:off x="6236208" y="356616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3</a:t>
            </a:r>
          </a:p>
        </p:txBody>
      </p:sp>
      <p:sp>
        <p:nvSpPr>
          <p:cNvPr id="17494" name="Rectangle 17493"/>
          <p:cNvSpPr/>
          <p:nvPr/>
        </p:nvSpPr>
        <p:spPr>
          <a:xfrm>
            <a:off x="6373368" y="3877056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5" name="TextBox 17494"/>
          <p:cNvSpPr txBox="1"/>
          <p:nvPr/>
        </p:nvSpPr>
        <p:spPr>
          <a:xfrm>
            <a:off x="6638544" y="3584448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Served over HTTP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6638544" y="384048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POST /api/upload takes TIF, PNG or JPG; /api/result returns the DSM. Live on a two-core CPU host.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6236208" y="453542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4</a:t>
            </a:r>
          </a:p>
        </p:txBody>
      </p:sp>
      <p:sp>
        <p:nvSpPr>
          <p:cNvPr id="17498" name="TextBox 17497"/>
          <p:cNvSpPr txBox="1"/>
          <p:nvPr/>
        </p:nvSpPr>
        <p:spPr>
          <a:xfrm>
            <a:off x="6638544" y="4553712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Files, not a database</a:t>
            </a:r>
          </a:p>
        </p:txBody>
      </p:sp>
      <p:sp>
        <p:nvSpPr>
          <p:cNvPr id="17499" name="TextBox 17498"/>
          <p:cNvSpPr txBox="1"/>
          <p:nvPr/>
        </p:nvSpPr>
        <p:spPr>
          <a:xfrm>
            <a:off x="6638544" y="4809744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GeoTIFF DSM and sigma, float32 scene tiles. The viewer is one 15 MB HTML file that opens from disk.</a:t>
            </a:r>
          </a:p>
        </p:txBody>
      </p:sp>
      <p:sp>
        <p:nvSpPr>
          <p:cNvPr id="17500" name="Rounded Rectangle 17499"/>
          <p:cNvSpPr/>
          <p:nvPr/>
        </p:nvSpPr>
        <p:spPr>
          <a:xfrm>
            <a:off x="9098280" y="1115568"/>
            <a:ext cx="2724912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DESIGN CHOICES, AND WHY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9098280" y="1517904"/>
            <a:ext cx="2724912" cy="3986784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2" name="Rounded Rectangle 17501"/>
          <p:cNvSpPr/>
          <p:nvPr/>
        </p:nvSpPr>
        <p:spPr>
          <a:xfrm>
            <a:off x="9189719" y="1627632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3" name="Oval 17502"/>
          <p:cNvSpPr/>
          <p:nvPr/>
        </p:nvSpPr>
        <p:spPr>
          <a:xfrm>
            <a:off x="9281160" y="1682496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04" name="Picture 17503" descr="gau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68942" y="1770278"/>
            <a:ext cx="190195" cy="190195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9720072" y="1728216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Metres learned from LiDAR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9281159" y="2048256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Fine-tuning on airborne-LiDAR heights makes the output metric directly; a DEM supplies the ground under it.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9189719" y="2596896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8" name="Oval 17507"/>
          <p:cNvSpPr/>
          <p:nvPr/>
        </p:nvSpPr>
        <p:spPr>
          <a:xfrm>
            <a:off x="9281160" y="2651759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09" name="Picture 17508" descr="shield-che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68942" y="2739542"/>
            <a:ext cx="190195" cy="190195"/>
          </a:xfrm>
          <a:prstGeom prst="rect">
            <a:avLst/>
          </a:prstGeom>
        </p:spPr>
      </p:pic>
      <p:sp>
        <p:nvSpPr>
          <p:cNvPr id="17510" name="TextBox 17509"/>
          <p:cNvSpPr txBox="1"/>
          <p:nvPr/>
        </p:nvSpPr>
        <p:spPr>
          <a:xfrm>
            <a:off x="9720072" y="2697479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Uncertainty as an output</a:t>
            </a:r>
          </a:p>
        </p:txBody>
      </p:sp>
      <p:sp>
        <p:nvSpPr>
          <p:cNvPr id="17511" name="TextBox 17510"/>
          <p:cNvSpPr txBox="1"/>
          <p:nvPr/>
        </p:nvSpPr>
        <p:spPr>
          <a:xfrm>
            <a:off x="9281159" y="3017520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A twin head predicts sigma beside every height (heteroscedastic NLL with beta-NLL), so doubt is visible.</a:t>
            </a:r>
          </a:p>
        </p:txBody>
      </p:sp>
      <p:sp>
        <p:nvSpPr>
          <p:cNvPr id="17512" name="Rounded Rectangle 17511"/>
          <p:cNvSpPr/>
          <p:nvPr/>
        </p:nvSpPr>
        <p:spPr>
          <a:xfrm>
            <a:off x="9189719" y="3566160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13" name="Oval 17512"/>
          <p:cNvSpPr/>
          <p:nvPr/>
        </p:nvSpPr>
        <p:spPr>
          <a:xfrm>
            <a:off x="9281160" y="3621024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14" name="Picture 17513" descr="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8942" y="3708806"/>
            <a:ext cx="190195" cy="190195"/>
          </a:xfrm>
          <a:prstGeom prst="rect">
            <a:avLst/>
          </a:prstGeom>
        </p:spPr>
      </p:pic>
      <p:sp>
        <p:nvSpPr>
          <p:cNvPr id="17515" name="TextBox 17514"/>
          <p:cNvSpPr txBox="1"/>
          <p:nvPr/>
        </p:nvSpPr>
        <p:spPr>
          <a:xfrm>
            <a:off x="9720072" y="3666744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Built for ISRO's 0.6 m</a:t>
            </a:r>
          </a:p>
        </p:txBody>
      </p:sp>
      <p:sp>
        <p:nvSpPr>
          <p:cNvPr id="17516" name="TextBox 17515"/>
          <p:cNvSpPr txBox="1"/>
          <p:nvPr/>
        </p:nvSpPr>
        <p:spPr>
          <a:xfrm>
            <a:off x="9281159" y="3986784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Auto-zoom reads a GeoTIFF's resolution and resamples Cartosat-2S to the scale the model learned.</a:t>
            </a:r>
          </a:p>
        </p:txBody>
      </p:sp>
      <p:sp>
        <p:nvSpPr>
          <p:cNvPr id="17517" name="Rounded Rectangle 17516"/>
          <p:cNvSpPr/>
          <p:nvPr/>
        </p:nvSpPr>
        <p:spPr>
          <a:xfrm>
            <a:off x="9189719" y="4535424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18" name="Oval 17517"/>
          <p:cNvSpPr/>
          <p:nvPr/>
        </p:nvSpPr>
        <p:spPr>
          <a:xfrm>
            <a:off x="9281160" y="4590288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19" name="Picture 17518" descr="cp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8942" y="4678070"/>
            <a:ext cx="190195" cy="190195"/>
          </a:xfrm>
          <a:prstGeom prst="rect">
            <a:avLst/>
          </a:prstGeom>
        </p:spPr>
      </p:pic>
      <p:sp>
        <p:nvSpPr>
          <p:cNvPr id="17520" name="TextBox 17519"/>
          <p:cNvSpPr txBox="1"/>
          <p:nvPr/>
        </p:nvSpPr>
        <p:spPr>
          <a:xfrm>
            <a:off x="9720072" y="4636008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Chosen by measurement</a:t>
            </a:r>
          </a:p>
        </p:txBody>
      </p:sp>
      <p:sp>
        <p:nvSpPr>
          <p:cNvPr id="17521" name="TextBox 17520"/>
          <p:cNvSpPr txBox="1"/>
          <p:nvPr/>
        </p:nvSpPr>
        <p:spPr>
          <a:xfrm>
            <a:off x="9281159" y="4956048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Regression, binned and head-tail-cut heads were all trained and scored; the simplest held its own, so it ships.</a:t>
            </a:r>
          </a:p>
        </p:txBody>
      </p:sp>
      <p:sp>
        <p:nvSpPr>
          <p:cNvPr id="17522" name="Rounded Rectangle 17521"/>
          <p:cNvSpPr/>
          <p:nvPr/>
        </p:nvSpPr>
        <p:spPr>
          <a:xfrm>
            <a:off x="365760" y="5541264"/>
            <a:ext cx="5486400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IT IS VALIDATED</a:t>
            </a:r>
          </a:p>
        </p:txBody>
      </p:sp>
      <p:sp>
        <p:nvSpPr>
          <p:cNvPr id="17523" name="TextBox 17522"/>
          <p:cNvSpPr txBox="1"/>
          <p:nvPr/>
        </p:nvSpPr>
        <p:spPr>
          <a:xfrm>
            <a:off x="420624" y="5870448"/>
            <a:ext cx="537667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Split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region-disjoint, not random — adjacent tiles share buildings.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Scored on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whole held-out tiles against airborne LiDAR, never on crops.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Reported per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urban / sparse / forested / mixed, and per height band.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Held back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the test split is untouched until the very end.</a:t>
            </a:r>
          </a:p>
        </p:txBody>
      </p:sp>
      <p:sp>
        <p:nvSpPr>
          <p:cNvPr id="17524" name="Rounded Rectangle 17523"/>
          <p:cNvSpPr/>
          <p:nvPr/>
        </p:nvSpPr>
        <p:spPr>
          <a:xfrm>
            <a:off x="6126480" y="5541264"/>
            <a:ext cx="4636007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40" b="0" i="0">
                <a:solidFill>
                  <a:srgbClr val="FFFFFF"/>
                </a:solidFill>
                <a:latin typeface="Franklin Gothic Demi Cond"/>
              </a:rPr>
              <a:t>TECHNOLOGY STACK — EVERY DEPENDENCY FREE AND OPEN</a:t>
            </a:r>
          </a:p>
        </p:txBody>
      </p:sp>
      <p:pic>
        <p:nvPicPr>
          <p:cNvPr id="17525" name="Picture 17524" descr="python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69926" y="5888736"/>
            <a:ext cx="292608" cy="292608"/>
          </a:xfrm>
          <a:prstGeom prst="rect">
            <a:avLst/>
          </a:prstGeom>
        </p:spPr>
      </p:pic>
      <p:sp>
        <p:nvSpPr>
          <p:cNvPr id="17526" name="TextBox 17525"/>
          <p:cNvSpPr txBox="1"/>
          <p:nvPr/>
        </p:nvSpPr>
        <p:spPr>
          <a:xfrm>
            <a:off x="6126480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Python 3.10</a:t>
            </a:r>
          </a:p>
        </p:txBody>
      </p:sp>
      <p:pic>
        <p:nvPicPr>
          <p:cNvPr id="17527" name="Picture 17526" descr="pytorch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49427" y="5888736"/>
            <a:ext cx="292608" cy="292608"/>
          </a:xfrm>
          <a:prstGeom prst="rect">
            <a:avLst/>
          </a:prstGeom>
        </p:spPr>
      </p:pic>
      <p:sp>
        <p:nvSpPr>
          <p:cNvPr id="17528" name="TextBox 17527"/>
          <p:cNvSpPr txBox="1"/>
          <p:nvPr/>
        </p:nvSpPr>
        <p:spPr>
          <a:xfrm>
            <a:off x="6705981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PyTorch</a:t>
            </a:r>
          </a:p>
        </p:txBody>
      </p:sp>
      <p:pic>
        <p:nvPicPr>
          <p:cNvPr id="17529" name="Picture 17528" descr="huggingfac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28928" y="5888736"/>
            <a:ext cx="292608" cy="292608"/>
          </a:xfrm>
          <a:prstGeom prst="rect">
            <a:avLst/>
          </a:prstGeom>
        </p:spPr>
      </p:pic>
      <p:sp>
        <p:nvSpPr>
          <p:cNvPr id="17530" name="TextBox 17529"/>
          <p:cNvSpPr txBox="1"/>
          <p:nvPr/>
        </p:nvSpPr>
        <p:spPr>
          <a:xfrm>
            <a:off x="7285482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Hugging Face</a:t>
            </a:r>
          </a:p>
        </p:txBody>
      </p:sp>
      <p:pic>
        <p:nvPicPr>
          <p:cNvPr id="17531" name="Picture 17530" descr="onnx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08429" y="5888736"/>
            <a:ext cx="292608" cy="292608"/>
          </a:xfrm>
          <a:prstGeom prst="rect">
            <a:avLst/>
          </a:prstGeom>
        </p:spPr>
      </p:pic>
      <p:sp>
        <p:nvSpPr>
          <p:cNvPr id="17532" name="TextBox 17531"/>
          <p:cNvSpPr txBox="1"/>
          <p:nvPr/>
        </p:nvSpPr>
        <p:spPr>
          <a:xfrm>
            <a:off x="7864983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ONNX Runtime</a:t>
            </a:r>
          </a:p>
        </p:txBody>
      </p:sp>
      <p:pic>
        <p:nvPicPr>
          <p:cNvPr id="17533" name="Picture 17532" descr="numpy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587930" y="5888736"/>
            <a:ext cx="292608" cy="292608"/>
          </a:xfrm>
          <a:prstGeom prst="rect">
            <a:avLst/>
          </a:prstGeom>
        </p:spPr>
      </p:pic>
      <p:sp>
        <p:nvSpPr>
          <p:cNvPr id="17534" name="TextBox 17533"/>
          <p:cNvSpPr txBox="1"/>
          <p:nvPr/>
        </p:nvSpPr>
        <p:spPr>
          <a:xfrm>
            <a:off x="8444484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NumPy / SciPy</a:t>
            </a:r>
          </a:p>
        </p:txBody>
      </p:sp>
      <p:pic>
        <p:nvPicPr>
          <p:cNvPr id="17535" name="Picture 17534" descr="databas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67431" y="5888736"/>
            <a:ext cx="292608" cy="292608"/>
          </a:xfrm>
          <a:prstGeom prst="rect">
            <a:avLst/>
          </a:prstGeom>
        </p:spPr>
      </p:pic>
      <p:sp>
        <p:nvSpPr>
          <p:cNvPr id="17536" name="TextBox 17535"/>
          <p:cNvSpPr txBox="1"/>
          <p:nvPr/>
        </p:nvSpPr>
        <p:spPr>
          <a:xfrm>
            <a:off x="9023985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GDAL / rasterio</a:t>
            </a:r>
          </a:p>
        </p:txBody>
      </p:sp>
      <p:pic>
        <p:nvPicPr>
          <p:cNvPr id="17537" name="Picture 17536" descr="threedotjs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746932" y="5888736"/>
            <a:ext cx="292608" cy="292608"/>
          </a:xfrm>
          <a:prstGeom prst="rect">
            <a:avLst/>
          </a:prstGeom>
        </p:spPr>
      </p:pic>
      <p:sp>
        <p:nvSpPr>
          <p:cNvPr id="17538" name="TextBox 17537"/>
          <p:cNvSpPr txBox="1"/>
          <p:nvPr/>
        </p:nvSpPr>
        <p:spPr>
          <a:xfrm>
            <a:off x="9603486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three.js</a:t>
            </a:r>
          </a:p>
        </p:txBody>
      </p:sp>
      <p:pic>
        <p:nvPicPr>
          <p:cNvPr id="17539" name="Picture 17538" descr="docker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326433" y="5888736"/>
            <a:ext cx="292608" cy="292608"/>
          </a:xfrm>
          <a:prstGeom prst="rect">
            <a:avLst/>
          </a:prstGeom>
        </p:spPr>
      </p:pic>
      <p:sp>
        <p:nvSpPr>
          <p:cNvPr id="17540" name="TextBox 17539"/>
          <p:cNvSpPr txBox="1"/>
          <p:nvPr/>
        </p:nvSpPr>
        <p:spPr>
          <a:xfrm>
            <a:off x="10182987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Docker</a:t>
            </a:r>
          </a:p>
        </p:txBody>
      </p:sp>
      <p:pic>
        <p:nvPicPr>
          <p:cNvPr id="17541" name="Picture 17540" descr="live_qr.png">
            <a:hlinkClick r:id="rId27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972800" y="5559552"/>
            <a:ext cx="786384" cy="786384"/>
          </a:xfrm>
          <a:prstGeom prst="rect">
            <a:avLst/>
          </a:prstGeom>
        </p:spPr>
      </p:pic>
      <p:sp>
        <p:nvSpPr>
          <p:cNvPr id="17542" name="TextBox 17541"/>
          <p:cNvSpPr txBox="1"/>
          <p:nvPr/>
        </p:nvSpPr>
        <p:spPr>
          <a:xfrm>
            <a:off x="10789920" y="6355080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0" i="0">
                <a:solidFill>
                  <a:srgbClr val="55636E"/>
                </a:solidFill>
                <a:latin typeface="Segoe UI Semibold"/>
              </a:rPr>
              <a:t>Scan: live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1" name="Oval 17410"/>
          <p:cNvSpPr/>
          <p:nvPr/>
        </p:nvSpPr>
        <p:spPr>
          <a:xfrm>
            <a:off x="49377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2" name="Picture 17411" descr="circle-check-b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558" y="1303934"/>
            <a:ext cx="190195" cy="190195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95097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TECHNICALLY PROVEN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95097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Built and measured: slide 7.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5755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6" name="Oval 17415"/>
          <p:cNvSpPr/>
          <p:nvPr/>
        </p:nvSpPr>
        <p:spPr>
          <a:xfrm>
            <a:off x="3385565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7" name="Picture 17416" descr="wifi-o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3348" y="1303934"/>
            <a:ext cx="190195" cy="190195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3842765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OPERATIONALLY SIMPLE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842765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One image, CPU only, works offline.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14934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1" name="Oval 17420"/>
          <p:cNvSpPr/>
          <p:nvPr/>
        </p:nvSpPr>
        <p:spPr>
          <a:xfrm>
            <a:off x="627735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2" name="Picture 17421" descr="indian-rupe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5138" y="1303934"/>
            <a:ext cx="190195" cy="190195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673455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ECONOMICALLY VIABLE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73455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₹0 licences, runs on existing PCs.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904113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6" name="Oval 17425"/>
          <p:cNvSpPr/>
          <p:nvPr/>
        </p:nvSpPr>
        <p:spPr>
          <a:xfrm>
            <a:off x="916914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7" name="Picture 17426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6928" y="1303934"/>
            <a:ext cx="190195" cy="190195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962634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ALREADY WORKING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962634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All three ISRO milestones are built.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65760" y="1792224"/>
            <a:ext cx="5577840" cy="292608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THE HARD PROBLEMS, AND HOW EACH IS HANDLED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365760" y="2157984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Rectangle 17431"/>
          <p:cNvSpPr/>
          <p:nvPr/>
        </p:nvSpPr>
        <p:spPr>
          <a:xfrm>
            <a:off x="365760" y="2212848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3" name="TextBox 17432"/>
          <p:cNvSpPr txBox="1"/>
          <p:nvPr/>
        </p:nvSpPr>
        <p:spPr>
          <a:xfrm>
            <a:off x="530352" y="2221991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ISRO judges on 0.6 m Cartosat-2S; open LiDAR training imagery is 0.3 m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530352" y="2459736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Auto-zoom reads the GeoTIFF's pixel size and resamples to the scale the model learned. Its cost at 0.6 m is measured on the shipped model (slide 7); fine-tuning on 0.6 m-degraded tiles is next.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365760" y="2999232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Rectangle 17435"/>
          <p:cNvSpPr/>
          <p:nvPr/>
        </p:nvSpPr>
        <p:spPr>
          <a:xfrm>
            <a:off x="365760" y="3054096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7" name="TextBox 17436"/>
          <p:cNvSpPr txBox="1"/>
          <p:nvPr/>
        </p:nvSpPr>
        <p:spPr>
          <a:xfrm>
            <a:off x="530352" y="3063239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Cartosat-2S colour is not the aerial colour the model learned from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530352" y="330098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Training jitters brightness, contrast and gamma to mimic sensor and haze; any band count loads. The cost on real Cartosat colour is not yet measured.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365760" y="3840480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0" name="Rectangle 17439"/>
          <p:cNvSpPr/>
          <p:nvPr/>
        </p:nvSpPr>
        <p:spPr>
          <a:xfrm>
            <a:off x="365760" y="3895344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1" name="TextBox 17440"/>
          <p:cNvSpPr txBox="1"/>
          <p:nvPr/>
        </p:nvSpPr>
        <p:spPr>
          <a:xfrm>
            <a:off x="530352" y="3904488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One image has no stereo parallax, so which heights can be trusted?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530352" y="4142232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Every pixel ships with an uncertainty (σ), calibrated against LiDAR. Unsure pixels are flagged for the analyst, not hidden.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365760" y="4681728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4" name="Rectangle 17443"/>
          <p:cNvSpPr/>
          <p:nvPr/>
        </p:nvSpPr>
        <p:spPr>
          <a:xfrm>
            <a:off x="365760" y="4736592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530352" y="4745736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An absolute DSM needs ground elevation a single image cannot give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530352" y="4983480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Copernicus GLO-30 terrain plus our above-ground heights, on by default. GLO-30's own error (&lt; 4 m, LE90) is inherited, and stated.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365760" y="5522976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8" name="Rectangle 17447"/>
          <p:cNvSpPr/>
          <p:nvPr/>
        </p:nvSpPr>
        <p:spPr>
          <a:xfrm>
            <a:off x="365760" y="5577840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9" name="TextBox 17448"/>
          <p:cNvSpPr txBox="1"/>
          <p:nvPr/>
        </p:nvSpPr>
        <p:spPr>
          <a:xfrm>
            <a:off x="530352" y="5586984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Field offices have no GPU and often no reliable internet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530352" y="5824728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Inference runs on an ordinary desktop CPU, about a minute per km²; results open in a 3-D viewer that ships as one offline HTML file.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272784" y="1792224"/>
            <a:ext cx="5550407" cy="292608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OPEN RISKS, AND WHAT ANSWERS EACH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6272784" y="2157984"/>
            <a:ext cx="5550407" cy="274320"/>
          </a:xfrm>
          <a:prstGeom prst="roundRect">
            <a:avLst>
              <a:gd name="adj" fmla="val 1666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3" name="Oval 17452"/>
          <p:cNvSpPr/>
          <p:nvPr/>
        </p:nvSpPr>
        <p:spPr>
          <a:xfrm>
            <a:off x="6345936" y="2185415"/>
            <a:ext cx="219456" cy="219456"/>
          </a:xfrm>
          <a:prstGeom prst="ellipse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4" name="Picture 17453" descr="triangle-ale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8605" y="2238085"/>
            <a:ext cx="114117" cy="114117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6638544" y="2194560"/>
            <a:ext cx="50749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egoe UI Semibold"/>
              </a:rPr>
              <a:t>No Indian ground truth exists yet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6455664" y="2468879"/>
            <a:ext cx="5367527" cy="585216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7" name="Rectangle 17456"/>
          <p:cNvSpPr/>
          <p:nvPr/>
        </p:nvSpPr>
        <p:spPr>
          <a:xfrm>
            <a:off x="6455664" y="2505456"/>
            <a:ext cx="54864" cy="51206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6601968" y="2496312"/>
            <a:ext cx="511149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2A3540"/>
                </a:solidFill>
                <a:latin typeface="Segoe UI"/>
              </a:rPr>
              <a:t>Over India we can only compare against another model, Google Open Buildings, so we report agreement, not accuracy. </a:t>
            </a:r>
            <a:r>
              <a:rPr sz="880" b="0" i="0">
                <a:solidFill>
                  <a:srgbClr val="141B22"/>
                </a:solidFill>
                <a:latin typeface="Segoe UI Semibold"/>
              </a:rPr>
              <a:t>Answered by </a:t>
            </a:r>
            <a:r>
              <a:rPr sz="880" b="0" i="0">
                <a:solidFill>
                  <a:srgbClr val="2A3540"/>
                </a:solidFill>
                <a:latin typeface="Segoe UI"/>
              </a:rPr>
              <a:t>SAC stereo or DGPS control points in the pilot (below).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6272784" y="3108960"/>
            <a:ext cx="5550407" cy="274320"/>
          </a:xfrm>
          <a:prstGeom prst="roundRect">
            <a:avLst>
              <a:gd name="adj" fmla="val 1666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Oval 17459"/>
          <p:cNvSpPr/>
          <p:nvPr/>
        </p:nvSpPr>
        <p:spPr>
          <a:xfrm>
            <a:off x="6345936" y="3136391"/>
            <a:ext cx="219456" cy="219456"/>
          </a:xfrm>
          <a:prstGeom prst="ellipse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1" name="Picture 17460" descr="triangle-ale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8605" y="3189061"/>
            <a:ext cx="114117" cy="114117"/>
          </a:xfrm>
          <a:prstGeom prst="rect">
            <a:avLst/>
          </a:prstGeom>
        </p:spPr>
      </p:pic>
      <p:sp>
        <p:nvSpPr>
          <p:cNvPr id="17462" name="TextBox 17461"/>
          <p:cNvSpPr txBox="1"/>
          <p:nvPr/>
        </p:nvSpPr>
        <p:spPr>
          <a:xfrm>
            <a:off x="6638544" y="3145536"/>
            <a:ext cx="50749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egoe UI Semibold"/>
              </a:rPr>
              <a:t>Tall buildings compress toward the mean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6455664" y="3419856"/>
            <a:ext cx="5367527" cy="585216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4" name="Rectangle 17463"/>
          <p:cNvSpPr/>
          <p:nvPr/>
        </p:nvSpPr>
        <p:spPr>
          <a:xfrm>
            <a:off x="6455664" y="3456432"/>
            <a:ext cx="54864" cy="51206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5" name="TextBox 17464"/>
          <p:cNvSpPr txBox="1"/>
          <p:nvPr/>
        </p:nvSpPr>
        <p:spPr>
          <a:xfrm>
            <a:off x="6601968" y="3447288"/>
            <a:ext cx="511149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2A3540"/>
                </a:solidFill>
                <a:latin typeface="Segoe UI"/>
              </a:rPr>
              <a:t>Open training data stops near 83 m, so towers are under-called. </a:t>
            </a:r>
            <a:r>
              <a:rPr sz="880" b="0" i="0">
                <a:solidFill>
                  <a:srgbClr val="141B22"/>
                </a:solidFill>
                <a:latin typeface="Segoe UI Semibold"/>
              </a:rPr>
              <a:t>Answered by </a:t>
            </a:r>
            <a:r>
              <a:rPr sz="880" b="0" i="0">
                <a:solidFill>
                  <a:srgbClr val="2A3540"/>
                </a:solidFill>
                <a:latin typeface="Segoe UI"/>
              </a:rPr>
              <a:t>ISRO's GAMUS (it moved the gap significantly), a control-point power-law fit, and tall-building LiDAR.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6272784" y="4078224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DEPLOYMENT PLAN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6272784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8" name="Rounded Rectangle 17467"/>
          <p:cNvSpPr/>
          <p:nvPr/>
        </p:nvSpPr>
        <p:spPr>
          <a:xfrm>
            <a:off x="6345936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1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6638544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Pilot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6345936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Open Bhoonidhi CartoDEM and LISS-4 tiles; per-terrain metrics.</a:t>
            </a:r>
          </a:p>
        </p:txBody>
      </p:sp>
      <p:sp>
        <p:nvSpPr>
          <p:cNvPr id="17471" name="Right Arrow 17470"/>
          <p:cNvSpPr/>
          <p:nvPr/>
        </p:nvSpPr>
        <p:spPr>
          <a:xfrm>
            <a:off x="7582662" y="4782312"/>
            <a:ext cx="109728" cy="128016"/>
          </a:xfrm>
          <a:prstGeom prst="right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2" name="Rounded Rectangle 17471"/>
          <p:cNvSpPr/>
          <p:nvPr/>
        </p:nvSpPr>
        <p:spPr>
          <a:xfrm>
            <a:off x="7683246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3" name="Rounded Rectangle 17472"/>
          <p:cNvSpPr/>
          <p:nvPr/>
        </p:nvSpPr>
        <p:spPr>
          <a:xfrm>
            <a:off x="7756398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2</a:t>
            </a:r>
          </a:p>
        </p:txBody>
      </p:sp>
      <p:sp>
        <p:nvSpPr>
          <p:cNvPr id="17474" name="TextBox 17473"/>
          <p:cNvSpPr txBox="1"/>
          <p:nvPr/>
        </p:nvSpPr>
        <p:spPr>
          <a:xfrm>
            <a:off x="8049006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Validate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7756398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SAC Cartosat stereo or DGPS turns the Sikkim check into accuracy.</a:t>
            </a:r>
          </a:p>
        </p:txBody>
      </p:sp>
      <p:sp>
        <p:nvSpPr>
          <p:cNvPr id="17476" name="Right Arrow 17475"/>
          <p:cNvSpPr/>
          <p:nvPr/>
        </p:nvSpPr>
        <p:spPr>
          <a:xfrm>
            <a:off x="8993124" y="4782312"/>
            <a:ext cx="109728" cy="128016"/>
          </a:xfrm>
          <a:prstGeom prst="right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7" name="Rounded Rectangle 17476"/>
          <p:cNvSpPr/>
          <p:nvPr/>
        </p:nvSpPr>
        <p:spPr>
          <a:xfrm>
            <a:off x="9093708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8" name="Rounded Rectangle 17477"/>
          <p:cNvSpPr/>
          <p:nvPr/>
        </p:nvSpPr>
        <p:spPr>
          <a:xfrm>
            <a:off x="9166860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3</a:t>
            </a:r>
          </a:p>
        </p:txBody>
      </p:sp>
      <p:sp>
        <p:nvSpPr>
          <p:cNvPr id="17479" name="TextBox 17478"/>
          <p:cNvSpPr txBox="1"/>
          <p:nvPr/>
        </p:nvSpPr>
        <p:spPr>
          <a:xfrm>
            <a:off x="9459468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Integrate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9166860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Container behind an internal API; the viewer opens from disk.</a:t>
            </a:r>
          </a:p>
        </p:txBody>
      </p:sp>
      <p:sp>
        <p:nvSpPr>
          <p:cNvPr id="17481" name="Right Arrow 17480"/>
          <p:cNvSpPr/>
          <p:nvPr/>
        </p:nvSpPr>
        <p:spPr>
          <a:xfrm>
            <a:off x="10403586" y="4782312"/>
            <a:ext cx="109728" cy="128016"/>
          </a:xfrm>
          <a:prstGeom prst="right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2" name="Rounded Rectangle 17481"/>
          <p:cNvSpPr/>
          <p:nvPr/>
        </p:nvSpPr>
        <p:spPr>
          <a:xfrm>
            <a:off x="10504170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3" name="Rounded Rectangle 17482"/>
          <p:cNvSpPr/>
          <p:nvPr/>
        </p:nvSpPr>
        <p:spPr>
          <a:xfrm>
            <a:off x="10577322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4</a:t>
            </a:r>
          </a:p>
        </p:txBody>
      </p:sp>
      <p:sp>
        <p:nvSpPr>
          <p:cNvPr id="17484" name="TextBox 17483"/>
          <p:cNvSpPr txBox="1"/>
          <p:nvPr/>
        </p:nvSpPr>
        <p:spPr>
          <a:xfrm>
            <a:off x="10869930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Scale</a:t>
            </a:r>
          </a:p>
        </p:txBody>
      </p:sp>
      <p:sp>
        <p:nvSpPr>
          <p:cNvPr id="17485" name="TextBox 17484"/>
          <p:cNvSpPr txBox="1"/>
          <p:nvPr/>
        </p:nvSpPr>
        <p:spPr>
          <a:xfrm>
            <a:off x="10577322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Batch the archive: every scene gains a height layer.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6272784" y="5340096"/>
            <a:ext cx="2720339" cy="256032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COST ESTIMATE</a:t>
            </a:r>
          </a:p>
        </p:txBody>
      </p:sp>
      <p:sp>
        <p:nvSpPr>
          <p:cNvPr id="17487" name="TextBox 17486"/>
          <p:cNvSpPr txBox="1"/>
          <p:nvPr/>
        </p:nvSpPr>
        <p:spPr>
          <a:xfrm>
            <a:off x="6309360" y="5650992"/>
            <a:ext cx="2647187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Licences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₹0 — every dependency open source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Training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one consumer RTX 3060 GPU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Compute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~1 min per km² on a desktop CPU*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Hosting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one two-core CPU server, live today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Imagery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already flown and already paid for</a:t>
            </a:r>
          </a:p>
        </p:txBody>
      </p:sp>
      <p:sp>
        <p:nvSpPr>
          <p:cNvPr id="17488" name="Rounded Rectangle 17487"/>
          <p:cNvSpPr/>
          <p:nvPr/>
        </p:nvSpPr>
        <p:spPr>
          <a:xfrm>
            <a:off x="9102852" y="5340096"/>
            <a:ext cx="2720339" cy="256032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TESTING PLAN</a:t>
            </a:r>
          </a:p>
        </p:txBody>
      </p:sp>
      <p:sp>
        <p:nvSpPr>
          <p:cNvPr id="17489" name="TextBox 17488"/>
          <p:cNvSpPr txBox="1"/>
          <p:nvPr/>
        </p:nvSpPr>
        <p:spPr>
          <a:xfrm>
            <a:off x="9139428" y="5650992"/>
            <a:ext cx="2647187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E8E5A"/>
                </a:solidFill>
                <a:latin typeface="Segoe UI Semibold"/>
              </a:rPr>
              <a:t>Done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region-disjoint LiDAR validation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E8E5A"/>
                </a:solidFill>
                <a:latin typeface="Segoe UI Semibold"/>
              </a:rPr>
              <a:t>Done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second city, with a 338 m buffer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E8E5A"/>
                </a:solidFill>
                <a:latin typeface="Segoe UI Semibold"/>
              </a:rPr>
              <a:t>Done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ISRO's 0.6 m, on the shipped model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2E6E92"/>
                </a:solidFill>
                <a:latin typeface="Segoe UI Semibold"/>
              </a:rPr>
              <a:t>Next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held-out test split, scored once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2E6E92"/>
                </a:solidFill>
                <a:latin typeface="Segoe UI Semibold"/>
              </a:rPr>
              <a:t>Next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Indian truth: SAC stereo or DGPS</a:t>
            </a:r>
          </a:p>
        </p:txBody>
      </p:sp>
      <p:sp>
        <p:nvSpPr>
          <p:cNvPr id="17490" name="TextBox 17489"/>
          <p:cNvSpPr txBox="1"/>
          <p:nvPr/>
        </p:nvSpPr>
        <p:spPr>
          <a:xfrm>
            <a:off x="6272784" y="6400800"/>
            <a:ext cx="5550407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55636E"/>
                </a:solidFill>
                <a:latin typeface="Segoe UI"/>
              </a:rPr>
              <a:t>*Derived: 5.0 s per 1024 px tile (0.094 km²), single pass, measured on a desktop CPU.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577840" cy="310896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DISASTER USE CASE — BUILT, ON INDIAN TERRAIN</a:t>
            </a:r>
          </a:p>
        </p:txBody>
      </p:sp>
      <p:pic>
        <p:nvPicPr>
          <p:cNvPr id="17411" name="Picture 17410" descr="sikkim_flood_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481328"/>
            <a:ext cx="5577840" cy="206586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17412" name="Rounded Rectangle 17411"/>
          <p:cNvSpPr/>
          <p:nvPr/>
        </p:nvSpPr>
        <p:spPr>
          <a:xfrm>
            <a:off x="4023360" y="1481328"/>
            <a:ext cx="1649577" cy="237744"/>
          </a:xfrm>
          <a:prstGeom prst="roundRect">
            <a:avLst>
              <a:gd name="adj" fmla="val 1538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SIKKIM · LIVE FLOOD TOOL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57200" y="3089994"/>
            <a:ext cx="5394959" cy="384048"/>
          </a:xfrm>
          <a:prstGeom prst="roundRect">
            <a:avLst>
              <a:gd name="adj" fmla="val 14285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548640" y="3135714"/>
            <a:ext cx="16520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D89E3C"/>
                </a:solidFill>
                <a:latin typeface="Franklin Gothic Demi"/>
              </a:rPr>
              <a:t>1,143 m  </a:t>
            </a:r>
            <a:r>
              <a:rPr sz="860" b="0" i="0">
                <a:solidFill>
                  <a:srgbClr val="FFFFFF"/>
                </a:solidFill>
                <a:latin typeface="Franklin Gothic Demi Cond"/>
              </a:rPr>
              <a:t>WATER LEVEL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2255520" y="3163146"/>
            <a:ext cx="9144" cy="237744"/>
          </a:xfrm>
          <a:prstGeom prst="rect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2346960" y="3135714"/>
            <a:ext cx="16520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D89E3C"/>
                </a:solidFill>
                <a:latin typeface="Franklin Gothic Demi"/>
              </a:rPr>
              <a:t>20.5 %  </a:t>
            </a:r>
            <a:r>
              <a:rPr sz="860" b="0" i="0">
                <a:solidFill>
                  <a:srgbClr val="FFFFFF"/>
                </a:solidFill>
                <a:latin typeface="Franklin Gothic Demi Cond"/>
              </a:rPr>
              <a:t>GROUND UNDER WATER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053840" y="3163146"/>
            <a:ext cx="9144" cy="237744"/>
          </a:xfrm>
          <a:prstGeom prst="rect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4145280" y="3135714"/>
            <a:ext cx="16520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D89E3C"/>
                </a:solidFill>
                <a:latin typeface="Franklin Gothic Demi"/>
              </a:rPr>
              <a:t>44  </a:t>
            </a:r>
            <a:r>
              <a:rPr sz="860" b="0" i="0">
                <a:solidFill>
                  <a:srgbClr val="FFFFFF"/>
                </a:solidFill>
                <a:latin typeface="Franklin Gothic Demi Cond"/>
              </a:rPr>
              <a:t>BUILDINGS FLOODED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65760" y="3583770"/>
            <a:ext cx="55778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Raise the water and the viewer counts ground under water and buildings flooded</a:t>
            </a:r>
            <a:r>
              <a:rPr sz="860" b="0" i="0">
                <a:solidFill>
                  <a:srgbClr val="55636E"/>
                </a:solidFill>
                <a:latin typeface="Segoe UI"/>
              </a:rPr>
              <a:t>, and flags the ones too close to call from its own sigma. Ground from Copernicus GLO-30; a flat-water model, labelled as one. Imagery © Maxar, CC-BY-4.0.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65760" y="4041648"/>
            <a:ext cx="5577840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WHO IT SERVES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65760" y="4407408"/>
            <a:ext cx="17983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429768" y="4453128"/>
            <a:ext cx="274320" cy="2743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3" name="Picture 17422" descr="sir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" y="4518964"/>
            <a:ext cx="142646" cy="142646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768096" y="4480560"/>
            <a:ext cx="13228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DISASTER RESPONSE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57200" y="4709160"/>
            <a:ext cx="1633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Post-event surfaces without waiting for a stereo pair.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2255519" y="4407408"/>
            <a:ext cx="17983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2319528" y="4453128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8" name="Picture 17427" descr="satell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5364" y="4518964"/>
            <a:ext cx="142646" cy="142646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2657855" y="4480560"/>
            <a:ext cx="13228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ISRO AND SAC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2346960" y="4709160"/>
            <a:ext cx="1633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Height for the single-view Cartosat archive.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4145280" y="4407408"/>
            <a:ext cx="17983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4209287" y="4453128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3" name="Picture 17432" descr="building-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5124" y="4518964"/>
            <a:ext cx="142646" cy="142646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4547616" y="4480560"/>
            <a:ext cx="13228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URBAN PLANNING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236720" y="4709160"/>
            <a:ext cx="1633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Building heights for FSI and shadow checks (AMRUT).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365760" y="5029200"/>
            <a:ext cx="27432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429768" y="5074920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8" name="Picture 17437" descr="lea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604" y="5140756"/>
            <a:ext cx="142646" cy="142646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768096" y="5102352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FORESTRY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457200" y="533095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Canopy height proxies for biomass and encroachment.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3200400" y="5029200"/>
            <a:ext cx="27432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Oval 17441"/>
          <p:cNvSpPr/>
          <p:nvPr/>
        </p:nvSpPr>
        <p:spPr>
          <a:xfrm>
            <a:off x="3264408" y="5074920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3" name="Picture 17442" descr="radio-tow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0244" y="5140756"/>
            <a:ext cx="142646" cy="142646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3602736" y="5102352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TELECOM ROLLOUT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3291840" y="533095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Line-of-sight and tower siting without a LiDAR survey.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6126480" y="1115568"/>
            <a:ext cx="5696712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BEFORE AND AFTER, FOR THE PEOPLE WHO USE IT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7443215" y="1499616"/>
            <a:ext cx="1792224" cy="256032"/>
          </a:xfrm>
          <a:prstGeom prst="roundRect">
            <a:avLst>
              <a:gd name="adj" fmla="val 17857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60" b="0" i="0">
                <a:solidFill>
                  <a:srgbClr val="FFFFFF"/>
                </a:solidFill>
                <a:latin typeface="Franklin Gothic Demi Cond"/>
              </a:rPr>
              <a:t>TODAY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9272015" y="1499616"/>
            <a:ext cx="2551176" cy="256032"/>
          </a:xfrm>
          <a:prstGeom prst="roundRect">
            <a:avLst>
              <a:gd name="adj" fmla="val 17857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60" b="0" i="0">
                <a:solidFill>
                  <a:srgbClr val="FFFFFF"/>
                </a:solidFill>
                <a:latin typeface="Franklin Gothic Demi Cond"/>
              </a:rPr>
              <a:t>WITH DEPTHWIZARD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6126480" y="1810512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Rounded Rectangle 17449"/>
          <p:cNvSpPr/>
          <p:nvPr/>
        </p:nvSpPr>
        <p:spPr>
          <a:xfrm>
            <a:off x="6199632" y="1883664"/>
            <a:ext cx="453542" cy="164592"/>
          </a:xfrm>
          <a:prstGeom prst="roundRect">
            <a:avLst>
              <a:gd name="adj" fmla="val 27777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SOCIAL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199632" y="2084831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Disaster response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7443215" y="1810512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7516367" y="1874519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Wait for a stereo pair or a survey flight.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9272015" y="1810512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5" name="TextBox 17454"/>
          <p:cNvSpPr txBox="1"/>
          <p:nvPr/>
        </p:nvSpPr>
        <p:spPr>
          <a:xfrm>
            <a:off x="9345167" y="1874519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A surface from one post-event image — about a minute per tile on a CPU web host.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6126480" y="2432304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7" name="Rounded Rectangle 17456"/>
          <p:cNvSpPr/>
          <p:nvPr/>
        </p:nvSpPr>
        <p:spPr>
          <a:xfrm>
            <a:off x="6199632" y="2505456"/>
            <a:ext cx="453542" cy="164592"/>
          </a:xfrm>
          <a:prstGeom prst="roundRect">
            <a:avLst>
              <a:gd name="adj" fmla="val 27777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SOCIAL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6199632" y="2706624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Trust in the number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7443215" y="2432304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7516367" y="2496312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One height, no error bar.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9272015" y="2432304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2" name="TextBox 17461"/>
          <p:cNvSpPr txBox="1"/>
          <p:nvPr/>
        </p:nvSpPr>
        <p:spPr>
          <a:xfrm>
            <a:off x="9345167" y="2496312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Height plus a per-pixel sigma: where it says unsure, it is wrong.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6126480" y="3054096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4" name="Rounded Rectangle 17463"/>
          <p:cNvSpPr/>
          <p:nvPr/>
        </p:nvSpPr>
        <p:spPr>
          <a:xfrm>
            <a:off x="6199632" y="3127248"/>
            <a:ext cx="574243" cy="164592"/>
          </a:xfrm>
          <a:prstGeom prst="roundRect">
            <a:avLst>
              <a:gd name="adj" fmla="val 27777"/>
            </a:avLst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ECONOMIC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6199632" y="3328415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The archive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7443215" y="3054096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7" name="TextBox 17466"/>
          <p:cNvSpPr txBox="1"/>
          <p:nvPr/>
        </p:nvSpPr>
        <p:spPr>
          <a:xfrm>
            <a:off x="7516367" y="3118103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Decades of single-view Cartosat with no height.</a:t>
            </a:r>
          </a:p>
        </p:txBody>
      </p:sp>
      <p:sp>
        <p:nvSpPr>
          <p:cNvPr id="17468" name="Rounded Rectangle 17467"/>
          <p:cNvSpPr/>
          <p:nvPr/>
        </p:nvSpPr>
        <p:spPr>
          <a:xfrm>
            <a:off x="9272015" y="3054096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9" name="TextBox 17468"/>
          <p:cNvSpPr txBox="1"/>
          <p:nvPr/>
        </p:nvSpPr>
        <p:spPr>
          <a:xfrm>
            <a:off x="9345167" y="3118103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Every archived scene can gain a height layer, with no new tasking.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6126480" y="3675887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1" name="Rounded Rectangle 17470"/>
          <p:cNvSpPr/>
          <p:nvPr/>
        </p:nvSpPr>
        <p:spPr>
          <a:xfrm>
            <a:off x="6199632" y="3749039"/>
            <a:ext cx="574243" cy="164592"/>
          </a:xfrm>
          <a:prstGeom prst="roundRect">
            <a:avLst>
              <a:gd name="adj" fmla="val 27777"/>
            </a:avLst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ECONOMIC</a:t>
            </a:r>
          </a:p>
        </p:txBody>
      </p:sp>
      <p:sp>
        <p:nvSpPr>
          <p:cNvPr id="17472" name="TextBox 17471"/>
          <p:cNvSpPr txBox="1"/>
          <p:nvPr/>
        </p:nvSpPr>
        <p:spPr>
          <a:xfrm>
            <a:off x="6199632" y="3950207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Municipal bodies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7443215" y="3675887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4" name="TextBox 17473"/>
          <p:cNvSpPr txBox="1"/>
          <p:nvPr/>
        </p:nvSpPr>
        <p:spPr>
          <a:xfrm>
            <a:off x="7516367" y="3739896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Building heights need a survey budget.</a:t>
            </a:r>
          </a:p>
        </p:txBody>
      </p:sp>
      <p:sp>
        <p:nvSpPr>
          <p:cNvPr id="17475" name="Rounded Rectangle 17474"/>
          <p:cNvSpPr/>
          <p:nvPr/>
        </p:nvSpPr>
        <p:spPr>
          <a:xfrm>
            <a:off x="9272015" y="3675887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6" name="TextBox 17475"/>
          <p:cNvSpPr txBox="1"/>
          <p:nvPr/>
        </p:nvSpPr>
        <p:spPr>
          <a:xfrm>
            <a:off x="9345167" y="3739896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Free and open; 36.8 MB runs offline on a laptop CPU.</a:t>
            </a:r>
          </a:p>
        </p:txBody>
      </p:sp>
      <p:sp>
        <p:nvSpPr>
          <p:cNvPr id="17477" name="Rounded Rectangle 17476"/>
          <p:cNvSpPr/>
          <p:nvPr/>
        </p:nvSpPr>
        <p:spPr>
          <a:xfrm>
            <a:off x="6126480" y="4297680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8" name="Rounded Rectangle 17477"/>
          <p:cNvSpPr/>
          <p:nvPr/>
        </p:nvSpPr>
        <p:spPr>
          <a:xfrm>
            <a:off x="6199632" y="4370832"/>
            <a:ext cx="875995" cy="164592"/>
          </a:xfrm>
          <a:prstGeom prst="roundRect">
            <a:avLst>
              <a:gd name="adj" fmla="val 27777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ENVIRONMENTAL</a:t>
            </a:r>
          </a:p>
        </p:txBody>
      </p:sp>
      <p:sp>
        <p:nvSpPr>
          <p:cNvPr id="17479" name="TextBox 17478"/>
          <p:cNvSpPr txBox="1"/>
          <p:nvPr/>
        </p:nvSpPr>
        <p:spPr>
          <a:xfrm>
            <a:off x="6199632" y="4572000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Survey flights</a:t>
            </a:r>
          </a:p>
        </p:txBody>
      </p:sp>
      <p:sp>
        <p:nvSpPr>
          <p:cNvPr id="17480" name="Rounded Rectangle 17479"/>
          <p:cNvSpPr/>
          <p:nvPr/>
        </p:nvSpPr>
        <p:spPr>
          <a:xfrm>
            <a:off x="7443215" y="4297680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1" name="TextBox 17480"/>
          <p:cNvSpPr txBox="1"/>
          <p:nvPr/>
        </p:nvSpPr>
        <p:spPr>
          <a:xfrm>
            <a:off x="7516367" y="4361688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New LiDAR or stereo sorties to fly.</a:t>
            </a:r>
          </a:p>
        </p:txBody>
      </p:sp>
      <p:sp>
        <p:nvSpPr>
          <p:cNvPr id="17482" name="Rounded Rectangle 17481"/>
          <p:cNvSpPr/>
          <p:nvPr/>
        </p:nvSpPr>
        <p:spPr>
          <a:xfrm>
            <a:off x="9272015" y="4297680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3" name="TextBox 17482"/>
          <p:cNvSpPr txBox="1"/>
          <p:nvPr/>
        </p:nvSpPr>
        <p:spPr>
          <a:xfrm>
            <a:off x="9345167" y="4361688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None: it reuses imagery already flown.</a:t>
            </a:r>
          </a:p>
        </p:txBody>
      </p:sp>
      <p:sp>
        <p:nvSpPr>
          <p:cNvPr id="17484" name="Rounded Rectangle 17483"/>
          <p:cNvSpPr/>
          <p:nvPr/>
        </p:nvSpPr>
        <p:spPr>
          <a:xfrm>
            <a:off x="6126480" y="4919472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Rounded Rectangle 17484"/>
          <p:cNvSpPr/>
          <p:nvPr/>
        </p:nvSpPr>
        <p:spPr>
          <a:xfrm>
            <a:off x="6199632" y="4992624"/>
            <a:ext cx="875995" cy="164592"/>
          </a:xfrm>
          <a:prstGeom prst="roundRect">
            <a:avLst>
              <a:gd name="adj" fmla="val 27777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ENVIRONMENTAL</a:t>
            </a:r>
          </a:p>
        </p:txBody>
      </p:sp>
      <p:sp>
        <p:nvSpPr>
          <p:cNvPr id="17486" name="TextBox 17485"/>
          <p:cNvSpPr txBox="1"/>
          <p:nvPr/>
        </p:nvSpPr>
        <p:spPr>
          <a:xfrm>
            <a:off x="6199632" y="5193792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Forest cover</a:t>
            </a:r>
          </a:p>
        </p:txBody>
      </p:sp>
      <p:sp>
        <p:nvSpPr>
          <p:cNvPr id="17487" name="Rounded Rectangle 17486"/>
          <p:cNvSpPr/>
          <p:nvPr/>
        </p:nvSpPr>
        <p:spPr>
          <a:xfrm>
            <a:off x="7443215" y="4919472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8" name="TextBox 17487"/>
          <p:cNvSpPr txBox="1"/>
          <p:nvPr/>
        </p:nvSpPr>
        <p:spPr>
          <a:xfrm>
            <a:off x="7516367" y="4983480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Canopy height needs airborne LiDAR.</a:t>
            </a:r>
          </a:p>
        </p:txBody>
      </p:sp>
      <p:sp>
        <p:nvSpPr>
          <p:cNvPr id="17489" name="Rounded Rectangle 17488"/>
          <p:cNvSpPr/>
          <p:nvPr/>
        </p:nvSpPr>
        <p:spPr>
          <a:xfrm>
            <a:off x="9272015" y="4919472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0" name="TextBox 17489"/>
          <p:cNvSpPr txBox="1"/>
          <p:nvPr/>
        </p:nvSpPr>
        <p:spPr>
          <a:xfrm>
            <a:off x="9345167" y="4983480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A canopy-height proxy from optical imagery alone.</a:t>
            </a:r>
          </a:p>
        </p:txBody>
      </p:sp>
      <p:sp>
        <p:nvSpPr>
          <p:cNvPr id="17491" name="Rounded Rectangle 17490"/>
          <p:cNvSpPr/>
          <p:nvPr/>
        </p:nvSpPr>
        <p:spPr>
          <a:xfrm>
            <a:off x="36576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2" name="TextBox 17491"/>
          <p:cNvSpPr txBox="1"/>
          <p:nvPr/>
        </p:nvSpPr>
        <p:spPr>
          <a:xfrm>
            <a:off x="51206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0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new flights</a:t>
            </a:r>
          </a:p>
        </p:txBody>
      </p:sp>
      <p:sp>
        <p:nvSpPr>
          <p:cNvPr id="17493" name="TextBox 17492"/>
          <p:cNvSpPr txBox="1"/>
          <p:nvPr/>
        </p:nvSpPr>
        <p:spPr>
          <a:xfrm>
            <a:off x="51206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input is imagery already flown and paid for</a:t>
            </a:r>
          </a:p>
        </p:txBody>
      </p:sp>
      <p:sp>
        <p:nvSpPr>
          <p:cNvPr id="17494" name="Rounded Rectangle 17493"/>
          <p:cNvSpPr/>
          <p:nvPr/>
        </p:nvSpPr>
        <p:spPr>
          <a:xfrm>
            <a:off x="325755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5" name="TextBox 17494"/>
          <p:cNvSpPr txBox="1"/>
          <p:nvPr/>
        </p:nvSpPr>
        <p:spPr>
          <a:xfrm>
            <a:off x="340385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1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image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340385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no stereo pair, no revisit wait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614934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8" name="TextBox 17497"/>
          <p:cNvSpPr txBox="1"/>
          <p:nvPr/>
        </p:nvSpPr>
        <p:spPr>
          <a:xfrm>
            <a:off x="629564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1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min / km²</a:t>
            </a:r>
          </a:p>
        </p:txBody>
      </p:sp>
      <p:sp>
        <p:nvSpPr>
          <p:cNvPr id="17499" name="TextBox 17498"/>
          <p:cNvSpPr txBox="1"/>
          <p:nvPr/>
        </p:nvSpPr>
        <p:spPr>
          <a:xfrm>
            <a:off x="629564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on a desktop CPU, single pass*</a:t>
            </a:r>
          </a:p>
        </p:txBody>
      </p:sp>
      <p:sp>
        <p:nvSpPr>
          <p:cNvPr id="17500" name="Rounded Rectangle 17499"/>
          <p:cNvSpPr/>
          <p:nvPr/>
        </p:nvSpPr>
        <p:spPr>
          <a:xfrm>
            <a:off x="904113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1" name="TextBox 17500"/>
          <p:cNvSpPr txBox="1"/>
          <p:nvPr/>
        </p:nvSpPr>
        <p:spPr>
          <a:xfrm>
            <a:off x="918743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0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licence fees</a:t>
            </a:r>
          </a:p>
        </p:txBody>
      </p:sp>
      <p:sp>
        <p:nvSpPr>
          <p:cNvPr id="17502" name="TextBox 17501"/>
          <p:cNvSpPr txBox="1"/>
          <p:nvPr/>
        </p:nvSpPr>
        <p:spPr>
          <a:xfrm>
            <a:off x="918743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any state agency can adopt it</a:t>
            </a:r>
          </a:p>
        </p:txBody>
      </p:sp>
      <p:sp>
        <p:nvSpPr>
          <p:cNvPr id="17503" name="TextBox 17502"/>
          <p:cNvSpPr txBox="1"/>
          <p:nvPr/>
        </p:nvSpPr>
        <p:spPr>
          <a:xfrm>
            <a:off x="365760" y="6373368"/>
            <a:ext cx="1145743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 i="0">
                <a:solidFill>
                  <a:srgbClr val="141B22"/>
                </a:solidFill>
                <a:latin typeface="Segoe UI Semibold"/>
              </a:rPr>
              <a:t>Scales by batch, on CPUs agencies already own: the whole archive, not one scene.</a:t>
            </a:r>
            <a:r>
              <a:rPr sz="819" b="0" i="0">
                <a:solidFill>
                  <a:srgbClr val="55636E"/>
                </a:solidFill>
                <a:latin typeface="Segoe UI"/>
              </a:rPr>
              <a:t>   *Derived: 5.0 s per 1024 px tile (0.094 km²) measured on a desktop CPU.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RESEARCH THAT CHANGED WHAT WE BUILT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481328"/>
            <a:ext cx="3639312" cy="2011680"/>
          </a:xfrm>
          <a:prstGeom prst="roundRect">
            <a:avLst>
              <a:gd name="adj" fmla="val 454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475488" y="152704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Depth Anything V2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Yang et al., NeurIPS 2024. The backbone we fine-tune.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75488" y="191109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HTC-DC Net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Chen et al., TGRS 2023. Head-tail cut, distribution constraints.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75488" y="2295144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Depth Any Canopy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Ouaknine et al., 2024. The recipe for aerial height.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75488" y="2679192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Beta-NLL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Seitzer et al., ICLR 2022. Keeps the mean head learning.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75488" y="30632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IM2HEIGHT, TSE-Net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Prior single-view height — our baseline for the field.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65760" y="3639312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DATA AND REFERENCE SURFACES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65760" y="4005072"/>
            <a:ext cx="3639312" cy="2395728"/>
          </a:xfrm>
          <a:prstGeom prst="roundRect">
            <a:avLst>
              <a:gd name="adj" fmla="val 3816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475488" y="4050791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DFC2019 Track 1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US3D at 0.3 m GSD with airborne LiDAR truth.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75488" y="44348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GAMUS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ISRO's recommended set. 6,204 tiles, 0.33 m, DC and Philadelphia.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75488" y="481888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Copernicus GLO-30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Free 30 m global DEM; the absolute metric anchor.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75488" y="520293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GlobalBuildingAtlas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Published 5.9 m RMSE over Asia — the external bar.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75488" y="5586983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Google Open Buildings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A cross-check over India, never used as truth.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75488" y="5971031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Maxar Open Data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Sikkim imagery, CC-BY-4.0, © Maxar Technologies.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4206240" y="1115568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TRIED, MEASURED, REJECTED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206240" y="1481328"/>
            <a:ext cx="3639312" cy="2011680"/>
          </a:xfrm>
          <a:prstGeom prst="roundRect">
            <a:avLst>
              <a:gd name="adj" fmla="val 454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4315968" y="152704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Ordinal / binned head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All heads land at a 0.43–0.49 slope. No gain.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315968" y="191109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Shadow photogrammetry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Oracle shadows reach r 0.503; the net reaches 0.787.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315968" y="2295144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LDS tail reweighting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Pixels above 20 m are 7.5% but carry 78.8% of error.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315968" y="2679192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Two-model ensemble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Error correlation 0.925 — averaging buys nothing.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315968" y="30632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Global de-compression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A rescale moves error, it does not remove it.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4206240" y="3639312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PROBES WE RAN, AND WHAT EACH CLOSED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4206240" y="4005072"/>
            <a:ext cx="3639312" cy="2011680"/>
          </a:xfrm>
          <a:prstGeom prst="roundRect">
            <a:avLst>
              <a:gd name="adj" fmla="val 454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4315968" y="4050791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01 Tall buildings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Data, not capacity. No open set at 0.3 m reaches 50 m.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315968" y="44348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03 Guided filtering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Squaring off roofs made every metric worse.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4315968" y="481888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04 Where detail went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Detail follows the ground area one token covers.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315968" y="520293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05b ISRO's 0.6 m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Shipped model, 80 tiles: +15% per building after auto-zoom.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315968" y="5586983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06 Height compression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Measured: 0.473 × truth + 2.66 m.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8046720" y="1115568"/>
            <a:ext cx="3776471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WE COMPARE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8046720" y="1481328"/>
            <a:ext cx="1700601" cy="402336"/>
          </a:xfrm>
          <a:prstGeom prst="roundRect">
            <a:avLst>
              <a:gd name="adj" fmla="val 11363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Franklin Gothic Demi"/>
              </a:rPr>
              <a:t>PARAMETER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9783897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STEREO OR LIDAR SURVEY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10463662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PUBLISHED SINGLE-VIEW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11143427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19" b="0" i="0">
                <a:solidFill>
                  <a:srgbClr val="FFFFFF"/>
                </a:solidFill>
                <a:latin typeface="Franklin Gothic Demi Cond"/>
              </a:rPr>
              <a:t>DEPTHWIZARD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8046720" y="1929384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8138160" y="1975103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One archived image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9783897" y="1929384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7" name="Picture 17446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2339" y="2002536"/>
            <a:ext cx="146304" cy="146304"/>
          </a:xfrm>
          <a:prstGeom prst="rect">
            <a:avLst/>
          </a:prstGeom>
        </p:spPr>
      </p:pic>
      <p:sp>
        <p:nvSpPr>
          <p:cNvPr id="17448" name="Rounded Rectangle 17447"/>
          <p:cNvSpPr/>
          <p:nvPr/>
        </p:nvSpPr>
        <p:spPr>
          <a:xfrm>
            <a:off x="10463662" y="1929384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9" name="Picture 1744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2104" y="2002536"/>
            <a:ext cx="146304" cy="146304"/>
          </a:xfrm>
          <a:prstGeom prst="rect">
            <a:avLst/>
          </a:prstGeom>
        </p:spPr>
      </p:pic>
      <p:sp>
        <p:nvSpPr>
          <p:cNvPr id="17450" name="Rounded Rectangle 17449"/>
          <p:cNvSpPr/>
          <p:nvPr/>
        </p:nvSpPr>
        <p:spPr>
          <a:xfrm>
            <a:off x="11143427" y="1929384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1" name="Picture 1745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1988819"/>
            <a:ext cx="173736" cy="173736"/>
          </a:xfrm>
          <a:prstGeom prst="rect">
            <a:avLst/>
          </a:prstGeom>
        </p:spPr>
      </p:pic>
      <p:sp>
        <p:nvSpPr>
          <p:cNvPr id="17452" name="Rounded Rectangle 17451"/>
          <p:cNvSpPr/>
          <p:nvPr/>
        </p:nvSpPr>
        <p:spPr>
          <a:xfrm>
            <a:off x="8046720" y="2258568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8138160" y="2304287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Absolute metric height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9783897" y="2258568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5" name="Picture 17454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2339" y="2331720"/>
            <a:ext cx="146304" cy="146304"/>
          </a:xfrm>
          <a:prstGeom prst="rect">
            <a:avLst/>
          </a:prstGeom>
        </p:spPr>
      </p:pic>
      <p:sp>
        <p:nvSpPr>
          <p:cNvPr id="17456" name="Rounded Rectangle 17455"/>
          <p:cNvSpPr/>
          <p:nvPr/>
        </p:nvSpPr>
        <p:spPr>
          <a:xfrm>
            <a:off x="10463662" y="2258568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7" name="Picture 17456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2104" y="2331720"/>
            <a:ext cx="146304" cy="146304"/>
          </a:xfrm>
          <a:prstGeom prst="rect">
            <a:avLst/>
          </a:prstGeom>
        </p:spPr>
      </p:pic>
      <p:sp>
        <p:nvSpPr>
          <p:cNvPr id="17458" name="Rounded Rectangle 17457"/>
          <p:cNvSpPr/>
          <p:nvPr/>
        </p:nvSpPr>
        <p:spPr>
          <a:xfrm>
            <a:off x="11143427" y="2258568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9" name="Picture 1745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318003"/>
            <a:ext cx="173736" cy="173736"/>
          </a:xfrm>
          <a:prstGeom prst="rect">
            <a:avLst/>
          </a:prstGeom>
        </p:spPr>
      </p:pic>
      <p:sp>
        <p:nvSpPr>
          <p:cNvPr id="17460" name="Rounded Rectangle 17459"/>
          <p:cNvSpPr/>
          <p:nvPr/>
        </p:nvSpPr>
        <p:spPr>
          <a:xfrm>
            <a:off x="8046720" y="2587751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1" name="TextBox 17460"/>
          <p:cNvSpPr txBox="1"/>
          <p:nvPr/>
        </p:nvSpPr>
        <p:spPr>
          <a:xfrm>
            <a:off x="8138160" y="2633471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Per-pixel uncertainty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9783897" y="2587751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3" name="Picture 17462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2339" y="2660903"/>
            <a:ext cx="146304" cy="146304"/>
          </a:xfrm>
          <a:prstGeom prst="rect">
            <a:avLst/>
          </a:prstGeom>
        </p:spPr>
      </p:pic>
      <p:sp>
        <p:nvSpPr>
          <p:cNvPr id="17464" name="Rounded Rectangle 17463"/>
          <p:cNvSpPr/>
          <p:nvPr/>
        </p:nvSpPr>
        <p:spPr>
          <a:xfrm>
            <a:off x="10463662" y="2587751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5" name="Picture 17464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2660903"/>
            <a:ext cx="146304" cy="146304"/>
          </a:xfrm>
          <a:prstGeom prst="rect">
            <a:avLst/>
          </a:prstGeom>
        </p:spPr>
      </p:pic>
      <p:sp>
        <p:nvSpPr>
          <p:cNvPr id="17466" name="Rounded Rectangle 17465"/>
          <p:cNvSpPr/>
          <p:nvPr/>
        </p:nvSpPr>
        <p:spPr>
          <a:xfrm>
            <a:off x="11143427" y="2587751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7" name="Picture 17466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647187"/>
            <a:ext cx="173736" cy="173736"/>
          </a:xfrm>
          <a:prstGeom prst="rect">
            <a:avLst/>
          </a:prstGeom>
        </p:spPr>
      </p:pic>
      <p:sp>
        <p:nvSpPr>
          <p:cNvPr id="17468" name="Rounded Rectangle 17467"/>
          <p:cNvSpPr/>
          <p:nvPr/>
        </p:nvSpPr>
        <p:spPr>
          <a:xfrm>
            <a:off x="8046720" y="2916935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9" name="TextBox 17468"/>
          <p:cNvSpPr txBox="1"/>
          <p:nvPr/>
        </p:nvSpPr>
        <p:spPr>
          <a:xfrm>
            <a:off x="8138160" y="2962655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Scored per terrain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9783897" y="2916935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1" name="Picture 17470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2990087"/>
            <a:ext cx="146304" cy="146304"/>
          </a:xfrm>
          <a:prstGeom prst="rect">
            <a:avLst/>
          </a:prstGeom>
        </p:spPr>
      </p:pic>
      <p:sp>
        <p:nvSpPr>
          <p:cNvPr id="17472" name="Rounded Rectangle 17471"/>
          <p:cNvSpPr/>
          <p:nvPr/>
        </p:nvSpPr>
        <p:spPr>
          <a:xfrm>
            <a:off x="10463662" y="2916935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3" name="Picture 17472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2990087"/>
            <a:ext cx="146304" cy="146304"/>
          </a:xfrm>
          <a:prstGeom prst="rect">
            <a:avLst/>
          </a:prstGeom>
        </p:spPr>
      </p:pic>
      <p:sp>
        <p:nvSpPr>
          <p:cNvPr id="17474" name="Rounded Rectangle 17473"/>
          <p:cNvSpPr/>
          <p:nvPr/>
        </p:nvSpPr>
        <p:spPr>
          <a:xfrm>
            <a:off x="11143427" y="2916935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5" name="Picture 17474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976371"/>
            <a:ext cx="173736" cy="173736"/>
          </a:xfrm>
          <a:prstGeom prst="rect">
            <a:avLst/>
          </a:prstGeom>
        </p:spPr>
      </p:pic>
      <p:sp>
        <p:nvSpPr>
          <p:cNvPr id="17476" name="Rounded Rectangle 17475"/>
          <p:cNvSpPr/>
          <p:nvPr/>
        </p:nvSpPr>
        <p:spPr>
          <a:xfrm>
            <a:off x="8046720" y="3246119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7" name="TextBox 17476"/>
          <p:cNvSpPr txBox="1"/>
          <p:nvPr/>
        </p:nvSpPr>
        <p:spPr>
          <a:xfrm>
            <a:off x="8138160" y="3291839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Runs with no GPU</a:t>
            </a:r>
          </a:p>
        </p:txBody>
      </p:sp>
      <p:sp>
        <p:nvSpPr>
          <p:cNvPr id="17478" name="Rounded Rectangle 17477"/>
          <p:cNvSpPr/>
          <p:nvPr/>
        </p:nvSpPr>
        <p:spPr>
          <a:xfrm>
            <a:off x="9783897" y="3246119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9" name="Picture 17478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3319271"/>
            <a:ext cx="146304" cy="146304"/>
          </a:xfrm>
          <a:prstGeom prst="rect">
            <a:avLst/>
          </a:prstGeom>
        </p:spPr>
      </p:pic>
      <p:sp>
        <p:nvSpPr>
          <p:cNvPr id="17480" name="Rounded Rectangle 17479"/>
          <p:cNvSpPr/>
          <p:nvPr/>
        </p:nvSpPr>
        <p:spPr>
          <a:xfrm>
            <a:off x="10463662" y="3246119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1" name="Picture 17480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3319271"/>
            <a:ext cx="146304" cy="146304"/>
          </a:xfrm>
          <a:prstGeom prst="rect">
            <a:avLst/>
          </a:prstGeom>
        </p:spPr>
      </p:pic>
      <p:sp>
        <p:nvSpPr>
          <p:cNvPr id="17482" name="Rounded Rectangle 17481"/>
          <p:cNvSpPr/>
          <p:nvPr/>
        </p:nvSpPr>
        <p:spPr>
          <a:xfrm>
            <a:off x="11143427" y="3246119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3" name="Picture 17482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305555"/>
            <a:ext cx="173736" cy="173736"/>
          </a:xfrm>
          <a:prstGeom prst="rect">
            <a:avLst/>
          </a:prstGeom>
        </p:spPr>
      </p:pic>
      <p:sp>
        <p:nvSpPr>
          <p:cNvPr id="17484" name="Rounded Rectangle 17483"/>
          <p:cNvSpPr/>
          <p:nvPr/>
        </p:nvSpPr>
        <p:spPr>
          <a:xfrm>
            <a:off x="8046720" y="3575303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TextBox 17484"/>
          <p:cNvSpPr txBox="1"/>
          <p:nvPr/>
        </p:nvSpPr>
        <p:spPr>
          <a:xfrm>
            <a:off x="8138160" y="3621023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3D viewer shipped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9783897" y="3575303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7" name="Picture 17486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2339" y="3648455"/>
            <a:ext cx="146304" cy="146304"/>
          </a:xfrm>
          <a:prstGeom prst="rect">
            <a:avLst/>
          </a:prstGeom>
        </p:spPr>
      </p:pic>
      <p:sp>
        <p:nvSpPr>
          <p:cNvPr id="17488" name="Rounded Rectangle 17487"/>
          <p:cNvSpPr/>
          <p:nvPr/>
        </p:nvSpPr>
        <p:spPr>
          <a:xfrm>
            <a:off x="10463662" y="3575303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9" name="Picture 17488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3648455"/>
            <a:ext cx="146304" cy="146304"/>
          </a:xfrm>
          <a:prstGeom prst="rect">
            <a:avLst/>
          </a:prstGeom>
        </p:spPr>
      </p:pic>
      <p:sp>
        <p:nvSpPr>
          <p:cNvPr id="17490" name="Rounded Rectangle 17489"/>
          <p:cNvSpPr/>
          <p:nvPr/>
        </p:nvSpPr>
        <p:spPr>
          <a:xfrm>
            <a:off x="11143427" y="3575303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1" name="Picture 1749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634739"/>
            <a:ext cx="173736" cy="173736"/>
          </a:xfrm>
          <a:prstGeom prst="rect">
            <a:avLst/>
          </a:prstGeom>
        </p:spPr>
      </p:pic>
      <p:sp>
        <p:nvSpPr>
          <p:cNvPr id="17492" name="Rounded Rectangle 17491"/>
          <p:cNvSpPr/>
          <p:nvPr/>
        </p:nvSpPr>
        <p:spPr>
          <a:xfrm>
            <a:off x="8046720" y="3904487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3" name="TextBox 17492"/>
          <p:cNvSpPr txBox="1"/>
          <p:nvPr/>
        </p:nvSpPr>
        <p:spPr>
          <a:xfrm>
            <a:off x="8138160" y="3950207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Failure modes published</a:t>
            </a:r>
          </a:p>
        </p:txBody>
      </p:sp>
      <p:sp>
        <p:nvSpPr>
          <p:cNvPr id="17494" name="Rounded Rectangle 17493"/>
          <p:cNvSpPr/>
          <p:nvPr/>
        </p:nvSpPr>
        <p:spPr>
          <a:xfrm>
            <a:off x="9783897" y="3904487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5" name="Picture 17494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3977639"/>
            <a:ext cx="146304" cy="146304"/>
          </a:xfrm>
          <a:prstGeom prst="rect">
            <a:avLst/>
          </a:prstGeom>
        </p:spPr>
      </p:pic>
      <p:sp>
        <p:nvSpPr>
          <p:cNvPr id="17496" name="Rounded Rectangle 17495"/>
          <p:cNvSpPr/>
          <p:nvPr/>
        </p:nvSpPr>
        <p:spPr>
          <a:xfrm>
            <a:off x="10463662" y="3904487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7" name="Picture 17496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2104" y="3977639"/>
            <a:ext cx="146304" cy="146304"/>
          </a:xfrm>
          <a:prstGeom prst="rect">
            <a:avLst/>
          </a:prstGeom>
        </p:spPr>
      </p:pic>
      <p:sp>
        <p:nvSpPr>
          <p:cNvPr id="17498" name="Rounded Rectangle 17497"/>
          <p:cNvSpPr/>
          <p:nvPr/>
        </p:nvSpPr>
        <p:spPr>
          <a:xfrm>
            <a:off x="11143427" y="3904487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9" name="Picture 1749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963924"/>
            <a:ext cx="173736" cy="173736"/>
          </a:xfrm>
          <a:prstGeom prst="rect">
            <a:avLst/>
          </a:prstGeom>
        </p:spPr>
      </p:pic>
      <p:pic>
        <p:nvPicPr>
          <p:cNvPr id="17500" name="Picture 17499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7867" y="4274820"/>
            <a:ext cx="155448" cy="155448"/>
          </a:xfrm>
          <a:prstGeom prst="rect">
            <a:avLst/>
          </a:prstGeom>
        </p:spPr>
      </p:pic>
      <p:sp>
        <p:nvSpPr>
          <p:cNvPr id="17501" name="TextBox 17500"/>
          <p:cNvSpPr txBox="1"/>
          <p:nvPr/>
        </p:nvSpPr>
        <p:spPr>
          <a:xfrm>
            <a:off x="8284464" y="4261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yes</a:t>
            </a:r>
          </a:p>
        </p:txBody>
      </p:sp>
      <p:pic>
        <p:nvPicPr>
          <p:cNvPr id="17502" name="Picture 17501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2850" y="4274820"/>
            <a:ext cx="155448" cy="155448"/>
          </a:xfrm>
          <a:prstGeom prst="rect">
            <a:avLst/>
          </a:prstGeom>
        </p:spPr>
      </p:pic>
      <p:sp>
        <p:nvSpPr>
          <p:cNvPr id="17503" name="TextBox 17502"/>
          <p:cNvSpPr txBox="1"/>
          <p:nvPr/>
        </p:nvSpPr>
        <p:spPr>
          <a:xfrm>
            <a:off x="8829446" y="4261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partial</a:t>
            </a:r>
          </a:p>
        </p:txBody>
      </p:sp>
      <p:pic>
        <p:nvPicPr>
          <p:cNvPr id="17504" name="Picture 17503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8028" y="4274820"/>
            <a:ext cx="155448" cy="155448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9564624" y="4261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no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8101584" y="4489704"/>
            <a:ext cx="366674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141B22"/>
                </a:solidFill>
                <a:latin typeface="Segoe UI Semibold"/>
              </a:rPr>
              <a:t>Two rows the alternatives win. </a:t>
            </a:r>
            <a:r>
              <a:rPr sz="840" b="0" i="0">
                <a:solidFill>
                  <a:srgbClr val="2A3540"/>
                </a:solidFill>
                <a:latin typeface="Segoe UI"/>
              </a:rPr>
              <a:t>A stereo survey gives absolute height directly and ships mature viewers — the table is only useful to a panel if the rows we lose are still in it.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8046720" y="4965192"/>
            <a:ext cx="3776471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EVIDENCE BEHIND EVERY NUMBER</a:t>
            </a:r>
          </a:p>
        </p:txBody>
      </p:sp>
      <p:sp>
        <p:nvSpPr>
          <p:cNvPr id="17508" name="TextBox 17507"/>
          <p:cNvSpPr txBox="1"/>
          <p:nvPr/>
        </p:nvSpPr>
        <p:spPr>
          <a:xfrm>
            <a:off x="8101584" y="5294376"/>
            <a:ext cx="2715767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90" b="0" i="0">
                <a:solidFill>
                  <a:srgbClr val="141B22"/>
                </a:solidFill>
                <a:latin typeface="Segoe UI Semibold"/>
              </a:rPr>
              <a:t>Slide 7 is our preliminary work.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Each figure on it regenerates from the evidence pack in the repository, and the documentation site walks through data, training, evaluation and failures in full.</a:t>
            </a:r>
          </a:p>
        </p:txBody>
      </p:sp>
      <p:pic>
        <p:nvPicPr>
          <p:cNvPr id="17509" name="Picture 17508" descr="pitch_qr.png">
            <a:hlinkClick r:id="rId8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1944" y="5312664"/>
            <a:ext cx="841248" cy="841248"/>
          </a:xfrm>
          <a:prstGeom prst="rect">
            <a:avLst/>
          </a:prstGeom>
        </p:spPr>
      </p:pic>
      <p:sp>
        <p:nvSpPr>
          <p:cNvPr id="17510" name="TextBox 17509"/>
          <p:cNvSpPr txBox="1"/>
          <p:nvPr/>
        </p:nvSpPr>
        <p:spPr>
          <a:xfrm>
            <a:off x="10799064" y="6163055"/>
            <a:ext cx="120700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0" i="0">
                <a:solidFill>
                  <a:srgbClr val="55636E"/>
                </a:solidFill>
                <a:latin typeface="Segoe UI Semibold"/>
              </a:rPr>
              <a:t>Scan: pitch video</a:t>
            </a:r>
          </a:p>
        </p:txBody>
      </p:sp>
      <p:sp>
        <p:nvSpPr>
          <p:cNvPr id="17511" name="TextBox 17510"/>
          <p:cNvSpPr txBox="1"/>
          <p:nvPr/>
        </p:nvSpPr>
        <p:spPr>
          <a:xfrm>
            <a:off x="8046720" y="6190488"/>
            <a:ext cx="377647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Franklin Gothic Demi Cond"/>
              </a:rPr>
              <a:t>Live  </a:t>
            </a:r>
            <a:r>
              <a:rPr sz="780" b="0" i="0">
                <a:solidFill>
                  <a:srgbClr val="2E6E92"/>
                </a:solidFill>
                <a:latin typeface="Segoe UI Semibold"/>
                <a:hlinkClick r:id="rId9"/>
              </a:rPr>
              <a:t>project5.zaidansari.tech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Franklin Gothic Demi Cond"/>
              </a:rPr>
              <a:t>Docs  </a:t>
            </a:r>
            <a:r>
              <a:rPr sz="780" b="0" i="0">
                <a:solidFill>
                  <a:srgbClr val="2E6E92"/>
                </a:solidFill>
                <a:latin typeface="Segoe UI Semibold"/>
                <a:hlinkClick r:id="rId10"/>
              </a:rPr>
              <a:t>project5.zaidansari.tech/documentation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Franklin Gothic Demi Cond"/>
              </a:rPr>
              <a:t>Evidence  </a:t>
            </a:r>
            <a:r>
              <a:rPr sz="780" b="0" i="0">
                <a:solidFill>
                  <a:srgbClr val="2E6E92"/>
                </a:solidFill>
                <a:latin typeface="Segoe UI Semibold"/>
                <a:hlinkClick r:id="rId11"/>
              </a:rPr>
              <a:t>github.com/…/sih2026-depthwizard/docs/evidence-pack.md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PRELIMINARY WORK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51206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3.464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m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1206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per-building RMSE vs airborne LiDAR;
5.9 m published for Asia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5755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340385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6.008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m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40385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whole-tile RMSE on 80 held-out
tiles from unseen regions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14934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629564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0.063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/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29564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calibration error of the per-pixel
uncertainty (ECE)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904113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918743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+15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%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918743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per-building error at ISRO's 0.6 m,
after auto-zoom (80 tiles)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65760" y="1956816"/>
            <a:ext cx="5577840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ACCURACY ACROSS THE FOUR LANDSCAPES ISRO NAMES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65760" y="2286000"/>
            <a:ext cx="5577840" cy="1975104"/>
          </a:xfrm>
          <a:prstGeom prst="roundRect">
            <a:avLst>
              <a:gd name="adj" fmla="val 4629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4" name="Picture 17423" descr="ter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2359152"/>
            <a:ext cx="3017520" cy="1441720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3621024" y="2377440"/>
            <a:ext cx="2194559" cy="1810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Three of four classes at or under 3.3 m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, correlation never below +0.77. Urban is one specific thing: the buildings above 20 m.
</a:t>
            </a:r>
            <a:r>
              <a:rPr sz="900" b="0" i="0">
                <a:solidFill>
                  <a:srgbClr val="141B22"/>
                </a:solidFill>
                <a:latin typeface="Segoe UI Semibold"/>
              </a:rPr>
              <a:t>Hilly: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DFC2019 has no hills, so Sikkim is a cross-check, not a score.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65760" y="4352544"/>
            <a:ext cx="5577840" cy="274320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WHERE THE ERROR LIVES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65760" y="4681728"/>
            <a:ext cx="5577840" cy="1847088"/>
          </a:xfrm>
          <a:prstGeom prst="roundRect">
            <a:avLst>
              <a:gd name="adj" fmla="val 4950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8" name="Picture 17427" descr="error_by_he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4828032"/>
            <a:ext cx="3054096" cy="1216771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3657600" y="4773168"/>
            <a:ext cx="2157983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Segoe UI Semibold"/>
              </a:rPr>
              <a:t>77% of squared error comes from 1.9% of buildings.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 Under 10 m, 94% of the stock, we are at 1.4 m. </a:t>
            </a:r>
            <a:r>
              <a:rPr sz="900" b="0" i="0">
                <a:solidFill>
                  <a:srgbClr val="141B22"/>
                </a:solidFill>
                <a:latin typeface="Segoe UI Semibold"/>
              </a:rPr>
              <a:t>Above 20 m we under-call by 15.6 m;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we pre-registered −13 m and missed it.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272784" y="1956816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ISRO'S 0.6 M CARTOSAT-2S, SIMULATED ON THE SHIPPED MODEL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272784" y="2286000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INPUT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973568" y="228600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PER BUILDING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9290304" y="228600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BUILDINGS ≤ 20 M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10607040" y="2286000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WHOLE TILE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6272784" y="2560320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TextBox 17435"/>
          <p:cNvSpPr txBox="1"/>
          <p:nvPr/>
        </p:nvSpPr>
        <p:spPr>
          <a:xfrm>
            <a:off x="6345936" y="2587751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0.3 m, native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973568" y="256032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8" name="TextBox 17437"/>
          <p:cNvSpPr txBox="1"/>
          <p:nvPr/>
        </p:nvSpPr>
        <p:spPr>
          <a:xfrm>
            <a:off x="8046720" y="258775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3.464 m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9290304" y="256032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9363456" y="258775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1.667 m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10607040" y="2560320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TextBox 17441"/>
          <p:cNvSpPr txBox="1"/>
          <p:nvPr/>
        </p:nvSpPr>
        <p:spPr>
          <a:xfrm>
            <a:off x="10680192" y="2587751"/>
            <a:ext cx="106984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6.008 m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6272784" y="2834639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6345936" y="2862071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0.6 m, untreated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7973568" y="283463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8046720" y="286207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4.185 m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9290304" y="283463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8" name="TextBox 17447"/>
          <p:cNvSpPr txBox="1"/>
          <p:nvPr/>
        </p:nvSpPr>
        <p:spPr>
          <a:xfrm>
            <a:off x="9363456" y="286207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2.090 m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10607040" y="2834639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10680192" y="2862071"/>
            <a:ext cx="106984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6.738 m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272784" y="3108959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2" name="TextBox 17451"/>
          <p:cNvSpPr txBox="1"/>
          <p:nvPr/>
        </p:nvSpPr>
        <p:spPr>
          <a:xfrm>
            <a:off x="6345936" y="3136391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0.6 m, auto-zoom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7973568" y="310895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4" name="TextBox 17453"/>
          <p:cNvSpPr txBox="1"/>
          <p:nvPr/>
        </p:nvSpPr>
        <p:spPr>
          <a:xfrm>
            <a:off x="8046720" y="313639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3.999 m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9290304" y="310895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6" name="TextBox 17455"/>
          <p:cNvSpPr txBox="1"/>
          <p:nvPr/>
        </p:nvSpPr>
        <p:spPr>
          <a:xfrm>
            <a:off x="9363456" y="313639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2.095 m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10607040" y="3108959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10680192" y="3136391"/>
            <a:ext cx="106984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6.494 m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6272784" y="3401567"/>
            <a:ext cx="555040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141B22"/>
                </a:solidFill>
                <a:latin typeface="Segoe UI Semibold"/>
              </a:rPr>
              <a:t>Auto-zoom cuts the 0.6 m penalty from +21% to +15%, all on tall buildings; </a:t>
            </a:r>
            <a:r>
              <a:rPr sz="800" b="0" i="0">
                <a:solidFill>
                  <a:srgbClr val="55636E"/>
                </a:solidFill>
                <a:latin typeface="Segoe UI"/>
              </a:rPr>
              <a:t>under 20 m it does not help. We had pre-registered ≤ 10% and missed it. 0.6 m is simulated by downsampling, so this is the resolution gap, not the sensor gap.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6272784" y="3749039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BUILT AND WORKING TODAY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6272784" y="4078224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2" name="Picture 17461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4178808"/>
            <a:ext cx="164592" cy="164592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6565392" y="4114800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Elevation extraction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fine-tuned DA-V2 with a sigma head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9093708" y="4078224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5" name="Picture 17464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60" y="4178808"/>
            <a:ext cx="164592" cy="164592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9386316" y="4114800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Scale calibration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GLO-30 absolute DSM; GCP power-law fit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6272784" y="4498848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8" name="Picture 17467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4599432"/>
            <a:ext cx="164592" cy="164592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6565392" y="4535424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Visualisation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three.js flythrough, measure, compare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9093708" y="4498848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1" name="Picture 1747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60" y="4599432"/>
            <a:ext cx="164592" cy="164592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9386316" y="4535424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Live web app + API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upload a GeoTIFF, download the DSM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6272784" y="4919472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4" name="Picture 17473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5020056"/>
            <a:ext cx="164592" cy="164592"/>
          </a:xfrm>
          <a:prstGeom prst="rect">
            <a:avLst/>
          </a:prstGeom>
        </p:spPr>
      </p:pic>
      <p:sp>
        <p:nvSpPr>
          <p:cNvPr id="17475" name="TextBox 17474"/>
          <p:cNvSpPr txBox="1"/>
          <p:nvPr/>
        </p:nvSpPr>
        <p:spPr>
          <a:xfrm>
            <a:off x="6565392" y="4956048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Flood tool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water level over Indian terrain</a:t>
            </a:r>
          </a:p>
        </p:txBody>
      </p:sp>
      <p:sp>
        <p:nvSpPr>
          <p:cNvPr id="17476" name="Rounded Rectangle 17475"/>
          <p:cNvSpPr/>
          <p:nvPr/>
        </p:nvSpPr>
        <p:spPr>
          <a:xfrm>
            <a:off x="9093708" y="4919472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7" name="Picture 17476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60" y="5020056"/>
            <a:ext cx="164592" cy="164592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9386316" y="4956048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Offline + CPU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one HTML viewer; ONNX int8, no GPU</a:t>
            </a:r>
          </a:p>
        </p:txBody>
      </p:sp>
      <p:sp>
        <p:nvSpPr>
          <p:cNvPr id="17479" name="Rounded Rectangle 17478"/>
          <p:cNvSpPr/>
          <p:nvPr/>
        </p:nvSpPr>
        <p:spPr>
          <a:xfrm>
            <a:off x="6272784" y="5413248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THESE WERE MEASURED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6272784" y="5742432"/>
            <a:ext cx="45811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40" b="0" i="0">
                <a:solidFill>
                  <a:srgbClr val="2A3540"/>
                </a:solidFill>
                <a:latin typeface="Segoe UI"/>
              </a:rPr>
              <a:t>80 whole held-out tiles, 3,090 buildings, region-disjoint from training, against airborne LiDAR; the test split is still unscored. Full method: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7"/>
              </a:rPr>
              <a:t>project5.zaidansari.tech/documentation</a:t>
            </a:r>
          </a:p>
        </p:txBody>
      </p:sp>
      <p:pic>
        <p:nvPicPr>
          <p:cNvPr id="17481" name="Picture 17480" descr="docs_qr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3384" y="5724144"/>
            <a:ext cx="658368" cy="658368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10890504" y="6391655"/>
            <a:ext cx="10241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0" i="0">
                <a:solidFill>
                  <a:srgbClr val="55636E"/>
                </a:solidFill>
                <a:latin typeface="Segoe UI Semibold"/>
              </a:rPr>
              <a:t>Scan: documentation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