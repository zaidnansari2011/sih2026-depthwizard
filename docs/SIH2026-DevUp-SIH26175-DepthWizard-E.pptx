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project5.zaidansari.tech" TargetMode="External"/><Relationship Id="rId5" Type="http://schemas.openxmlformats.org/officeDocument/2006/relationships/hyperlink" Target="https://project5.zaidansari.tech/documentation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hyperlink" Target="https://project5.zaidansari.tech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4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hyperlink" Target="https://youtu.be/4NpR74MS5oE" TargetMode="External"/><Relationship Id="rId9" Type="http://schemas.openxmlformats.org/officeDocument/2006/relationships/hyperlink" Target="https://project5.zaidansari.tech" TargetMode="External"/><Relationship Id="rId10" Type="http://schemas.openxmlformats.org/officeDocument/2006/relationships/hyperlink" Target="https://project5.zaidansari.tech/documentation/" TargetMode="External"/><Relationship Id="rId11" Type="http://schemas.openxmlformats.org/officeDocument/2006/relationships/hyperlink" Target="https://github.com/zaidnansari2011/sih2026-depthwizard/blob/master/docs/evidence-pack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Relationship Id="rId6" Type="http://schemas.openxmlformats.org/officeDocument/2006/relationships/image" Target="../media/image45.png"/><Relationship Id="rId7" Type="http://schemas.openxmlformats.org/officeDocument/2006/relationships/hyperlink" Target="https://project5.zaidansari.tech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ID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SIH26175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Title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DepthWizard - Single-View Height Estimation and 3D Flythrough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Theme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Disaster Management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 Category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ID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129655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u="sng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Name :</a:t>
            </a:r>
            <a:r>
              <a:rPr b="1" u="none" sz="2000">
                <a:solidFill>
                  <a:srgbClr val="2B4A74"/>
                </a:solidFill>
                <a:latin typeface="Arial"/>
              </a:rPr>
              <a:t> Dev Up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65760" y="630936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4"/>
              </a:rPr>
              <a:t>project5.zaidansari.tech</a:t>
            </a:r>
            <a:r>
              <a:rPr sz="940" b="0" i="0">
                <a:solidFill>
                  <a:srgbClr val="C1440E"/>
                </a:solidFill>
                <a:latin typeface="Franklin Gothic Demi Cond"/>
              </a:rPr>
              <a:t>      DOCS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5"/>
              </a:rPr>
              <a:t>project5.zaidansari.tech/documentation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Height, how sure we are, and a scene to check it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3776" y="1591056"/>
            <a:ext cx="45720" cy="45720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1554480"/>
            <a:ext cx="35661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19" b="0" i="1">
                <a:solidFill>
                  <a:srgbClr val="141B22"/>
                </a:solidFill>
                <a:latin typeface="Segoe UI"/>
              </a:rPr>
              <a:t>“[Stereo, LiDAR and InSAR] can be cost-prohibitive, dependent on specific sensor availability, and computationally intensive.”</a:t>
            </a:r>
            <a:r>
              <a:rPr sz="800" b="0" i="0">
                <a:solidFill>
                  <a:srgbClr val="55636E"/>
                </a:solidFill>
                <a:latin typeface="Segoe UI Semibold"/>
              </a:rPr>
              <a:t>
— ISRO, problem statement SIH26175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21408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2212848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67127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359152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Stereo and LiDAR cannot be flown into the past. Decades of Cartosat archive carry no height.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34056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48640" y="2825496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2779775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Relative depth, not metres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297180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Depth models learn from ground-level photos. From orbit they give shape, but no metric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46704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8640" y="3438144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39242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No confidence, no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584448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bare height hides where it is wrong, and a checkpoint is not a scene an analyst can open.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" y="3977639"/>
            <a:ext cx="932688" cy="182880"/>
          </a:xfrm>
          <a:prstGeom prst="roundRect">
            <a:avLst>
              <a:gd name="adj" fmla="val 25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Franklin Gothic Demi Cond"/>
              </a:rPr>
              <a:t>WHO FEELS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395020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 i="0">
                <a:solidFill>
                  <a:srgbClr val="141B22"/>
                </a:solidFill>
                <a:latin typeface="Segoe UI Semibold"/>
              </a:rPr>
              <a:t>SAC analysts · disaster responders · planners · foresters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499616"/>
            <a:ext cx="7251192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66344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0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8" name="Picture 37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440" y="1742480"/>
            <a:ext cx="209214" cy="2092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230368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1455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Depth Anything V2, fine-tuned on airborne-LiDAR heights. GeoTIFF out, metadata or not.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612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2" name="Oval 41"/>
          <p:cNvSpPr/>
          <p:nvPr/>
        </p:nvSpPr>
        <p:spPr>
          <a:xfrm>
            <a:off x="7147560" y="1645920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3" name="Picture 42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120" y="1742480"/>
            <a:ext cx="209214" cy="2092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2304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8413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A per-pixel sigma beside every height, so the model says where it is unsure.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48799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7" name="Oval 46"/>
          <p:cNvSpPr/>
          <p:nvPr/>
        </p:nvSpPr>
        <p:spPr>
          <a:xfrm>
            <a:off x="9540239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8" name="Picture 47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800" y="1742480"/>
            <a:ext cx="209214" cy="20921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1572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7681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three.js flythrough with measure, flood and drag-to-compare-against-LiDAR tools.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2" name="Oval 51"/>
          <p:cNvSpPr/>
          <p:nvPr/>
        </p:nvSpPr>
        <p:spPr>
          <a:xfrm>
            <a:off x="4754880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3" name="Picture 52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440" y="2858048"/>
            <a:ext cx="209214" cy="20921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30368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5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5612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7" name="Oval 56"/>
          <p:cNvSpPr/>
          <p:nvPr/>
        </p:nvSpPr>
        <p:spPr>
          <a:xfrm>
            <a:off x="7147560" y="2761487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8" name="Picture 57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4120" y="2858048"/>
            <a:ext cx="209214" cy="20921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2304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413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Copernicus GLO-30 for any GeoTIFF, or ground control points via a power-law fit.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48799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Oval 61"/>
          <p:cNvSpPr/>
          <p:nvPr/>
        </p:nvSpPr>
        <p:spPr>
          <a:xfrm>
            <a:off x="9540239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63" name="Picture 62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6800" y="2858048"/>
            <a:ext cx="209214" cy="20921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01572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a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7681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No GPU needed. The viewer is one HTML file that opens from disk,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813048"/>
            <a:ext cx="7068312" cy="347472"/>
          </a:xfrm>
          <a:prstGeom prst="roundRect">
            <a:avLst>
              <a:gd name="adj" fmla="val 13157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736592" y="3877056"/>
            <a:ext cx="1280160" cy="219456"/>
          </a:xfrm>
          <a:prstGeom prst="roundRect">
            <a:avLst>
              <a:gd name="adj" fmla="val 2083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THE GAP WE CLOSE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8192" y="3831336"/>
            <a:ext cx="5550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The single-view papers we build on stop at weights and a score.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We ship metric height, calibrated confidence and a no-GPU 3D viewer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 — compared row by row on slide 6.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315968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IDEA, RUNNING: ONE ARCHIVED IMAGE IN, A MEASURABLE SURFACE OUT — CAPTURES OF OUR PROTOTYPE, NOT MOCK-UPS</a:t>
            </a:r>
          </a:p>
        </p:txBody>
      </p:sp>
      <p:pic>
        <p:nvPicPr>
          <p:cNvPr id="70" name="Picture 69" descr="omaha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663440"/>
            <a:ext cx="1591056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1" name="Rounded Rectangle 70"/>
          <p:cNvSpPr/>
          <p:nvPr/>
        </p:nvSpPr>
        <p:spPr>
          <a:xfrm>
            <a:off x="365760" y="4663440"/>
            <a:ext cx="1046073" cy="237744"/>
          </a:xfrm>
          <a:prstGeom prst="roundRect">
            <a:avLst>
              <a:gd name="adj" fmla="val 15384"/>
            </a:avLst>
          </a:prstGeom>
          <a:solidFill>
            <a:srgbClr val="55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BEFORE · INPUT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020824" y="5303520"/>
            <a:ext cx="274320" cy="310896"/>
          </a:xfrm>
          <a:prstGeom prst="rightArrow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73" name="Picture 72" descr="omaha_height_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5915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4" name="Rounded Rectangle 73"/>
          <p:cNvSpPr/>
          <p:nvPr/>
        </p:nvSpPr>
        <p:spPr>
          <a:xfrm>
            <a:off x="235915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HEIGHT, IN 3D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915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Same tile: roofs, tree crowns and kerbs at 0.3 m.</a:t>
            </a:r>
          </a:p>
        </p:txBody>
      </p:sp>
      <p:pic>
        <p:nvPicPr>
          <p:cNvPr id="76" name="Picture 75" descr="omaha_sigma_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4688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504688" y="4663440"/>
            <a:ext cx="1287475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CONFIDENCE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Where the estimate is weak, the sigma says so.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29107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One Omaha tile, as flown.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799" y="4754879"/>
            <a:ext cx="18288" cy="14081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81" name="Picture 80" descr="sikkim_hilly_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567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82" name="Rounded Rectangle 81"/>
          <p:cNvSpPr/>
          <p:nvPr/>
        </p:nvSpPr>
        <p:spPr>
          <a:xfrm>
            <a:off x="880567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 · HILLY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567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km.</a:t>
            </a:r>
            <a:r>
              <a:rPr sz="700" b="0" i="0">
                <a:solidFill>
                  <a:srgbClr val="55636E"/>
                </a:solidFill>
                <a:latin typeface="Segoe UI"/>
              </a:rPr>
              <a:t>  Imagery © Maxar, CC BY-NC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Cartosat-2S,
0.6 m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+ GAMUS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Absolute DSM /
relative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HOW IT RUNS — HARDWARE, API, DATA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Trained on one consumer GPU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RTX 3060, 12 GB. Backbone: Depth Anything V2 Small, Apache 2.0, 24.8 M parameters.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Exported for CPU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ONNX, int8-quantised to 36.8 MB. Inference needs no GPU at all.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Served over HTTP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POST /api/upload takes TIF, PNG or JPG; /api/result returns the DSM. Live on a two-core CPU host.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Files, not a database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GeoTIFF DSM and sigma, float32 scene tiles. The viewer is one 15 MB HTML file that opens from disk.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DESIGN CHOICES,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Metres learned from LiDAR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Fine-tuning on airborne-LiDAR heights makes the output metric directly; a DEM supplies the ground under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as an output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twin head predicts sigma beside every height (heteroscedastic NLL with beta-NLL), so doubt is visible.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Built for ISRO's 0.6 m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Auto-zoom reads a GeoTIFF's resolution and resamples Cartosat-2S to the scale the model learned.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Chosen by measurement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Regression, binned and head-tail-cut heads were all trained and scored; the simplest held its own, so it ships.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whole held-out tiles against airborne LiDAR, never on crops.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no trained model is scored on the test split until the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46360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9926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9427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705981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92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285482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8429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864983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7930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444484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7431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023985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46932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9603486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32643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182987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  <p:pic>
        <p:nvPicPr>
          <p:cNvPr id="17541" name="Picture 17540" descr="live_qr.png">
            <a:hlinkClick r:id="rId27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972800" y="5559552"/>
            <a:ext cx="786384" cy="786384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10789920" y="6355080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measured: slide 7.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image, CPU only, works offline.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₹0 licences, runs on existing PCs.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ALREADY WORKING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All three ISRO milestones are built.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HARD PROBLEMS, AND HOW EACH IS HANDLED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365760" y="2212848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30352" y="2221991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ISRO judges on 0.6 m Cartosat-2S; open LiDAR training imagery is 0.3 m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30352" y="2459736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Auto-zoom reads the GeoTIFF's pixel size and resamples to the scale the model learned. Its cost at 0.6 m is measured on the shipped model (slide 7); fine-tuning on 0.6 m-degraded tiles is next.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2999232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365760" y="3054096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3063239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Cartosat-2S colour is not the aerial colour the model learned from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30352" y="330098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Training jitters brightness, contrast and gamma to mimic sensor and haze; any band count loads. The cost on real Cartosat colour is not yet measured.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840480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365760" y="3895344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3904488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One image has no stereo parallax, so which heights can be trusted?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30352" y="414223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Every pixel ships with an uncertainty (σ), calibrated against LiDAR. Unsure pixels are flagged for the analyst, not hidden.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65760" y="4681728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365760" y="4736592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30352" y="4745736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An absolute DSM needs ground elevation a single image cannot give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30352" y="4983480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Copernicus GLO-30 terrain plus our above-ground heights, on by default. GLO-30's own error (&lt; 4 m, LE90) is inherited, and stated.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65760" y="5522976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365760" y="5577840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530352" y="558698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Field offices have no GPU and often no reliable internet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30352" y="582472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Inference runs on an ordinary desktop CPU, about a minute per km²; results open in a 3-D viewer that ships as one offline HTML file.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OPEN RISKS, AND WHAT ANSWERS EACH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272784" y="2157984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6345936" y="2185415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2238085"/>
            <a:ext cx="114117" cy="11411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6638544" y="2194560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No Indian ground truth exists yet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455664" y="2468879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6455664" y="2505456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6601968" y="2496312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Over India we can only compare against another model, Google Open Buildings, so we report agreement, not accuracy.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SAC stereo or DGPS control points in the pilot (below).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272784" y="3108960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Oval 17459"/>
          <p:cNvSpPr/>
          <p:nvPr/>
        </p:nvSpPr>
        <p:spPr>
          <a:xfrm>
            <a:off x="6345936" y="3136391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1" name="Picture 17460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3189061"/>
            <a:ext cx="114117" cy="1141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6638544" y="3145536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455664" y="3419856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ectangle 17463"/>
          <p:cNvSpPr/>
          <p:nvPr/>
        </p:nvSpPr>
        <p:spPr>
          <a:xfrm>
            <a:off x="6455664" y="3456432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6601968" y="3447288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Open training data holds few towers (tallest 83 m), so they are under-called.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Partly 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ISRO's GAMUS (it moved the gap significantly) and a control-point fit; fully, only by tall-building LiDAR.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6272784" y="4078224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DEPLOYMENT PLAN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Rounded Rectangle 17467"/>
          <p:cNvSpPr/>
          <p:nvPr/>
        </p:nvSpPr>
        <p:spPr>
          <a:xfrm>
            <a:off x="6345936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6638544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345936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Open Bhoonidhi CartoDEM and LISS-4 tiles; per-terrain metrics.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582662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Rounded Rectangle 17471"/>
          <p:cNvSpPr/>
          <p:nvPr/>
        </p:nvSpPr>
        <p:spPr>
          <a:xfrm>
            <a:off x="7683246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3" name="Rounded Rectangle 17472"/>
          <p:cNvSpPr/>
          <p:nvPr/>
        </p:nvSpPr>
        <p:spPr>
          <a:xfrm>
            <a:off x="7756398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049006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756398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SAC Cartosat stereo or DGPS turns the Sikkim check into accuracy.</a:t>
            </a:r>
          </a:p>
        </p:txBody>
      </p:sp>
      <p:sp>
        <p:nvSpPr>
          <p:cNvPr id="17476" name="Right Arrow 17475"/>
          <p:cNvSpPr/>
          <p:nvPr/>
        </p:nvSpPr>
        <p:spPr>
          <a:xfrm>
            <a:off x="8993124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Rounded Rectangle 17476"/>
          <p:cNvSpPr/>
          <p:nvPr/>
        </p:nvSpPr>
        <p:spPr>
          <a:xfrm>
            <a:off x="9093708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9166860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9459468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9166860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Container behind an internal API; the viewer opens from disk.</a:t>
            </a:r>
          </a:p>
        </p:txBody>
      </p:sp>
      <p:sp>
        <p:nvSpPr>
          <p:cNvPr id="17481" name="Right Arrow 17480"/>
          <p:cNvSpPr/>
          <p:nvPr/>
        </p:nvSpPr>
        <p:spPr>
          <a:xfrm>
            <a:off x="10403586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2" name="Rounded Rectangle 17481"/>
          <p:cNvSpPr/>
          <p:nvPr/>
        </p:nvSpPr>
        <p:spPr>
          <a:xfrm>
            <a:off x="10504170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Rounded Rectangle 17482"/>
          <p:cNvSpPr/>
          <p:nvPr/>
        </p:nvSpPr>
        <p:spPr>
          <a:xfrm>
            <a:off x="10577322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10869930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10577322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Batch the archive: every scene gains a height layer.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6272784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COST ESTIMATE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6309360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Licences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₹0 — every dependency open source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Training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consumer RTX 3060 GPU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Compute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~1 min per km² on a desktop CPU*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Hosting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two-core CPU server, live today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Imagery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already flown and already paid for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9102852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TESTING PLAN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9139428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region-disjoint LiDAR validation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second city, with a 338 m buffer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ISRO's 0.6 m, simulated, on the shipped model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held-out test split, scored once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Indian truth: SAC stereo or DGPS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6272784" y="6400800"/>
            <a:ext cx="5550407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55636E"/>
                </a:solidFill>
                <a:latin typeface="Segoe UI"/>
              </a:rPr>
              <a:t>*Derived: 5.0 s per 1024 px tile (0.094 km²), single pass,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DISASTER USE CASE — BUILT, ON INDIAN TERRAIN</a:t>
            </a:r>
          </a:p>
        </p:txBody>
      </p:sp>
      <p:pic>
        <p:nvPicPr>
          <p:cNvPr id="17411" name="Picture 17410" descr="sikkim_floo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81328"/>
            <a:ext cx="5577840" cy="206586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17412" name="Rounded Rectangle 17411"/>
          <p:cNvSpPr/>
          <p:nvPr/>
        </p:nvSpPr>
        <p:spPr>
          <a:xfrm>
            <a:off x="4023360" y="1481328"/>
            <a:ext cx="1649577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 · LIVE FLOOD 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089994"/>
            <a:ext cx="5394959" cy="384048"/>
          </a:xfrm>
          <a:prstGeom prst="roundRect">
            <a:avLst>
              <a:gd name="adj" fmla="val 1428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1,143 m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WATER LEVEL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5552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34696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20.5 %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GROUND UNDER WATER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05384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4528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44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FLOODED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3583770"/>
            <a:ext cx="5577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Raise the water and the viewer counts ground under water and buildings flooded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, and flags the ones too close to call from its own sigma. Ground from Copernicus GLO-30; a flat-water model, labelled as one. Imagery © Maxar, CC BY-NC 4.0.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041648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9768" y="4453128"/>
            <a:ext cx="274320" cy="2743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ir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" y="4518964"/>
            <a:ext cx="142646" cy="14264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76809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Post-event surfaces without waiting for a stereo pair.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255519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319528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5364" y="4518964"/>
            <a:ext cx="142646" cy="14264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2657855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4696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Height for the single-view Cartosat archive.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4528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4209287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building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124" y="4518964"/>
            <a:ext cx="142646" cy="14264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4761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3672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Building heights for FSI and shadow checks (AMRUT).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6576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976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8" name="Picture 17437" descr="le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604" y="5140756"/>
            <a:ext cx="142646" cy="14264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6809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720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Canopy height proxies for biomass and encroachment.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326440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radio-to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0244" y="5140756"/>
            <a:ext cx="142646" cy="142646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60273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9184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Line-of-sight and tower siting without a LiDAR survey.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126480" y="1115568"/>
            <a:ext cx="56967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BEFORE AND AFTER, FOR THE PEOPLE WHO USE IT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443215" y="1499616"/>
            <a:ext cx="1792224" cy="256032"/>
          </a:xfrm>
          <a:prstGeom prst="roundRect">
            <a:avLst>
              <a:gd name="adj" fmla="val 17857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TODAY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272015" y="1499616"/>
            <a:ext cx="2551176" cy="256032"/>
          </a:xfrm>
          <a:prstGeom prst="roundRect">
            <a:avLst>
              <a:gd name="adj" fmla="val 17857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WITH DEPTHWIZARD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126480" y="181051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6199632" y="1883664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199632" y="2084831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Disaster response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443215" y="181051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516367" y="1874519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Wait for a stereo pair or a survey flight.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272015" y="181051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9345167" y="1874519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surface from one post-event image — about a minute per tile on a CPU web host.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126480" y="2432304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ounded Rectangle 17456"/>
          <p:cNvSpPr/>
          <p:nvPr/>
        </p:nvSpPr>
        <p:spPr>
          <a:xfrm>
            <a:off x="6199632" y="2505456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99632" y="2706624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Trust in the number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7443215" y="2432304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516367" y="2496312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One height, no error bar.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72015" y="2432304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9345167" y="2496312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Height plus a per-pixel sigma that ranks where it is likely wrong.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126480" y="3054096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ounded Rectangle 17463"/>
          <p:cNvSpPr/>
          <p:nvPr/>
        </p:nvSpPr>
        <p:spPr>
          <a:xfrm>
            <a:off x="6199632" y="3127248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199632" y="3328415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The archive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443215" y="3054096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516367" y="3118103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Decades of single-view Cartosat with no height.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272015" y="3054096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9345167" y="3118103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Every archived scene can gain a height layer, with no new tasking.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26480" y="3675887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Rounded Rectangle 17470"/>
          <p:cNvSpPr/>
          <p:nvPr/>
        </p:nvSpPr>
        <p:spPr>
          <a:xfrm>
            <a:off x="6199632" y="3749039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199632" y="3950207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Municipal bodies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7443215" y="3675887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7" y="3739896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Building heights need a survey budget.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272015" y="3675887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345167" y="3739896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Free and open; 36.8 MB runs offline on a laptop CPU.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6126480" y="4297680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6199632" y="4370832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199632" y="457200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Survey flights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7443215" y="4297680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516367" y="436168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New LiDAR or stereo sorties to fly.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9272015" y="4297680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9345167" y="4361688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None: it reuses imagery already flown.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491947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199632" y="4992624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6199632" y="5193792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Forest cover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7443215" y="491947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7516367" y="4983480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Canopy height needs airborne LiDAR.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272015" y="491947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0" name="TextBox 17489"/>
          <p:cNvSpPr txBox="1"/>
          <p:nvPr/>
        </p:nvSpPr>
        <p:spPr>
          <a:xfrm>
            <a:off x="9345167" y="4983480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canopy-height proxy from optical imagery alone.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6576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51206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new flights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51206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is imagery already flown and paid for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325755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340385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340385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 stereo pair, no revisit wait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14934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629564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min / km²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29564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 a desktop CPU, single pass*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4113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918743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licence fees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18743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any state agency can adopt it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365760" y="6373368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 i="0">
                <a:solidFill>
                  <a:srgbClr val="141B22"/>
                </a:solidFill>
                <a:latin typeface="Segoe UI Semibold"/>
              </a:rPr>
              <a:t>Scales by batch, on CPUs agencies already own: the whole archive, not one scene.</a:t>
            </a:r>
            <a:r>
              <a:rPr sz="819" b="0" i="0">
                <a:solidFill>
                  <a:srgbClr val="55636E"/>
                </a:solidFill>
                <a:latin typeface="Segoe UI"/>
              </a:rPr>
              <a:t>   *Derived: 5.0 s per 1024 px tile (0.094 km²)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Rege Cambrin et al., ECCV-W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Mou &amp; Zhu 2018; Chen &amp; Zhu 2025, both arXiv. Prior single-view height.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005072"/>
            <a:ext cx="3639312" cy="2395728"/>
          </a:xfrm>
          <a:prstGeom prst="roundRect">
            <a:avLst>
              <a:gd name="adj" fmla="val 3816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GAMUS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ISRO's recommended set. 6,204 tiles, 0.33 m, DC and Philadelphia.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75488" y="597103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Maxar Open Data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Sikkim imagery, CC BY-NC 4.0, © Maxar Technologies.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0624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31596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Oracle shadows reach r 0.503; our earlier net, 0.787.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1596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4005072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31596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Data, not capacity. Open 0.3 m sets hold few towers.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05b ISRO's 0.6 m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Shipped model, 80 tiles: +15% per building after auto-zoom.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1596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Measured: 0.473 × truth + 2.66 m.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046720" y="1929384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138160" y="197510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78389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02536"/>
            <a:ext cx="146304" cy="146304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463662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02536"/>
            <a:ext cx="146304" cy="146304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114342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88819"/>
            <a:ext cx="173736" cy="173736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8046720" y="2258568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138160" y="230428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8389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5" name="Picture 1745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31720"/>
            <a:ext cx="146304" cy="146304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10463662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31720"/>
            <a:ext cx="146304" cy="146304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1114342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9" name="Picture 1745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18003"/>
            <a:ext cx="173736" cy="173736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8046720" y="2587751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138160" y="2633471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978389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660903"/>
            <a:ext cx="146304" cy="146304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10463662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660903"/>
            <a:ext cx="146304" cy="146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1114342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47187"/>
            <a:ext cx="173736" cy="173736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8046720" y="2916935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8138160" y="2962655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78389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2990087"/>
            <a:ext cx="146304" cy="146304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10463662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990087"/>
            <a:ext cx="146304" cy="146304"/>
          </a:xfrm>
          <a:prstGeom prst="rect">
            <a:avLst/>
          </a:prstGeom>
        </p:spPr>
      </p:pic>
      <p:sp>
        <p:nvSpPr>
          <p:cNvPr id="17474" name="Rounded Rectangle 17473"/>
          <p:cNvSpPr/>
          <p:nvPr/>
        </p:nvSpPr>
        <p:spPr>
          <a:xfrm>
            <a:off x="1114342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5" name="Picture 1747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976371"/>
            <a:ext cx="173736" cy="173736"/>
          </a:xfrm>
          <a:prstGeom prst="rect">
            <a:avLst/>
          </a:prstGeom>
        </p:spPr>
      </p:pic>
      <p:sp>
        <p:nvSpPr>
          <p:cNvPr id="17476" name="Rounded Rectangle 17475"/>
          <p:cNvSpPr/>
          <p:nvPr/>
        </p:nvSpPr>
        <p:spPr>
          <a:xfrm>
            <a:off x="8046720" y="3246119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8138160" y="3291839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978389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9" name="Picture 17478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319271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10463662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319271"/>
            <a:ext cx="146304" cy="146304"/>
          </a:xfrm>
          <a:prstGeom prst="rect">
            <a:avLst/>
          </a:prstGeom>
        </p:spPr>
      </p:pic>
      <p:sp>
        <p:nvSpPr>
          <p:cNvPr id="17482" name="Rounded Rectangle 17481"/>
          <p:cNvSpPr/>
          <p:nvPr/>
        </p:nvSpPr>
        <p:spPr>
          <a:xfrm>
            <a:off x="1114342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3" name="Picture 17482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05555"/>
            <a:ext cx="173736" cy="173736"/>
          </a:xfrm>
          <a:prstGeom prst="rect">
            <a:avLst/>
          </a:prstGeom>
        </p:spPr>
      </p:pic>
      <p:sp>
        <p:nvSpPr>
          <p:cNvPr id="17484" name="Rounded Rectangle 17483"/>
          <p:cNvSpPr/>
          <p:nvPr/>
        </p:nvSpPr>
        <p:spPr>
          <a:xfrm>
            <a:off x="8046720" y="3575303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8138160" y="362102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978389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7" name="Picture 1748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648455"/>
            <a:ext cx="146304" cy="146304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10463662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9" name="Picture 17488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648455"/>
            <a:ext cx="146304" cy="146304"/>
          </a:xfrm>
          <a:prstGeom prst="rect">
            <a:avLst/>
          </a:prstGeom>
        </p:spPr>
      </p:pic>
      <p:sp>
        <p:nvSpPr>
          <p:cNvPr id="17490" name="Rounded Rectangle 17489"/>
          <p:cNvSpPr/>
          <p:nvPr/>
        </p:nvSpPr>
        <p:spPr>
          <a:xfrm>
            <a:off x="1114342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1" name="Picture 1749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634739"/>
            <a:ext cx="173736" cy="173736"/>
          </a:xfrm>
          <a:prstGeom prst="rect">
            <a:avLst/>
          </a:prstGeom>
        </p:spPr>
      </p:pic>
      <p:sp>
        <p:nvSpPr>
          <p:cNvPr id="17492" name="Rounded Rectangle 17491"/>
          <p:cNvSpPr/>
          <p:nvPr/>
        </p:nvSpPr>
        <p:spPr>
          <a:xfrm>
            <a:off x="8046720" y="3904487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138160" y="395020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978389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5" name="Picture 17494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977639"/>
            <a:ext cx="146304" cy="146304"/>
          </a:xfrm>
          <a:prstGeom prst="rect">
            <a:avLst/>
          </a:prstGeom>
        </p:spPr>
      </p:pic>
      <p:sp>
        <p:nvSpPr>
          <p:cNvPr id="17496" name="Rounded Rectangle 17495"/>
          <p:cNvSpPr/>
          <p:nvPr/>
        </p:nvSpPr>
        <p:spPr>
          <a:xfrm>
            <a:off x="10463662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7" name="Picture 1749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3977639"/>
            <a:ext cx="146304" cy="146304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1114342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963924"/>
            <a:ext cx="173736" cy="173736"/>
          </a:xfrm>
          <a:prstGeom prst="rect">
            <a:avLst/>
          </a:prstGeom>
        </p:spPr>
      </p:pic>
      <p:pic>
        <p:nvPicPr>
          <p:cNvPr id="17500" name="Picture 1749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274820"/>
            <a:ext cx="155448" cy="15544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828446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2" name="Picture 17501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274820"/>
            <a:ext cx="155448" cy="155448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8829446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4" name="Picture 1750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274820"/>
            <a:ext cx="155448" cy="15544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56462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01584" y="4489704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4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046720" y="4965192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EVIDENCE BEHIND EVERY NUMBER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8101584" y="5294376"/>
            <a:ext cx="2715767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90" b="0" i="0">
                <a:solidFill>
                  <a:srgbClr val="141B22"/>
                </a:solidFill>
                <a:latin typeface="Segoe UI Semibold"/>
              </a:rPr>
              <a:t>Slide 7 is our preliminary work.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Each figure on it regenerates from the evidence pack in the repository, and the documentation site walks through data, training, evaluation and failures in full.</a:t>
            </a:r>
          </a:p>
        </p:txBody>
      </p:sp>
      <p:pic>
        <p:nvPicPr>
          <p:cNvPr id="17509" name="Picture 17508" descr="pitch_qr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1944" y="5312664"/>
            <a:ext cx="841248" cy="841248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10799064" y="6163055"/>
            <a:ext cx="120700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pitch video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8046720" y="6190488"/>
            <a:ext cx="377647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9"/>
              </a:rPr>
              <a:t>project5.zaidansari.tech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Docs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0"/>
              </a:rPr>
              <a:t>project5.zaidansari.tech/documentation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Evidence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1"/>
              </a:rPr>
              <a:t>github.com/…/sih2026-depthwizard/docs/evidence-pack.md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PRELIMINARY 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1206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3.464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 vs airborne LiDAR;
5.9 m published for Asia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5755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0385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6.008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0385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whole-tile RMSE on 80 held-out
tiles from unseen regions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4934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9564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0.063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9564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calibration error of the per-pixel
uncertainty (ECE)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4113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8743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+15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8743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error at ISRO's 0.6 m,
after auto-zoom (80 tiles)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1956816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286000"/>
            <a:ext cx="5577840" cy="1975104"/>
          </a:xfrm>
          <a:prstGeom prst="roundRect">
            <a:avLst>
              <a:gd name="adj" fmla="val 462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4" name="Picture 17423" descr="terrain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50008"/>
            <a:ext cx="3072384" cy="184708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621024" y="2377440"/>
            <a:ext cx="2194559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Three of four classes at or under 3.3 m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, correlation never below +0.77. Urban is one specific thing: the buildings above 20 m.
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Hilly: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DFC2019 has no hills, so Sikkim is a cross-check, not a score.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4352544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WHERE THE ERROR LIVES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65760" y="4681728"/>
            <a:ext cx="5577840" cy="1847088"/>
          </a:xfrm>
          <a:prstGeom prst="roundRect">
            <a:avLst>
              <a:gd name="adj" fmla="val 49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error_by_height_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45736"/>
            <a:ext cx="3072384" cy="17190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3657600" y="4773168"/>
            <a:ext cx="2157983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Segoe UI Semibold"/>
              </a:rPr>
              <a:t>77% of squared error comes from 1.9% of buildings.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 Under 10 m, 94% of the stock, we are at 1.4 m. 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Above 20 m we under-call by 15.6 m;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we pre-registered −13 m and missed it.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2784" y="1956816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ISRO'S 0.6 M CARTOSAT-2S, SIMULATED ON THE SHIPPED MODEL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272784" y="228600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973568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PER BUILDING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290304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≤ 20 M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607040" y="228600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WHOLE TILE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272784" y="256032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6345936" y="258775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0.3 m, native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73568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046720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3.464 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90304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363456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1.667 m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607040" y="256032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680192" y="258775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6.008 m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72784" y="283463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345936" y="286207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untreated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973568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046720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4.185 m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290304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363456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2.090 m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607040" y="283463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680192" y="286207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6.738 m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310895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345936" y="313639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auto-zoom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973568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046720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3.999 m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290304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9363456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2.095 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607040" y="310895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10680192" y="313639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6.494 m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272784" y="3401567"/>
            <a:ext cx="55504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41B22"/>
                </a:solidFill>
                <a:latin typeface="Segoe UI Semibold"/>
              </a:rPr>
              <a:t>Auto-zoom cuts the 0.6 m penalty from +21% to +15%, all on tall buildings; </a:t>
            </a:r>
            <a:r>
              <a:rPr sz="800" b="0" i="0">
                <a:solidFill>
                  <a:srgbClr val="55636E"/>
                </a:solidFill>
                <a:latin typeface="Segoe UI"/>
              </a:rPr>
              <a:t>under 20 m it does not help. We had pre-registered ≤ 10% and missed it. 0.6 m is simulated by downsampling, so this is the resolution gap, not the sensor gap.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272784" y="3749039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WORKING TODAY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6272784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178808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6565392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Elevation extraction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fine-tuned DA-V2 with a sigma head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9093708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178808"/>
            <a:ext cx="164592" cy="164592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386316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Scale calibration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GLO-30 absolute DSM; GCP power-law fit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8" name="Picture 1746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599432"/>
            <a:ext cx="164592" cy="164592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65392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Visualisation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three.js flythrough, measure, compare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093708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599432"/>
            <a:ext cx="164592" cy="16459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386316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Live web app + API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upload a GeoTIFF, download the DSM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6272784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020056"/>
            <a:ext cx="164592" cy="164592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6565392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Flood tool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water level over Indian terrain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9093708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5020056"/>
            <a:ext cx="164592" cy="16459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9386316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Offline + CPU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one HTML viewer; ONNX int8, no GPU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6272784" y="541324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THESE WERE MEASURED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272784" y="574243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40" b="0" i="0">
                <a:solidFill>
                  <a:srgbClr val="2A3540"/>
                </a:solidFill>
                <a:latin typeface="Segoe UI"/>
              </a:rPr>
              <a:t>80 whole held-out US tiles, 3,090 buildings, region-disjoint from training, against airborne LiDAR; no trained model has seen the test split. Full method: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7"/>
              </a:rPr>
              <a:t>project5.zaidansari.tech/documentation</a:t>
            </a:r>
          </a:p>
        </p:txBody>
      </p:sp>
      <p:pic>
        <p:nvPicPr>
          <p:cNvPr id="17481" name="Picture 17480" descr="docs_q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3384" y="5724144"/>
            <a:ext cx="658368" cy="6583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890504" y="6391655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