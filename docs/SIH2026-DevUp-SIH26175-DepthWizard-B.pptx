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image" Target="../media/image22.png"/><Relationship Id="rId15" Type="http://schemas.openxmlformats.org/officeDocument/2006/relationships/image" Target="../media/image4.png"/><Relationship Id="rId16" Type="http://schemas.openxmlformats.org/officeDocument/2006/relationships/image" Target="../media/image23.png"/><Relationship Id="rId17" Type="http://schemas.openxmlformats.org/officeDocument/2006/relationships/image" Target="../media/image2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5" Type="http://schemas.openxmlformats.org/officeDocument/2006/relationships/image" Target="../media/image8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365760" y="1188720"/>
            <a:ext cx="5138928" cy="3255264"/>
          </a:xfrm>
          <a:prstGeom prst="roundRect">
            <a:avLst>
              <a:gd name="adj" fmla="val 2808"/>
            </a:avLst>
          </a:prstGeom>
          <a:solidFill>
            <a:srgbClr val="F7FAFC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365760" y="1188720"/>
            <a:ext cx="5138928" cy="621792"/>
          </a:xfrm>
          <a:prstGeom prst="roundRect">
            <a:avLst>
              <a:gd name="adj" fmla="val 14705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48640" y="1298448"/>
            <a:ext cx="477316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300" b="0" i="0">
                <a:solidFill>
                  <a:srgbClr val="FFFFFF"/>
                </a:solidFill>
                <a:latin typeface="Franklin Gothic Demi"/>
              </a:rPr>
              <a:t>DEPTH</a:t>
            </a:r>
            <a:r>
              <a:rPr sz="2300" b="0" i="0">
                <a:solidFill>
                  <a:srgbClr val="D89E3C"/>
                </a:solidFill>
                <a:latin typeface="Franklin Gothic Demi"/>
              </a:rPr>
              <a:t>WIZARD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1938528"/>
            <a:ext cx="47731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A3540"/>
                </a:solidFill>
                <a:latin typeface="Segoe UI"/>
              </a:rPr>
              <a:t>One satellite image in, a measurable 3D surface out.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2340864"/>
            <a:ext cx="1783080" cy="219456"/>
          </a:xfrm>
          <a:prstGeom prst="roundRect">
            <a:avLst>
              <a:gd name="adj" fmla="val 20833"/>
            </a:avLst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Franklin Gothic Demi Cond"/>
              </a:rPr>
              <a:t>PROBLEM STATEMENT 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96312" y="2313432"/>
            <a:ext cx="286207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41B22"/>
                </a:solidFill>
                <a:latin typeface="Segoe UI Semibold"/>
              </a:rPr>
              <a:t>SIH26175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2660904"/>
            <a:ext cx="1783080" cy="219456"/>
          </a:xfrm>
          <a:prstGeom prst="roundRect">
            <a:avLst>
              <a:gd name="adj" fmla="val 20833"/>
            </a:avLst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Franklin Gothic Demi Cond"/>
              </a:rPr>
              <a:t>PROBLEM STATEMENT TITLE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96312" y="2633472"/>
            <a:ext cx="286207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41B22"/>
                </a:solidFill>
                <a:latin typeface="Segoe UI Semibold"/>
              </a:rPr>
              <a:t>Single-View Height Estimation and 3D Terrain Visualisation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3154680"/>
            <a:ext cx="1783080" cy="219456"/>
          </a:xfrm>
          <a:prstGeom prst="roundRect">
            <a:avLst>
              <a:gd name="adj" fmla="val 20833"/>
            </a:avLst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Franklin Gothic Demi Cond"/>
              </a:rPr>
              <a:t>THEME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96312" y="3127248"/>
            <a:ext cx="286207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41B22"/>
                </a:solidFill>
                <a:latin typeface="Segoe UI Semibold"/>
              </a:rPr>
              <a:t>Space Technology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3474720"/>
            <a:ext cx="1783080" cy="219456"/>
          </a:xfrm>
          <a:prstGeom prst="roundRect">
            <a:avLst>
              <a:gd name="adj" fmla="val 20833"/>
            </a:avLst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Franklin Gothic Demi Cond"/>
              </a:rPr>
              <a:t>PS CATEGORY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96312" y="3447288"/>
            <a:ext cx="286207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41B22"/>
                </a:solidFill>
                <a:latin typeface="Segoe UI Semibold"/>
              </a:rPr>
              <a:t>Software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3794760"/>
            <a:ext cx="1783080" cy="219456"/>
          </a:xfrm>
          <a:prstGeom prst="roundRect">
            <a:avLst>
              <a:gd name="adj" fmla="val 20833"/>
            </a:avLst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Franklin Gothic Demi Cond"/>
              </a:rPr>
              <a:t>TEAM 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96312" y="3767328"/>
            <a:ext cx="286207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41B22"/>
                </a:solidFill>
                <a:latin typeface="Segoe UI Semibold"/>
              </a:rPr>
              <a:t>&lt;fill from portal&gt;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4114800"/>
            <a:ext cx="1783080" cy="219456"/>
          </a:xfrm>
          <a:prstGeom prst="roundRect">
            <a:avLst>
              <a:gd name="adj" fmla="val 20833"/>
            </a:avLst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Franklin Gothic Demi Cond"/>
              </a:rPr>
              <a:t>TEAM NAME (ON PORTAL)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96312" y="4087368"/>
            <a:ext cx="286207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41B22"/>
                </a:solidFill>
                <a:latin typeface="Segoe UI Semibold"/>
              </a:rPr>
              <a:t>Dev Up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65760" y="4590288"/>
            <a:ext cx="5138928" cy="310896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BUILT AND MEASURED, NOT PROPOSED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65760" y="5029200"/>
            <a:ext cx="1639824" cy="896112"/>
          </a:xfrm>
          <a:prstGeom prst="roundRect">
            <a:avLst>
              <a:gd name="adj" fmla="val 7142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512064" y="5111496"/>
            <a:ext cx="138379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400" b="0" i="0">
                <a:solidFill>
                  <a:srgbClr val="D89E3C"/>
                </a:solidFill>
                <a:latin typeface="Franklin Gothic Demi"/>
              </a:rPr>
              <a:t>3.62</a:t>
            </a:r>
            <a:r>
              <a:rPr sz="1100" b="0" i="0">
                <a:solidFill>
                  <a:srgbClr val="D89E3C"/>
                </a:solidFill>
                <a:latin typeface="Franklin Gothic Demi"/>
              </a:rPr>
              <a:t> 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2064" y="5449824"/>
            <a:ext cx="1383791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C4D3DE"/>
                </a:solidFill>
                <a:latin typeface="Segoe UI"/>
              </a:rPr>
              <a:t>per-building RMSE
against airborne LiDAR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115311" y="5029200"/>
            <a:ext cx="1639824" cy="896112"/>
          </a:xfrm>
          <a:prstGeom prst="roundRect">
            <a:avLst>
              <a:gd name="adj" fmla="val 7142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2261616" y="5111496"/>
            <a:ext cx="138379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400" b="0" i="0">
                <a:solidFill>
                  <a:srgbClr val="D89E3C"/>
                </a:solidFill>
                <a:latin typeface="Franklin Gothic Demi"/>
              </a:rPr>
              <a:t>39</a:t>
            </a:r>
            <a:r>
              <a:rPr sz="1100" b="0" i="0">
                <a:solidFill>
                  <a:srgbClr val="D89E3C"/>
                </a:solidFill>
                <a:latin typeface="Franklin Gothic Demi"/>
              </a:rPr>
              <a:t> 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61616" y="5449824"/>
            <a:ext cx="1383791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C4D3DE"/>
                </a:solidFill>
                <a:latin typeface="Segoe UI"/>
              </a:rPr>
              <a:t>better than the 5.9 m
GlobalBuildingAtlas bar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864864" y="5029200"/>
            <a:ext cx="1639824" cy="896112"/>
          </a:xfrm>
          <a:prstGeom prst="roundRect">
            <a:avLst>
              <a:gd name="adj" fmla="val 7142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011168" y="5111496"/>
            <a:ext cx="138379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400" b="0" i="0">
                <a:solidFill>
                  <a:srgbClr val="D89E3C"/>
                </a:solidFill>
                <a:latin typeface="Franklin Gothic Demi"/>
              </a:rPr>
              <a:t>509</a:t>
            </a:r>
            <a:r>
              <a:rPr sz="1100" b="0" i="0">
                <a:solidFill>
                  <a:srgbClr val="D89E3C"/>
                </a:solidFill>
                <a:latin typeface="Franklin Gothic Demi"/>
              </a:rPr>
              <a:t> ms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11168" y="5449824"/>
            <a:ext cx="1383791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C4D3DE"/>
                </a:solidFill>
                <a:latin typeface="Segoe UI"/>
              </a:rPr>
              <a:t>per tile on CPU alone,
no GPU in the loop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6053328"/>
            <a:ext cx="856488" cy="137160"/>
          </a:xfrm>
          <a:prstGeom prst="rect">
            <a:avLst/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1222248" y="6053328"/>
            <a:ext cx="856488" cy="137160"/>
          </a:xfrm>
          <a:prstGeom prst="rect">
            <a:avLst/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2078736" y="6053328"/>
            <a:ext cx="856488" cy="137160"/>
          </a:xfrm>
          <a:prstGeom prst="rect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2935224" y="6053328"/>
            <a:ext cx="856488" cy="137160"/>
          </a:xfrm>
          <a:prstGeom prst="rect">
            <a:avLst/>
          </a:prstGeom>
          <a:solidFill>
            <a:srgbClr val="7FB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3791712" y="6053328"/>
            <a:ext cx="856488" cy="137160"/>
          </a:xfrm>
          <a:prstGeom prst="rect">
            <a:avLst/>
          </a:prstGeom>
          <a:solidFill>
            <a:srgbClr val="D89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4648200" y="6053328"/>
            <a:ext cx="856488" cy="13716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365760" y="6254496"/>
            <a:ext cx="5138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0" i="0">
                <a:solidFill>
                  <a:srgbClr val="55636E"/>
                </a:solidFill>
                <a:latin typeface="Segoe UI"/>
              </a:rPr>
              <a:t>The palette is the model's own output scale: 0 m at the left, 155 m at the right.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601968"/>
            <a:ext cx="12191999" cy="256032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601968"/>
            <a:ext cx="2844800" cy="256032"/>
          </a:xfrm>
        </p:spPr>
        <p:txBody>
          <a:bodyPr anchor="ctr"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 Up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691640" y="256032"/>
            <a:ext cx="7955279" cy="768096"/>
          </a:xfrm>
          <a:prstGeom prst="roundRect">
            <a:avLst>
              <a:gd name="adj" fmla="val 11904"/>
            </a:avLst>
          </a:prstGeom>
          <a:solidFill>
            <a:srgbClr val="ECF1F5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892808" y="402336"/>
            <a:ext cx="26517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500" b="0" i="0">
                <a:solidFill>
                  <a:srgbClr val="0E2A3F"/>
                </a:solidFill>
                <a:latin typeface="Franklin Gothic Demi"/>
              </a:rPr>
              <a:t>DEPTH</a:t>
            </a:r>
            <a:r>
              <a:rPr sz="2500" b="0" i="0">
                <a:solidFill>
                  <a:srgbClr val="C1440E"/>
                </a:solidFill>
                <a:latin typeface="Franklin Gothic Demi"/>
              </a:rPr>
              <a:t>WIZARD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402336"/>
            <a:ext cx="18288" cy="493776"/>
          </a:xfrm>
          <a:prstGeom prst="rect">
            <a:avLst/>
          </a:prstGeom>
          <a:solidFill>
            <a:srgbClr val="C7D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27448" y="384048"/>
            <a:ext cx="470001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41B22"/>
                </a:solidFill>
                <a:latin typeface="Segoe UI"/>
              </a:rPr>
              <a:t>One satellite image in, a measurable 3D surface out. </a:t>
            </a:r>
            <a:r>
              <a:rPr sz="1250" b="1" i="0">
                <a:solidFill>
                  <a:srgbClr val="C1440E"/>
                </a:solidFill>
                <a:latin typeface="Segoe UI"/>
              </a:rPr>
              <a:t>Every submission promises accuracy. This one reports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1115568"/>
            <a:ext cx="3931920" cy="310896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Franklin Gothic Demi Cond"/>
              </a:rPr>
              <a:t>THE PROBLEM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1115568"/>
            <a:ext cx="7251192" cy="310896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Franklin Gothic Demi Cond"/>
              </a:rPr>
              <a:t>OUR SOLUTION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1499616"/>
            <a:ext cx="3931920" cy="2670048"/>
          </a:xfrm>
          <a:prstGeom prst="roundRect">
            <a:avLst>
              <a:gd name="adj" fmla="val 3424"/>
            </a:avLst>
          </a:prstGeom>
          <a:solidFill>
            <a:srgbClr val="F7FAFC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457200" y="1591056"/>
            <a:ext cx="3749039" cy="786384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548640" y="1700784"/>
            <a:ext cx="347472" cy="310896"/>
          </a:xfrm>
          <a:prstGeom prst="roundRect">
            <a:avLst>
              <a:gd name="adj" fmla="val 14705"/>
            </a:avLst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Franklin Gothic Demi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1673352"/>
            <a:ext cx="31638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40" b="0" i="0">
                <a:solidFill>
                  <a:srgbClr val="141B22"/>
                </a:solidFill>
                <a:latin typeface="Segoe UI Semibold"/>
              </a:rPr>
              <a:t>Archives with no height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1911095"/>
            <a:ext cx="316382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 b="0" i="0">
                <a:solidFill>
                  <a:srgbClr val="2A3540"/>
                </a:solidFill>
                <a:latin typeface="Segoe UI"/>
              </a:rPr>
              <a:t>Decades of Cartosat single-view imagery exist. Stereo and LiDAR cannot be flown into the past.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450591"/>
            <a:ext cx="3749039" cy="786384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548640" y="2560320"/>
            <a:ext cx="347472" cy="310896"/>
          </a:xfrm>
          <a:prstGeom prst="roundRect">
            <a:avLst>
              <a:gd name="adj" fmla="val 14705"/>
            </a:avLst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Franklin Gothic Demi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2532887"/>
            <a:ext cx="31638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40" b="0" i="0">
                <a:solidFill>
                  <a:srgbClr val="141B22"/>
                </a:solidFill>
                <a:latin typeface="Segoe UI Semibold"/>
              </a:rPr>
              <a:t>Answers with no confidence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2770632"/>
            <a:ext cx="316382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 b="0" i="0">
                <a:solidFill>
                  <a:srgbClr val="2A3540"/>
                </a:solidFill>
                <a:latin typeface="Segoe UI"/>
              </a:rPr>
              <a:t>Single-view height is ill-posed. One number implies a certainty the model does not have.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310128"/>
            <a:ext cx="3749039" cy="786384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548640" y="3419856"/>
            <a:ext cx="347472" cy="310896"/>
          </a:xfrm>
          <a:prstGeom prst="roundRect">
            <a:avLst>
              <a:gd name="adj" fmla="val 14705"/>
            </a:avLst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Franklin Gothic Demi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" y="3392424"/>
            <a:ext cx="31638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40" b="0" i="0">
                <a:solidFill>
                  <a:srgbClr val="141B22"/>
                </a:solidFill>
                <a:latin typeface="Segoe UI Semibold"/>
              </a:rPr>
              <a:t>Checkpoints are not products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3630168"/>
            <a:ext cx="316382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 b="0" i="0">
                <a:solidFill>
                  <a:srgbClr val="2A3540"/>
                </a:solidFill>
                <a:latin typeface="Segoe UI"/>
              </a:rPr>
              <a:t>The literature ships weights and an eval script. An analyst needs a scene they can open and check.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0" y="1499616"/>
            <a:ext cx="7251192" cy="2670048"/>
          </a:xfrm>
          <a:prstGeom prst="roundRect">
            <a:avLst>
              <a:gd name="adj" fmla="val 3424"/>
            </a:avLst>
          </a:prstGeom>
          <a:solidFill>
            <a:srgbClr val="F7FAFC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4663440" y="1591056"/>
            <a:ext cx="2282952" cy="118872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33" name="Oval 32"/>
          <p:cNvSpPr/>
          <p:nvPr/>
        </p:nvSpPr>
        <p:spPr>
          <a:xfrm>
            <a:off x="4754879" y="1664208"/>
            <a:ext cx="438912" cy="438912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34" name="Picture 33" descr="image-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218" y="1769546"/>
            <a:ext cx="228234" cy="22823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266944" y="1737360"/>
            <a:ext cx="1569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40" b="0" i="0">
                <a:solidFill>
                  <a:srgbClr val="141B22"/>
                </a:solidFill>
                <a:latin typeface="Segoe UI Semibold"/>
              </a:rPr>
              <a:t>One image to a metric DSM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91455" y="2194560"/>
            <a:ext cx="20269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 b="0" i="0">
                <a:solidFill>
                  <a:srgbClr val="2A3540"/>
                </a:solidFill>
                <a:latin typeface="Segoe UI"/>
              </a:rPr>
              <a:t>Depth Anything V2 fine-tuned on DFC2019 LiDAR. GeoTIFF out, metadata or not.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56120" y="1591056"/>
            <a:ext cx="2282952" cy="118872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38" name="Oval 37"/>
          <p:cNvSpPr/>
          <p:nvPr/>
        </p:nvSpPr>
        <p:spPr>
          <a:xfrm>
            <a:off x="7147560" y="1664208"/>
            <a:ext cx="438912" cy="438912"/>
          </a:xfrm>
          <a:prstGeom prst="ellipse">
            <a:avLst/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39" name="Picture 38" descr="shield-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2898" y="1769546"/>
            <a:ext cx="228234" cy="22823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659624" y="1737360"/>
            <a:ext cx="1569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40" b="0" i="0">
                <a:solidFill>
                  <a:srgbClr val="141B22"/>
                </a:solidFill>
                <a:latin typeface="Segoe UI Semibold"/>
              </a:rPr>
              <a:t>Confidence, not just height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84136" y="2194560"/>
            <a:ext cx="20269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 b="0" i="0">
                <a:solidFill>
                  <a:srgbClr val="2A3540"/>
                </a:solidFill>
                <a:latin typeface="Segoe UI"/>
              </a:rPr>
              <a:t>A per-pixel sigma beside every height. Where it says unsure, it is wrong — monotonically.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48799" y="1591056"/>
            <a:ext cx="2282952" cy="118872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43" name="Oval 42"/>
          <p:cNvSpPr/>
          <p:nvPr/>
        </p:nvSpPr>
        <p:spPr>
          <a:xfrm>
            <a:off x="9540239" y="1664208"/>
            <a:ext cx="438912" cy="438912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44" name="Picture 43" descr="bo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5578" y="1769546"/>
            <a:ext cx="228234" cy="22823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0052303" y="1737360"/>
            <a:ext cx="1569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40" b="0" i="0">
                <a:solidFill>
                  <a:srgbClr val="141B22"/>
                </a:solidFill>
                <a:latin typeface="Segoe UI Semibold"/>
              </a:rPr>
              <a:t>A navigable 3D scene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76816" y="2194560"/>
            <a:ext cx="20269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 b="0" i="0">
                <a:solidFill>
                  <a:srgbClr val="2A3540"/>
                </a:solidFill>
                <a:latin typeface="Segoe UI"/>
              </a:rPr>
              <a:t>three.js flythrough, drag-to-compare against reference, and a live error map.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663440" y="2871215"/>
            <a:ext cx="2282952" cy="118872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48" name="Oval 47"/>
          <p:cNvSpPr/>
          <p:nvPr/>
        </p:nvSpPr>
        <p:spPr>
          <a:xfrm>
            <a:off x="4754879" y="2944368"/>
            <a:ext cx="438912" cy="438912"/>
          </a:xfrm>
          <a:prstGeom prst="ellipse">
            <a:avLst/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49" name="Picture 48" descr="rul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0218" y="3049706"/>
            <a:ext cx="228234" cy="22823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5266944" y="3017520"/>
            <a:ext cx="1569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40" b="0" i="0">
                <a:solidFill>
                  <a:srgbClr val="141B22"/>
                </a:solidFill>
                <a:latin typeface="Segoe UI Semibold"/>
              </a:rPr>
              <a:t>Validation inside the product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91455" y="3474720"/>
            <a:ext cx="20269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 b="0" i="0">
                <a:solidFill>
                  <a:srgbClr val="2A3540"/>
                </a:solidFill>
                <a:latin typeface="Segoe UI"/>
              </a:rPr>
              <a:t>RMSE, MAE and correlation against LiDAR — per terrain class, not one flattering average.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056120" y="2871215"/>
            <a:ext cx="2282952" cy="118872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53" name="Oval 52"/>
          <p:cNvSpPr/>
          <p:nvPr/>
        </p:nvSpPr>
        <p:spPr>
          <a:xfrm>
            <a:off x="7147560" y="2944368"/>
            <a:ext cx="438912" cy="438912"/>
          </a:xfrm>
          <a:prstGeom prst="ellipse">
            <a:avLst/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54" name="Picture 53" descr="map-pinn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52898" y="3049706"/>
            <a:ext cx="228234" cy="228234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659624" y="3017520"/>
            <a:ext cx="1569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40" b="0" i="0">
                <a:solidFill>
                  <a:srgbClr val="141B22"/>
                </a:solidFill>
                <a:latin typeface="Segoe UI Semibold"/>
              </a:rPr>
              <a:t>Absolute heights, two ways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84136" y="3474720"/>
            <a:ext cx="20269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 b="0" i="0">
                <a:solidFill>
                  <a:srgbClr val="2A3540"/>
                </a:solidFill>
                <a:latin typeface="Segoe UI"/>
              </a:rPr>
              <a:t>Copernicus GLO-30, or ground control points via a power-law fit.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448799" y="2871215"/>
            <a:ext cx="2282952" cy="118872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58" name="Oval 57"/>
          <p:cNvSpPr/>
          <p:nvPr/>
        </p:nvSpPr>
        <p:spPr>
          <a:xfrm>
            <a:off x="9540239" y="2944368"/>
            <a:ext cx="438912" cy="438912"/>
          </a:xfrm>
          <a:prstGeom prst="ellipse">
            <a:avLst/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59" name="Picture 58" descr="wifi-o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45578" y="3049706"/>
            <a:ext cx="228234" cy="228234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0052303" y="3017520"/>
            <a:ext cx="1569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40" b="0" i="0">
                <a:solidFill>
                  <a:srgbClr val="141B22"/>
                </a:solidFill>
                <a:latin typeface="Segoe UI Semibold"/>
              </a:rPr>
              <a:t>Deployable, not demo-ware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76816" y="3474720"/>
            <a:ext cx="20269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 b="0" i="0">
                <a:solidFill>
                  <a:srgbClr val="2A3540"/>
                </a:solidFill>
                <a:latin typeface="Segoe UI"/>
              </a:rPr>
              <a:t>No GPU: 509 ms per tile. The viewer is one 15 MB HTML file that opens from disk.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65760" y="4242816"/>
            <a:ext cx="11457432" cy="274320"/>
          </a:xfrm>
          <a:prstGeom prst="roundRect">
            <a:avLst>
              <a:gd name="adj" fmla="val 50000"/>
            </a:avLst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THE PRODUCT, RUNNING — CAPTURES OF THE LIVE VIEWER, NOT MOCK-UPS</a:t>
            </a:r>
          </a:p>
        </p:txBody>
      </p:sp>
      <p:pic>
        <p:nvPicPr>
          <p:cNvPr id="63" name="Picture 62" descr="sikkim_hilly_cro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" y="4590288"/>
            <a:ext cx="3648456" cy="1719072"/>
          </a:xfrm>
          <a:prstGeom prst="rect">
            <a:avLst/>
          </a:prstGeom>
          <a:ln w="9525">
            <a:solidFill>
              <a:srgbClr val="C7D5DF"/>
            </a:solidFill>
          </a:ln>
        </p:spPr>
      </p:pic>
      <p:sp>
        <p:nvSpPr>
          <p:cNvPr id="64" name="Rounded Rectangle 63"/>
          <p:cNvSpPr/>
          <p:nvPr/>
        </p:nvSpPr>
        <p:spPr>
          <a:xfrm>
            <a:off x="365760" y="4590288"/>
            <a:ext cx="2048256" cy="274320"/>
          </a:xfrm>
          <a:prstGeom prst="roundRect">
            <a:avLst>
              <a:gd name="adj" fmla="val 13333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FFFFFF"/>
                </a:solidFill>
                <a:latin typeface="Franklin Gothic Demi Cond"/>
              </a:rPr>
              <a:t>SIKKIM, INDIA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6345936"/>
            <a:ext cx="36484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55636E"/>
                </a:solidFill>
                <a:latin typeface="Segoe UI"/>
              </a:rPr>
              <a:t>967 m of relief across 2 km, image draped on the surface.</a:t>
            </a:r>
          </a:p>
        </p:txBody>
      </p:sp>
      <p:pic>
        <p:nvPicPr>
          <p:cNvPr id="66" name="Picture 65" descr="urban_height_cro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70248" y="4590288"/>
            <a:ext cx="3648456" cy="1719072"/>
          </a:xfrm>
          <a:prstGeom prst="rect">
            <a:avLst/>
          </a:prstGeom>
          <a:ln w="9525">
            <a:solidFill>
              <a:srgbClr val="C7D5DF"/>
            </a:solidFill>
          </a:ln>
        </p:spPr>
      </p:pic>
      <p:sp>
        <p:nvSpPr>
          <p:cNvPr id="67" name="Rounded Rectangle 66"/>
          <p:cNvSpPr/>
          <p:nvPr/>
        </p:nvSpPr>
        <p:spPr>
          <a:xfrm>
            <a:off x="4270248" y="4590288"/>
            <a:ext cx="2048256" cy="274320"/>
          </a:xfrm>
          <a:prstGeom prst="roundRect">
            <a:avLst>
              <a:gd name="adj" fmla="val 13333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FFFFFF"/>
                </a:solidFill>
                <a:latin typeface="Franklin Gothic Demi Cond"/>
              </a:rPr>
              <a:t>OMAHA, HEIGHT ABOVE GROUND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70248" y="6345936"/>
            <a:ext cx="36484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55636E"/>
                </a:solidFill>
                <a:latin typeface="Segoe UI"/>
              </a:rPr>
              <a:t>Flat roofs, tree crowns and kerbs resolved at 0.3 m.</a:t>
            </a:r>
          </a:p>
        </p:txBody>
      </p:sp>
      <p:pic>
        <p:nvPicPr>
          <p:cNvPr id="69" name="Picture 68" descr="urban_sigma_cro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74736" y="4590288"/>
            <a:ext cx="3648456" cy="1719072"/>
          </a:xfrm>
          <a:prstGeom prst="rect">
            <a:avLst/>
          </a:prstGeom>
          <a:ln w="9525">
            <a:solidFill>
              <a:srgbClr val="C7D5DF"/>
            </a:solidFill>
          </a:ln>
        </p:spPr>
      </p:pic>
      <p:sp>
        <p:nvSpPr>
          <p:cNvPr id="70" name="Rounded Rectangle 69"/>
          <p:cNvSpPr/>
          <p:nvPr/>
        </p:nvSpPr>
        <p:spPr>
          <a:xfrm>
            <a:off x="8174736" y="4590288"/>
            <a:ext cx="2048256" cy="274320"/>
          </a:xfrm>
          <a:prstGeom prst="roundRect">
            <a:avLst>
              <a:gd name="adj" fmla="val 13333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FFFFFF"/>
                </a:solidFill>
                <a:latin typeface="Franklin Gothic Demi Cond"/>
              </a:rPr>
              <a:t>OMAHA, MODEL CONFIDENCE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74736" y="6345936"/>
            <a:ext cx="36484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55636E"/>
                </a:solidFill>
                <a:latin typeface="Segoe UI"/>
              </a:rPr>
              <a:t>Per-pixel sigma: where the estimate is weak, it says 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01968"/>
            <a:ext cx="12191999" cy="256032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601968"/>
            <a:ext cx="2844800" cy="256032"/>
          </a:xfrm>
        </p:spPr>
        <p:txBody>
          <a:bodyPr anchor="ctr"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 Up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15568"/>
            <a:ext cx="4846320" cy="310896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Franklin Gothic Demi Cond"/>
              </a:rPr>
              <a:t>ARCHITECTURE — ONE IMAGE TO A CHECKED SURFACE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517904"/>
            <a:ext cx="4846320" cy="3785615"/>
          </a:xfrm>
          <a:prstGeom prst="roundRect">
            <a:avLst>
              <a:gd name="adj" fmla="val 2415"/>
            </a:avLst>
          </a:prstGeom>
          <a:solidFill>
            <a:srgbClr val="F7FAFC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12" name="Rounded Rectangle 17411"/>
          <p:cNvSpPr/>
          <p:nvPr/>
        </p:nvSpPr>
        <p:spPr>
          <a:xfrm>
            <a:off x="457200" y="1609344"/>
            <a:ext cx="4663440" cy="475488"/>
          </a:xfrm>
          <a:prstGeom prst="roundRect">
            <a:avLst>
              <a:gd name="adj" fmla="val 9615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13" name="Rounded Rectangle 17412"/>
          <p:cNvSpPr/>
          <p:nvPr/>
        </p:nvSpPr>
        <p:spPr>
          <a:xfrm>
            <a:off x="521208" y="1709928"/>
            <a:ext cx="274320" cy="274320"/>
          </a:xfrm>
          <a:prstGeom prst="roundRect">
            <a:avLst>
              <a:gd name="adj" fmla="val 16666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Franklin Gothic Demi"/>
              </a:rPr>
              <a:t>1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877824" y="1673352"/>
            <a:ext cx="415137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1040" b="1" i="0">
                <a:solidFill>
                  <a:srgbClr val="141B22"/>
                </a:solidFill>
                <a:latin typeface="Segoe UI Semibold"/>
              </a:rPr>
              <a:t>INPUT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40" b="0" i="0">
                <a:solidFill>
                  <a:srgbClr val="55636E"/>
                </a:solidFill>
                <a:latin typeface="Segoe UI"/>
              </a:rPr>
              <a:t>GeoTIFF, or a plain PNG / JPG with no metadata at all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57200" y="2139696"/>
            <a:ext cx="4663440" cy="475488"/>
          </a:xfrm>
          <a:prstGeom prst="roundRect">
            <a:avLst>
              <a:gd name="adj" fmla="val 9615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16" name="Rounded Rectangle 17415"/>
          <p:cNvSpPr/>
          <p:nvPr/>
        </p:nvSpPr>
        <p:spPr>
          <a:xfrm>
            <a:off x="521208" y="2240279"/>
            <a:ext cx="274320" cy="274320"/>
          </a:xfrm>
          <a:prstGeom prst="roundRect">
            <a:avLst>
              <a:gd name="adj" fmla="val 16666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Franklin Gothic Demi"/>
              </a:rPr>
              <a:t>2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877824" y="2203703"/>
            <a:ext cx="415137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1040" b="1" i="0">
                <a:solidFill>
                  <a:srgbClr val="141B22"/>
                </a:solidFill>
                <a:latin typeface="Segoe UI Semibold"/>
              </a:rPr>
              <a:t>GSD NORMALISE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40" b="0" i="0">
                <a:solidFill>
                  <a:srgbClr val="55636E"/>
                </a:solidFill>
                <a:latin typeface="Segoe UI"/>
              </a:rPr>
              <a:t>auto-zoom reads ground sample distance, resamples to 0.3 m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57200" y="2670048"/>
            <a:ext cx="4663440" cy="475488"/>
          </a:xfrm>
          <a:prstGeom prst="roundRect">
            <a:avLst>
              <a:gd name="adj" fmla="val 9615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19" name="Rounded Rectangle 17418"/>
          <p:cNvSpPr/>
          <p:nvPr/>
        </p:nvSpPr>
        <p:spPr>
          <a:xfrm>
            <a:off x="521208" y="2770632"/>
            <a:ext cx="274320" cy="274320"/>
          </a:xfrm>
          <a:prstGeom prst="roundRect">
            <a:avLst>
              <a:gd name="adj" fmla="val 16666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Franklin Gothic Demi"/>
              </a:rPr>
              <a:t>3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877824" y="2734056"/>
            <a:ext cx="415137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1040" b="1" i="0">
                <a:solidFill>
                  <a:srgbClr val="141B22"/>
                </a:solidFill>
                <a:latin typeface="Segoe UI Semibold"/>
              </a:rPr>
              <a:t>DA-V2 BACKBONE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40" b="0" i="0">
                <a:solidFill>
                  <a:srgbClr val="55636E"/>
                </a:solidFill>
                <a:latin typeface="Segoe UI"/>
              </a:rPr>
              <a:t>ViT encoder and DPT neck, fine-tuned on DFC2019 LiDAR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457200" y="3200400"/>
            <a:ext cx="4663440" cy="475488"/>
          </a:xfrm>
          <a:prstGeom prst="roundRect">
            <a:avLst>
              <a:gd name="adj" fmla="val 9615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22" name="Rounded Rectangle 17421"/>
          <p:cNvSpPr/>
          <p:nvPr/>
        </p:nvSpPr>
        <p:spPr>
          <a:xfrm>
            <a:off x="521208" y="3300984"/>
            <a:ext cx="274320" cy="274320"/>
          </a:xfrm>
          <a:prstGeom prst="roundRect">
            <a:avLst>
              <a:gd name="adj" fmla="val 16666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Franklin Gothic Demi"/>
              </a:rPr>
              <a:t>4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877824" y="3264408"/>
            <a:ext cx="415137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1040" b="1" i="0">
                <a:solidFill>
                  <a:srgbClr val="141B22"/>
                </a:solidFill>
                <a:latin typeface="Segoe UI Semibold"/>
              </a:rPr>
              <a:t>DUAL HEAD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40" b="0" i="0">
                <a:solidFill>
                  <a:srgbClr val="55636E"/>
                </a:solidFill>
                <a:latin typeface="Segoe UI"/>
              </a:rPr>
              <a:t>height mu and log-variance sigma, emitted per pixel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457200" y="3730752"/>
            <a:ext cx="4663440" cy="475488"/>
          </a:xfrm>
          <a:prstGeom prst="roundRect">
            <a:avLst>
              <a:gd name="adj" fmla="val 9615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25" name="Rounded Rectangle 17424"/>
          <p:cNvSpPr/>
          <p:nvPr/>
        </p:nvSpPr>
        <p:spPr>
          <a:xfrm>
            <a:off x="521208" y="3831336"/>
            <a:ext cx="274320" cy="274320"/>
          </a:xfrm>
          <a:prstGeom prst="roundRect">
            <a:avLst>
              <a:gd name="adj" fmla="val 16666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Franklin Gothic Demi"/>
              </a:rPr>
              <a:t>5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877824" y="3794760"/>
            <a:ext cx="415137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1040" b="1" i="0">
                <a:solidFill>
                  <a:srgbClr val="141B22"/>
                </a:solidFill>
                <a:latin typeface="Segoe UI Semibold"/>
              </a:rPr>
              <a:t>TILED INFERENCE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40" b="0" i="0">
                <a:solidFill>
                  <a:srgbClr val="55636E"/>
                </a:solidFill>
                <a:latin typeface="Segoe UI"/>
              </a:rPr>
              <a:t>518 px sliding window, overlap blending, plus TTA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457200" y="4261104"/>
            <a:ext cx="4663440" cy="475488"/>
          </a:xfrm>
          <a:prstGeom prst="roundRect">
            <a:avLst>
              <a:gd name="adj" fmla="val 9615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28" name="Rounded Rectangle 17427"/>
          <p:cNvSpPr/>
          <p:nvPr/>
        </p:nvSpPr>
        <p:spPr>
          <a:xfrm>
            <a:off x="521208" y="4361688"/>
            <a:ext cx="274320" cy="274320"/>
          </a:xfrm>
          <a:prstGeom prst="roundRect">
            <a:avLst>
              <a:gd name="adj" fmla="val 16666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Franklin Gothic Demi"/>
              </a:rPr>
              <a:t>6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877824" y="4325112"/>
            <a:ext cx="415137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1040" b="1" i="0">
                <a:solidFill>
                  <a:srgbClr val="141B22"/>
                </a:solidFill>
                <a:latin typeface="Segoe UI Semibold"/>
              </a:rPr>
              <a:t>SCALE ANCHOR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40" b="0" i="0">
                <a:solidFill>
                  <a:srgbClr val="55636E"/>
                </a:solidFill>
                <a:latin typeface="Segoe UI"/>
              </a:rPr>
              <a:t>Copernicus GLO-30, or ground control by power-law fit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457200" y="4791455"/>
            <a:ext cx="4663440" cy="475488"/>
          </a:xfrm>
          <a:prstGeom prst="roundRect">
            <a:avLst>
              <a:gd name="adj" fmla="val 9615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31" name="Rounded Rectangle 17430"/>
          <p:cNvSpPr/>
          <p:nvPr/>
        </p:nvSpPr>
        <p:spPr>
          <a:xfrm>
            <a:off x="521208" y="4892040"/>
            <a:ext cx="274320" cy="274320"/>
          </a:xfrm>
          <a:prstGeom prst="roundRect">
            <a:avLst>
              <a:gd name="adj" fmla="val 16666"/>
            </a:avLst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Franklin Gothic Demi"/>
              </a:rPr>
              <a:t>7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877824" y="4855464"/>
            <a:ext cx="415137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1040" b="1" i="0">
                <a:solidFill>
                  <a:srgbClr val="141B22"/>
                </a:solidFill>
                <a:latin typeface="Segoe UI Semibold"/>
              </a:rPr>
              <a:t>OUTPUTS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40" b="0" i="0">
                <a:solidFill>
                  <a:srgbClr val="55636E"/>
                </a:solidFill>
                <a:latin typeface="Segoe UI"/>
              </a:rPr>
              <a:t>GeoTIFF DSM, sigma map, three.js scene with a live error map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365760" y="5413248"/>
            <a:ext cx="4846320" cy="274320"/>
          </a:xfrm>
          <a:prstGeom prst="roundRect">
            <a:avLst>
              <a:gd name="adj" fmla="val 50000"/>
            </a:avLst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HOW IT IS VALIDATED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420624" y="5760720"/>
            <a:ext cx="473659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40" b="1" i="0">
                <a:solidFill>
                  <a:srgbClr val="141B22"/>
                </a:solidFill>
                <a:latin typeface="Segoe UI Semibold"/>
              </a:rPr>
              <a:t>Split  </a:t>
            </a:r>
            <a:r>
              <a:rPr sz="940" b="0" i="0">
                <a:solidFill>
                  <a:srgbClr val="2A3540"/>
                </a:solidFill>
                <a:latin typeface="Segoe UI"/>
              </a:rPr>
              <a:t>region-disjoint, not random — adjacent tiles share buildings.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40" b="1" i="0">
                <a:solidFill>
                  <a:srgbClr val="141B22"/>
                </a:solidFill>
                <a:latin typeface="Segoe UI Semibold"/>
              </a:rPr>
              <a:t>Scored on  </a:t>
            </a:r>
            <a:r>
              <a:rPr sz="940" b="0" i="0">
                <a:solidFill>
                  <a:srgbClr val="2A3540"/>
                </a:solidFill>
                <a:latin typeface="Segoe UI"/>
              </a:rPr>
              <a:t>80 whole tiles, 11,983,760 pixels, 3,090 buildings.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40" b="1" i="0">
                <a:solidFill>
                  <a:srgbClr val="141B22"/>
                </a:solidFill>
                <a:latin typeface="Segoe UI Semibold"/>
              </a:rPr>
              <a:t>Reported per  </a:t>
            </a:r>
            <a:r>
              <a:rPr sz="940" b="0" i="0">
                <a:solidFill>
                  <a:srgbClr val="2A3540"/>
                </a:solidFill>
                <a:latin typeface="Segoe UI"/>
              </a:rPr>
              <a:t>urban / sparse / forested / mixed, and per height band.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40" b="1" i="0">
                <a:solidFill>
                  <a:srgbClr val="141B22"/>
                </a:solidFill>
                <a:latin typeface="Segoe UI Semibold"/>
              </a:rPr>
              <a:t>Held back  </a:t>
            </a:r>
            <a:r>
              <a:rPr sz="940" b="0" i="0">
                <a:solidFill>
                  <a:srgbClr val="2A3540"/>
                </a:solidFill>
                <a:latin typeface="Segoe UI"/>
              </a:rPr>
              <a:t>the test split is untouched until the very end.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5486400" y="1115568"/>
            <a:ext cx="2615184" cy="310896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Franklin Gothic Demi Cond"/>
              </a:rPr>
              <a:t>TECH STACK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5486400" y="1517904"/>
            <a:ext cx="2615184" cy="3785615"/>
          </a:xfrm>
          <a:prstGeom prst="roundRect">
            <a:avLst>
              <a:gd name="adj" fmla="val 3496"/>
            </a:avLst>
          </a:prstGeom>
          <a:solidFill>
            <a:srgbClr val="F7FAFC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37" name="Picture 17436" descr="pyth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1324" y="1691640"/>
            <a:ext cx="347472" cy="347472"/>
          </a:xfrm>
          <a:prstGeom prst="rect">
            <a:avLst/>
          </a:prstGeom>
        </p:spPr>
      </p:pic>
      <p:sp>
        <p:nvSpPr>
          <p:cNvPr id="17438" name="TextBox 17437"/>
          <p:cNvSpPr txBox="1"/>
          <p:nvPr/>
        </p:nvSpPr>
        <p:spPr>
          <a:xfrm>
            <a:off x="5596128" y="210312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141B22"/>
                </a:solidFill>
                <a:latin typeface="Segoe UI Semibold"/>
              </a:rPr>
              <a:t>Python 3.11</a:t>
            </a:r>
          </a:p>
        </p:txBody>
      </p:sp>
      <p:pic>
        <p:nvPicPr>
          <p:cNvPr id="17439" name="Picture 17438" descr="pyto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9187" y="1691640"/>
            <a:ext cx="347472" cy="347472"/>
          </a:xfrm>
          <a:prstGeom prst="rect">
            <a:avLst/>
          </a:prstGeom>
        </p:spPr>
      </p:pic>
      <p:sp>
        <p:nvSpPr>
          <p:cNvPr id="17440" name="TextBox 17439"/>
          <p:cNvSpPr txBox="1"/>
          <p:nvPr/>
        </p:nvSpPr>
        <p:spPr>
          <a:xfrm>
            <a:off x="6793992" y="210312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141B22"/>
                </a:solidFill>
                <a:latin typeface="Segoe UI Semibold"/>
              </a:rPr>
              <a:t>PyTorch</a:t>
            </a:r>
          </a:p>
        </p:txBody>
      </p:sp>
      <p:pic>
        <p:nvPicPr>
          <p:cNvPr id="17441" name="Picture 17440" descr="huggingfa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1324" y="2404872"/>
            <a:ext cx="347472" cy="347472"/>
          </a:xfrm>
          <a:prstGeom prst="rect">
            <a:avLst/>
          </a:prstGeom>
        </p:spPr>
      </p:pic>
      <p:sp>
        <p:nvSpPr>
          <p:cNvPr id="17442" name="TextBox 17441"/>
          <p:cNvSpPr txBox="1"/>
          <p:nvPr/>
        </p:nvSpPr>
        <p:spPr>
          <a:xfrm>
            <a:off x="5596128" y="2816352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141B22"/>
                </a:solidFill>
                <a:latin typeface="Segoe UI Semibold"/>
              </a:rPr>
              <a:t>Transformers</a:t>
            </a:r>
          </a:p>
        </p:txBody>
      </p:sp>
      <p:pic>
        <p:nvPicPr>
          <p:cNvPr id="17443" name="Picture 17442" descr="onn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9187" y="2404872"/>
            <a:ext cx="347472" cy="347472"/>
          </a:xfrm>
          <a:prstGeom prst="rect">
            <a:avLst/>
          </a:prstGeom>
        </p:spPr>
      </p:pic>
      <p:sp>
        <p:nvSpPr>
          <p:cNvPr id="17444" name="TextBox 17443"/>
          <p:cNvSpPr txBox="1"/>
          <p:nvPr/>
        </p:nvSpPr>
        <p:spPr>
          <a:xfrm>
            <a:off x="6793992" y="2816352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141B22"/>
                </a:solidFill>
                <a:latin typeface="Segoe UI Semibold"/>
              </a:rPr>
              <a:t>ONNX Runtime</a:t>
            </a:r>
          </a:p>
        </p:txBody>
      </p:sp>
      <p:pic>
        <p:nvPicPr>
          <p:cNvPr id="17445" name="Picture 17444" descr="nump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1324" y="3118104"/>
            <a:ext cx="347472" cy="347472"/>
          </a:xfrm>
          <a:prstGeom prst="rect">
            <a:avLst/>
          </a:prstGeom>
        </p:spPr>
      </p:pic>
      <p:sp>
        <p:nvSpPr>
          <p:cNvPr id="17446" name="TextBox 17445"/>
          <p:cNvSpPr txBox="1"/>
          <p:nvPr/>
        </p:nvSpPr>
        <p:spPr>
          <a:xfrm>
            <a:off x="5596128" y="3529584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141B22"/>
                </a:solidFill>
                <a:latin typeface="Segoe UI Semibold"/>
              </a:rPr>
              <a:t>NumPy / SciPy</a:t>
            </a:r>
          </a:p>
        </p:txBody>
      </p:sp>
      <p:pic>
        <p:nvPicPr>
          <p:cNvPr id="17447" name="Picture 17446" descr="opencv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19187" y="3118104"/>
            <a:ext cx="347472" cy="347472"/>
          </a:xfrm>
          <a:prstGeom prst="rect">
            <a:avLst/>
          </a:prstGeom>
        </p:spPr>
      </p:pic>
      <p:sp>
        <p:nvSpPr>
          <p:cNvPr id="17448" name="TextBox 17447"/>
          <p:cNvSpPr txBox="1"/>
          <p:nvPr/>
        </p:nvSpPr>
        <p:spPr>
          <a:xfrm>
            <a:off x="6793992" y="3529584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141B22"/>
                </a:solidFill>
                <a:latin typeface="Segoe UI Semibold"/>
              </a:rPr>
              <a:t>OpenCV</a:t>
            </a:r>
          </a:p>
        </p:txBody>
      </p:sp>
      <p:pic>
        <p:nvPicPr>
          <p:cNvPr id="17449" name="Picture 17448" descr="databas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21324" y="3831335"/>
            <a:ext cx="347472" cy="347472"/>
          </a:xfrm>
          <a:prstGeom prst="rect">
            <a:avLst/>
          </a:prstGeom>
        </p:spPr>
      </p:pic>
      <p:sp>
        <p:nvSpPr>
          <p:cNvPr id="17450" name="TextBox 17449"/>
          <p:cNvSpPr txBox="1"/>
          <p:nvPr/>
        </p:nvSpPr>
        <p:spPr>
          <a:xfrm>
            <a:off x="5596128" y="4242816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141B22"/>
                </a:solidFill>
                <a:latin typeface="Segoe UI Semibold"/>
              </a:rPr>
              <a:t>GDAL / rasterio</a:t>
            </a:r>
          </a:p>
        </p:txBody>
      </p:sp>
      <p:pic>
        <p:nvPicPr>
          <p:cNvPr id="17451" name="Picture 17450" descr="threedotj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19187" y="3831335"/>
            <a:ext cx="347472" cy="347472"/>
          </a:xfrm>
          <a:prstGeom prst="rect">
            <a:avLst/>
          </a:prstGeom>
        </p:spPr>
      </p:pic>
      <p:sp>
        <p:nvSpPr>
          <p:cNvPr id="17452" name="TextBox 17451"/>
          <p:cNvSpPr txBox="1"/>
          <p:nvPr/>
        </p:nvSpPr>
        <p:spPr>
          <a:xfrm>
            <a:off x="6793992" y="4242816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141B22"/>
                </a:solidFill>
                <a:latin typeface="Segoe UI Semibold"/>
              </a:rPr>
              <a:t>three.js r169</a:t>
            </a:r>
          </a:p>
        </p:txBody>
      </p:sp>
      <p:pic>
        <p:nvPicPr>
          <p:cNvPr id="17453" name="Picture 17452" descr="reac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21324" y="4544568"/>
            <a:ext cx="347472" cy="347472"/>
          </a:xfrm>
          <a:prstGeom prst="rect">
            <a:avLst/>
          </a:prstGeom>
        </p:spPr>
      </p:pic>
      <p:sp>
        <p:nvSpPr>
          <p:cNvPr id="17454" name="TextBox 17453"/>
          <p:cNvSpPr txBox="1"/>
          <p:nvPr/>
        </p:nvSpPr>
        <p:spPr>
          <a:xfrm>
            <a:off x="5596128" y="4956048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141B22"/>
                </a:solidFill>
                <a:latin typeface="Segoe UI Semibold"/>
              </a:rPr>
              <a:t>React</a:t>
            </a:r>
          </a:p>
        </p:txBody>
      </p:sp>
      <p:pic>
        <p:nvPicPr>
          <p:cNvPr id="17455" name="Picture 17454" descr="docke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19187" y="4544568"/>
            <a:ext cx="347472" cy="347472"/>
          </a:xfrm>
          <a:prstGeom prst="rect">
            <a:avLst/>
          </a:prstGeom>
        </p:spPr>
      </p:pic>
      <p:sp>
        <p:nvSpPr>
          <p:cNvPr id="17456" name="TextBox 17455"/>
          <p:cNvSpPr txBox="1"/>
          <p:nvPr/>
        </p:nvSpPr>
        <p:spPr>
          <a:xfrm>
            <a:off x="6793992" y="4956048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141B22"/>
                </a:solidFill>
                <a:latin typeface="Segoe UI Semibold"/>
              </a:rPr>
              <a:t>Docker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5486400" y="5413248"/>
            <a:ext cx="2615184" cy="274320"/>
          </a:xfrm>
          <a:prstGeom prst="roundRect">
            <a:avLst>
              <a:gd name="adj" fmla="val 50000"/>
            </a:avLst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WHAT SHIPS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5541264" y="5760720"/>
            <a:ext cx="2505456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 b="1" i="0">
                <a:solidFill>
                  <a:srgbClr val="141B22"/>
                </a:solidFill>
                <a:latin typeface="Segoe UI Semibold"/>
              </a:rPr>
              <a:t>An elevation module</a:t>
            </a:r>
            <a:r>
              <a:rPr sz="940" b="0" i="0">
                <a:solidFill>
                  <a:srgbClr val="2A3540"/>
                </a:solidFill>
                <a:latin typeface="Segoe UI"/>
              </a:rPr>
              <a:t> emitting a GeoTIFF DSM and a sigma map, and </a:t>
            </a:r>
            <a:r>
              <a:rPr sz="940" b="1" i="0">
                <a:solidFill>
                  <a:srgbClr val="141B22"/>
                </a:solidFill>
                <a:latin typeface="Segoe UI Semibold"/>
              </a:rPr>
              <a:t>a viewer</a:t>
            </a:r>
            <a:r>
              <a:rPr sz="940" b="0" i="0">
                <a:solidFill>
                  <a:srgbClr val="2A3540"/>
                </a:solidFill>
                <a:latin typeface="Segoe UI"/>
              </a:rPr>
              <a:t> that opens it and checks a height against reference data. No GPU, no network.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8357616" y="1115568"/>
            <a:ext cx="3465575" cy="310896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Franklin Gothic Demi Cond"/>
              </a:rPr>
              <a:t>DECISIONS, AND WHY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8357616" y="1517904"/>
            <a:ext cx="3465575" cy="4700016"/>
          </a:xfrm>
          <a:prstGeom prst="roundRect">
            <a:avLst>
              <a:gd name="adj" fmla="val 2638"/>
            </a:avLst>
          </a:prstGeom>
          <a:solidFill>
            <a:srgbClr val="F7FAFC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61" name="Rounded Rectangle 17460"/>
          <p:cNvSpPr/>
          <p:nvPr/>
        </p:nvSpPr>
        <p:spPr>
          <a:xfrm>
            <a:off x="8449056" y="1627632"/>
            <a:ext cx="3282695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62" name="Oval 17461"/>
          <p:cNvSpPr/>
          <p:nvPr/>
        </p:nvSpPr>
        <p:spPr>
          <a:xfrm>
            <a:off x="8549640" y="1691640"/>
            <a:ext cx="420624" cy="420624"/>
          </a:xfrm>
          <a:prstGeom prst="ellipse">
            <a:avLst/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63" name="Picture 17462" descr="gau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50589" y="1792589"/>
            <a:ext cx="218724" cy="218724"/>
          </a:xfrm>
          <a:prstGeom prst="rect">
            <a:avLst/>
          </a:prstGeom>
        </p:spPr>
      </p:pic>
      <p:sp>
        <p:nvSpPr>
          <p:cNvPr id="17464" name="TextBox 17463"/>
          <p:cNvSpPr txBox="1"/>
          <p:nvPr/>
        </p:nvSpPr>
        <p:spPr>
          <a:xfrm>
            <a:off x="9052560" y="1764792"/>
            <a:ext cx="26426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40" b="0" i="0">
                <a:solidFill>
                  <a:srgbClr val="141B22"/>
                </a:solidFill>
                <a:latin typeface="Segoe UI Semibold"/>
              </a:rPr>
              <a:t>The head was chosen by measurement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8558784" y="2176272"/>
            <a:ext cx="30632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 b="0" i="0">
                <a:solidFill>
                  <a:srgbClr val="2A3540"/>
                </a:solidFill>
                <a:latin typeface="Segoe UI"/>
              </a:rPr>
              <a:t>Regression, binned and head-tail-cut heads were all trained and scored. All three land at a 0.43–0.49 slope, so the simplest ships.</a:t>
            </a:r>
          </a:p>
        </p:txBody>
      </p:sp>
      <p:sp>
        <p:nvSpPr>
          <p:cNvPr id="17466" name="Rounded Rectangle 17465"/>
          <p:cNvSpPr/>
          <p:nvPr/>
        </p:nvSpPr>
        <p:spPr>
          <a:xfrm>
            <a:off x="8449056" y="2761488"/>
            <a:ext cx="3282695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67" name="Oval 17466"/>
          <p:cNvSpPr/>
          <p:nvPr/>
        </p:nvSpPr>
        <p:spPr>
          <a:xfrm>
            <a:off x="8549640" y="2825496"/>
            <a:ext cx="420624" cy="420624"/>
          </a:xfrm>
          <a:prstGeom prst="ellipse">
            <a:avLst/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68" name="Picture 17467" descr="shield-check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50589" y="2926445"/>
            <a:ext cx="218724" cy="218724"/>
          </a:xfrm>
          <a:prstGeom prst="rect">
            <a:avLst/>
          </a:prstGeom>
        </p:spPr>
      </p:pic>
      <p:sp>
        <p:nvSpPr>
          <p:cNvPr id="17469" name="TextBox 17468"/>
          <p:cNvSpPr txBox="1"/>
          <p:nvPr/>
        </p:nvSpPr>
        <p:spPr>
          <a:xfrm>
            <a:off x="9052560" y="2898648"/>
            <a:ext cx="26426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40" b="0" i="0">
                <a:solidFill>
                  <a:srgbClr val="141B22"/>
                </a:solidFill>
                <a:latin typeface="Segoe UI Semibold"/>
              </a:rPr>
              <a:t>Uncertainty is calibrated, not decorative</a:t>
            </a:r>
          </a:p>
        </p:txBody>
      </p:sp>
      <p:sp>
        <p:nvSpPr>
          <p:cNvPr id="17470" name="TextBox 17469"/>
          <p:cNvSpPr txBox="1"/>
          <p:nvPr/>
        </p:nvSpPr>
        <p:spPr>
          <a:xfrm>
            <a:off x="8558784" y="3310128"/>
            <a:ext cx="30632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 b="0" i="0">
                <a:solidFill>
                  <a:srgbClr val="2A3540"/>
                </a:solidFill>
                <a:latin typeface="Segoe UI"/>
              </a:rPr>
              <a:t>ECE 0.077, and a sigma-vs-error rank correlation of +0.829 on held-out tiles.</a:t>
            </a:r>
          </a:p>
        </p:txBody>
      </p:sp>
      <p:sp>
        <p:nvSpPr>
          <p:cNvPr id="17471" name="Rounded Rectangle 17470"/>
          <p:cNvSpPr/>
          <p:nvPr/>
        </p:nvSpPr>
        <p:spPr>
          <a:xfrm>
            <a:off x="8449056" y="3895344"/>
            <a:ext cx="3282695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72" name="Oval 17471"/>
          <p:cNvSpPr/>
          <p:nvPr/>
        </p:nvSpPr>
        <p:spPr>
          <a:xfrm>
            <a:off x="8549640" y="3959351"/>
            <a:ext cx="420624" cy="420624"/>
          </a:xfrm>
          <a:prstGeom prst="ellipse">
            <a:avLst/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73" name="Picture 17472" descr="cpu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50589" y="4060301"/>
            <a:ext cx="218724" cy="218724"/>
          </a:xfrm>
          <a:prstGeom prst="rect">
            <a:avLst/>
          </a:prstGeom>
        </p:spPr>
      </p:pic>
      <p:sp>
        <p:nvSpPr>
          <p:cNvPr id="17474" name="TextBox 17473"/>
          <p:cNvSpPr txBox="1"/>
          <p:nvPr/>
        </p:nvSpPr>
        <p:spPr>
          <a:xfrm>
            <a:off x="9052560" y="4032504"/>
            <a:ext cx="26426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40" b="0" i="0">
                <a:solidFill>
                  <a:srgbClr val="141B22"/>
                </a:solidFill>
                <a:latin typeface="Segoe UI Semibold"/>
              </a:rPr>
              <a:t>Export is checked, not assumed</a:t>
            </a:r>
          </a:p>
        </p:txBody>
      </p:sp>
      <p:sp>
        <p:nvSpPr>
          <p:cNvPr id="17475" name="TextBox 17474"/>
          <p:cNvSpPr txBox="1"/>
          <p:nvPr/>
        </p:nvSpPr>
        <p:spPr>
          <a:xfrm>
            <a:off x="8558784" y="4443983"/>
            <a:ext cx="30632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 b="0" i="0">
                <a:solidFill>
                  <a:srgbClr val="2A3540"/>
                </a:solidFill>
                <a:latin typeface="Segoe UI"/>
              </a:rPr>
              <a:t>ONNX agrees with PyTorch to 0.0010 cm over 804,972 inputs. int8 costs 0.161 m for a 63% smaller file.</a:t>
            </a:r>
          </a:p>
        </p:txBody>
      </p:sp>
      <p:sp>
        <p:nvSpPr>
          <p:cNvPr id="17476" name="Rounded Rectangle 17475"/>
          <p:cNvSpPr/>
          <p:nvPr/>
        </p:nvSpPr>
        <p:spPr>
          <a:xfrm>
            <a:off x="8449056" y="5029200"/>
            <a:ext cx="3282695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77" name="Oval 17476"/>
          <p:cNvSpPr/>
          <p:nvPr/>
        </p:nvSpPr>
        <p:spPr>
          <a:xfrm>
            <a:off x="8549640" y="5093207"/>
            <a:ext cx="420624" cy="420624"/>
          </a:xfrm>
          <a:prstGeom prst="ellipse">
            <a:avLst/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78" name="Picture 17477" descr="layers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50589" y="5194157"/>
            <a:ext cx="218724" cy="218724"/>
          </a:xfrm>
          <a:prstGeom prst="rect">
            <a:avLst/>
          </a:prstGeom>
        </p:spPr>
      </p:pic>
      <p:sp>
        <p:nvSpPr>
          <p:cNvPr id="17479" name="TextBox 17478"/>
          <p:cNvSpPr txBox="1"/>
          <p:nvPr/>
        </p:nvSpPr>
        <p:spPr>
          <a:xfrm>
            <a:off x="9052560" y="5166360"/>
            <a:ext cx="26426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40" b="0" i="0">
                <a:solidFill>
                  <a:srgbClr val="141B22"/>
                </a:solidFill>
                <a:latin typeface="Segoe UI Semibold"/>
              </a:rPr>
              <a:t>Resolution is handled explicitly</a:t>
            </a:r>
          </a:p>
        </p:txBody>
      </p:sp>
      <p:sp>
        <p:nvSpPr>
          <p:cNvPr id="17480" name="TextBox 17479"/>
          <p:cNvSpPr txBox="1"/>
          <p:nvPr/>
        </p:nvSpPr>
        <p:spPr>
          <a:xfrm>
            <a:off x="8558784" y="5577840"/>
            <a:ext cx="30632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 b="0" i="0">
                <a:solidFill>
                  <a:srgbClr val="2A3540"/>
                </a:solidFill>
                <a:latin typeface="Segoe UI"/>
              </a:rPr>
              <a:t>Auto-zoom reads GSD from metadata and resamples, recovering all but 3.6% of the coarse-input penalty.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01968"/>
            <a:ext cx="12191999" cy="256032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601968"/>
            <a:ext cx="2844800" cy="256032"/>
          </a:xfrm>
        </p:spPr>
        <p:txBody>
          <a:bodyPr anchor="ctr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 Up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15568"/>
            <a:ext cx="2782062" cy="566928"/>
          </a:xfrm>
          <a:prstGeom prst="roundRect">
            <a:avLst>
              <a:gd name="adj" fmla="val 1129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11" name="Oval 17410"/>
          <p:cNvSpPr/>
          <p:nvPr/>
        </p:nvSpPr>
        <p:spPr>
          <a:xfrm>
            <a:off x="493776" y="1216152"/>
            <a:ext cx="365760" cy="365760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12" name="Picture 17411" descr="circle-check-b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58" y="1303934"/>
            <a:ext cx="190195" cy="190195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950976" y="1188720"/>
            <a:ext cx="210540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Franklin Gothic Demi Cond"/>
              </a:rPr>
              <a:t>TECHNICALLY PROVEN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950976" y="1408176"/>
            <a:ext cx="210540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7FB0CB"/>
                </a:solidFill>
                <a:latin typeface="Segoe UI"/>
              </a:rPr>
              <a:t>Built and measured, not proposed.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257550" y="1115568"/>
            <a:ext cx="2782062" cy="566928"/>
          </a:xfrm>
          <a:prstGeom prst="roundRect">
            <a:avLst>
              <a:gd name="adj" fmla="val 1129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16" name="Oval 17415"/>
          <p:cNvSpPr/>
          <p:nvPr/>
        </p:nvSpPr>
        <p:spPr>
          <a:xfrm>
            <a:off x="3385565" y="1216152"/>
            <a:ext cx="365760" cy="365760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17" name="Picture 17416" descr="wifi-o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3348" y="1303934"/>
            <a:ext cx="190195" cy="190195"/>
          </a:xfrm>
          <a:prstGeom prst="rect">
            <a:avLst/>
          </a:prstGeom>
        </p:spPr>
      </p:pic>
      <p:sp>
        <p:nvSpPr>
          <p:cNvPr id="17418" name="TextBox 17417"/>
          <p:cNvSpPr txBox="1"/>
          <p:nvPr/>
        </p:nvSpPr>
        <p:spPr>
          <a:xfrm>
            <a:off x="3842765" y="1188720"/>
            <a:ext cx="210540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Franklin Gothic Demi Cond"/>
              </a:rPr>
              <a:t>OPERATIONALLY SIMPLE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3842765" y="1408176"/>
            <a:ext cx="210540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7FB0CB"/>
                </a:solidFill>
                <a:latin typeface="Segoe UI"/>
              </a:rPr>
              <a:t>One image in. No GPU, no network.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149340" y="1115568"/>
            <a:ext cx="2782062" cy="566928"/>
          </a:xfrm>
          <a:prstGeom prst="roundRect">
            <a:avLst>
              <a:gd name="adj" fmla="val 1129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21" name="Oval 17420"/>
          <p:cNvSpPr/>
          <p:nvPr/>
        </p:nvSpPr>
        <p:spPr>
          <a:xfrm>
            <a:off x="6277356" y="1216152"/>
            <a:ext cx="365760" cy="365760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22" name="Picture 17421" descr="indian-rupe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5138" y="1303934"/>
            <a:ext cx="190195" cy="190195"/>
          </a:xfrm>
          <a:prstGeom prst="rect">
            <a:avLst/>
          </a:prstGeom>
        </p:spPr>
      </p:pic>
      <p:sp>
        <p:nvSpPr>
          <p:cNvPr id="17423" name="TextBox 17422"/>
          <p:cNvSpPr txBox="1"/>
          <p:nvPr/>
        </p:nvSpPr>
        <p:spPr>
          <a:xfrm>
            <a:off x="6734556" y="1188720"/>
            <a:ext cx="210540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Franklin Gothic Demi Cond"/>
              </a:rPr>
              <a:t>ECONOMICALLY VIABLE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6734556" y="1408176"/>
            <a:ext cx="210540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7FB0CB"/>
                </a:solidFill>
                <a:latin typeface="Segoe UI"/>
              </a:rPr>
              <a:t>Every dependency free and open.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9041130" y="1115568"/>
            <a:ext cx="2782062" cy="566928"/>
          </a:xfrm>
          <a:prstGeom prst="roundRect">
            <a:avLst>
              <a:gd name="adj" fmla="val 1129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26" name="Oval 17425"/>
          <p:cNvSpPr/>
          <p:nvPr/>
        </p:nvSpPr>
        <p:spPr>
          <a:xfrm>
            <a:off x="9169146" y="1216152"/>
            <a:ext cx="365760" cy="365760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27" name="Picture 17426" descr="us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6928" y="1303934"/>
            <a:ext cx="190195" cy="190195"/>
          </a:xfrm>
          <a:prstGeom prst="rect">
            <a:avLst/>
          </a:prstGeom>
        </p:spPr>
      </p:pic>
      <p:sp>
        <p:nvSpPr>
          <p:cNvPr id="17428" name="TextBox 17427"/>
          <p:cNvSpPr txBox="1"/>
          <p:nvPr/>
        </p:nvSpPr>
        <p:spPr>
          <a:xfrm>
            <a:off x="9626346" y="1188720"/>
            <a:ext cx="210540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Franklin Gothic Demi Cond"/>
              </a:rPr>
              <a:t>SOCIALLY USEFUL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9626346" y="1408176"/>
            <a:ext cx="210540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7FB0CB"/>
                </a:solidFill>
                <a:latin typeface="Segoe UI"/>
              </a:rPr>
              <a:t>Planning, disaster and forestry use height.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365760" y="1792224"/>
            <a:ext cx="5577840" cy="292608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ACCURACY ACROSS THE FOUR LANDSCAPES ISRO NAMES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365760" y="2157984"/>
            <a:ext cx="5577840" cy="2084831"/>
          </a:xfrm>
          <a:prstGeom prst="roundRect">
            <a:avLst>
              <a:gd name="adj" fmla="val 4385"/>
            </a:avLst>
          </a:prstGeom>
          <a:solidFill>
            <a:srgbClr val="F7FAFC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32" name="Picture 17431" descr="terra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" y="2267712"/>
            <a:ext cx="3182112" cy="1520359"/>
          </a:xfrm>
          <a:prstGeom prst="rect">
            <a:avLst/>
          </a:prstGeom>
        </p:spPr>
      </p:pic>
      <p:sp>
        <p:nvSpPr>
          <p:cNvPr id="17433" name="TextBox 17432"/>
          <p:cNvSpPr txBox="1"/>
          <p:nvPr/>
        </p:nvSpPr>
        <p:spPr>
          <a:xfrm>
            <a:off x="3785616" y="2286000"/>
            <a:ext cx="2011679" cy="1792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40" b="1" i="0">
                <a:solidFill>
                  <a:srgbClr val="141B22"/>
                </a:solidFill>
                <a:latin typeface="Segoe UI Semibold"/>
              </a:rPr>
              <a:t>Three of four classes sit under 3.4 m</a:t>
            </a:r>
            <a:r>
              <a:rPr sz="940" b="0" i="0">
                <a:solidFill>
                  <a:srgbClr val="2A3540"/>
                </a:solidFill>
                <a:latin typeface="Segoe UI"/>
              </a:rPr>
              <a:t>, and correlation never drops below +0.58. The fourth is the honest problem, and it is one specific thing.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365760" y="4352544"/>
            <a:ext cx="5577840" cy="292608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URBAN 13.86 M, DECOMPOSED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365760" y="4718304"/>
            <a:ext cx="5577840" cy="1810512"/>
          </a:xfrm>
          <a:prstGeom prst="roundRect">
            <a:avLst>
              <a:gd name="adj" fmla="val 5050"/>
            </a:avLst>
          </a:prstGeom>
          <a:solidFill>
            <a:srgbClr val="F7FAFC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36" name="Picture 17435" descr="error_by_heigh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" y="4901184"/>
            <a:ext cx="3054096" cy="1216771"/>
          </a:xfrm>
          <a:prstGeom prst="rect">
            <a:avLst/>
          </a:prstGeom>
        </p:spPr>
      </p:pic>
      <p:sp>
        <p:nvSpPr>
          <p:cNvPr id="17437" name="TextBox 17436"/>
          <p:cNvSpPr txBox="1"/>
          <p:nvPr/>
        </p:nvSpPr>
        <p:spPr>
          <a:xfrm>
            <a:off x="3657600" y="4809744"/>
            <a:ext cx="2139696" cy="160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40" b="1" i="0">
                <a:solidFill>
                  <a:srgbClr val="C1440E"/>
                </a:solidFill>
                <a:latin typeface="Segoe UI Semibold"/>
              </a:rPr>
              <a:t>79% of squared error comes from 1.9% of buildings.</a:t>
            </a:r>
            <a:r>
              <a:rPr sz="940" b="0" i="0">
                <a:solidFill>
                  <a:srgbClr val="2A3540"/>
                </a:solidFill>
                <a:latin typeface="Segoe UI"/>
              </a:rPr>
              <a:t>  Under 10 m — 94% of the stock — we are at 1.4 m. Urban RMSE is 60 tall buildings dominating a squared metric.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6272784" y="1792224"/>
            <a:ext cx="5550407" cy="292608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THE TWO REAL RISKS, AND WHAT ANSWERS THEM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6272784" y="2212848"/>
            <a:ext cx="5550407" cy="365760"/>
          </a:xfrm>
          <a:prstGeom prst="roundRect">
            <a:avLst>
              <a:gd name="adj" fmla="val 125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40" name="Oval 17439"/>
          <p:cNvSpPr/>
          <p:nvPr/>
        </p:nvSpPr>
        <p:spPr>
          <a:xfrm>
            <a:off x="6391656" y="2258568"/>
            <a:ext cx="274320" cy="274320"/>
          </a:xfrm>
          <a:prstGeom prst="ellipse">
            <a:avLst/>
          </a:prstGeom>
          <a:solidFill>
            <a:srgbClr val="D89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41" name="Picture 17440" descr="triangle-ale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57492" y="2324404"/>
            <a:ext cx="142646" cy="142646"/>
          </a:xfrm>
          <a:prstGeom prst="rect">
            <a:avLst/>
          </a:prstGeom>
        </p:spPr>
      </p:pic>
      <p:sp>
        <p:nvSpPr>
          <p:cNvPr id="17442" name="TextBox 17441"/>
          <p:cNvSpPr txBox="1"/>
          <p:nvPr/>
        </p:nvSpPr>
        <p:spPr>
          <a:xfrm>
            <a:off x="6766560" y="2295144"/>
            <a:ext cx="49286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40" b="0" i="0">
                <a:solidFill>
                  <a:srgbClr val="FFFFFF"/>
                </a:solidFill>
                <a:latin typeface="Segoe UI Semibold"/>
              </a:rPr>
              <a:t>No Indian ground truth exists to validate against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6510528" y="2633472"/>
            <a:ext cx="5312664" cy="896112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44" name="Rectangle 17443"/>
          <p:cNvSpPr/>
          <p:nvPr/>
        </p:nvSpPr>
        <p:spPr>
          <a:xfrm>
            <a:off x="6510528" y="2688336"/>
            <a:ext cx="64008" cy="78638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45" name="TextBox 17444"/>
          <p:cNvSpPr txBox="1"/>
          <p:nvPr/>
        </p:nvSpPr>
        <p:spPr>
          <a:xfrm>
            <a:off x="6729984" y="2724912"/>
            <a:ext cx="4965192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40" b="0" i="0">
                <a:solidFill>
                  <a:srgbClr val="2A3540"/>
                </a:solidFill>
                <a:latin typeface="Segoe UI"/>
              </a:rPr>
              <a:t>Our only Indian check is Sikkim against Google Open Buildings: bias −6.94 m on 168 footprints. That is model-vs-model agreement, not accuracy, and we report it as such. No public Indian scene carries LiDAR truth.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6272784" y="3639312"/>
            <a:ext cx="5550407" cy="365760"/>
          </a:xfrm>
          <a:prstGeom prst="roundRect">
            <a:avLst>
              <a:gd name="adj" fmla="val 125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47" name="Oval 17446"/>
          <p:cNvSpPr/>
          <p:nvPr/>
        </p:nvSpPr>
        <p:spPr>
          <a:xfrm>
            <a:off x="6391656" y="3685031"/>
            <a:ext cx="274320" cy="274320"/>
          </a:xfrm>
          <a:prstGeom prst="ellipse">
            <a:avLst/>
          </a:prstGeom>
          <a:solidFill>
            <a:srgbClr val="D89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48" name="Picture 17447" descr="triangle-ale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57492" y="3750868"/>
            <a:ext cx="142646" cy="142646"/>
          </a:xfrm>
          <a:prstGeom prst="rect">
            <a:avLst/>
          </a:prstGeom>
        </p:spPr>
      </p:pic>
      <p:sp>
        <p:nvSpPr>
          <p:cNvPr id="17449" name="TextBox 17448"/>
          <p:cNvSpPr txBox="1"/>
          <p:nvPr/>
        </p:nvSpPr>
        <p:spPr>
          <a:xfrm>
            <a:off x="6766560" y="3721608"/>
            <a:ext cx="49286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1040" b="0" i="0">
                <a:solidFill>
                  <a:srgbClr val="FFFFFF"/>
                </a:solidFill>
                <a:latin typeface="Segoe UI Semibold"/>
              </a:rPr>
              <a:t>Tall buildings compress toward the mean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6510528" y="4059936"/>
            <a:ext cx="5312664" cy="896112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51" name="Rectangle 17450"/>
          <p:cNvSpPr/>
          <p:nvPr/>
        </p:nvSpPr>
        <p:spPr>
          <a:xfrm>
            <a:off x="6510528" y="4114800"/>
            <a:ext cx="64008" cy="78638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52" name="TextBox 17451"/>
          <p:cNvSpPr txBox="1"/>
          <p:nvPr/>
        </p:nvSpPr>
        <p:spPr>
          <a:xfrm>
            <a:off x="6729984" y="4151376"/>
            <a:ext cx="4965192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40" b="0" i="0">
                <a:solidFill>
                  <a:srgbClr val="2A3540"/>
                </a:solidFill>
                <a:latin typeface="Segoe UI"/>
              </a:rPr>
              <a:t>A data problem, not an architecture one: training tops out at 82.8 m while validation reaches 155.3 m. Answered by a power-law control-point fit that cuts tall-tile RMSE 24.9%, and structurally by adding tall-building LiDAR.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6272784" y="5138928"/>
            <a:ext cx="5550407" cy="274320"/>
          </a:xfrm>
          <a:prstGeom prst="roundRect">
            <a:avLst>
              <a:gd name="adj" fmla="val 50000"/>
            </a:avLst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WHAT REDUCES THE INDIAN-DOMAIN RISK BEFORE WE HAVE THE DATA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6327648" y="5486400"/>
            <a:ext cx="5440679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40" b="1" i="0">
                <a:solidFill>
                  <a:srgbClr val="141B22"/>
                </a:solidFill>
                <a:latin typeface="Segoe UI Semibold"/>
              </a:rPr>
              <a:t>Resolution  </a:t>
            </a:r>
            <a:r>
              <a:rPr sz="940" b="0" i="0">
                <a:solidFill>
                  <a:srgbClr val="2A3540"/>
                </a:solidFill>
                <a:latin typeface="Segoe UI"/>
              </a:rPr>
              <a:t>auto-zoom normalises GSD; measured to recover all but 3.6%.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40" b="1" i="0">
                <a:solidFill>
                  <a:srgbClr val="141B22"/>
                </a:solidFill>
                <a:latin typeface="Segoe UI Semibold"/>
              </a:rPr>
              <a:t>Look angle  </a:t>
            </a:r>
            <a:r>
              <a:rPr sz="940" b="0" i="0">
                <a:solidFill>
                  <a:srgbClr val="2A3540"/>
                </a:solidFill>
                <a:latin typeface="Segoe UI"/>
              </a:rPr>
              <a:t>off-nadir spans 4.8 to 28.9 degrees in DFC, so degradation is measurable on data we hold.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40" b="1" i="0">
                <a:solidFill>
                  <a:srgbClr val="141B22"/>
                </a:solidFill>
                <a:latin typeface="Segoe UI Semibold"/>
              </a:rPr>
              <a:t>Terrain  </a:t>
            </a:r>
            <a:r>
              <a:rPr sz="940" b="0" i="0">
                <a:solidFill>
                  <a:srgbClr val="2A3540"/>
                </a:solidFill>
                <a:latin typeface="Segoe UI"/>
              </a:rPr>
              <a:t>leakage ruled out — on 31-degree slopes, height-vs-slope correlation is −0.044.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40" b="1" i="0">
                <a:solidFill>
                  <a:srgbClr val="141B22"/>
                </a:solidFill>
                <a:latin typeface="Segoe UI Semibold"/>
              </a:rPr>
              <a:t>Licensing  </a:t>
            </a:r>
            <a:r>
              <a:rPr sz="940" b="0" i="0">
                <a:solidFill>
                  <a:srgbClr val="2A3540"/>
                </a:solidFill>
                <a:latin typeface="Segoe UI"/>
              </a:rPr>
              <a:t>every dependency is free and open, so nothing blocks deployment on ISRO imagery.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01968"/>
            <a:ext cx="12191999" cy="256032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601968"/>
            <a:ext cx="2844800" cy="256032"/>
          </a:xfrm>
        </p:spPr>
        <p:txBody>
          <a:bodyPr anchor="ctr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 Up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15568"/>
            <a:ext cx="5897880" cy="310896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Franklin Gothic Demi Cond"/>
              </a:rPr>
              <a:t>WHO IT SERVES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517904"/>
            <a:ext cx="5897880" cy="4261104"/>
          </a:xfrm>
          <a:prstGeom prst="roundRect">
            <a:avLst>
              <a:gd name="adj" fmla="val 2145"/>
            </a:avLst>
          </a:prstGeom>
          <a:solidFill>
            <a:srgbClr val="F7FAFC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cxnSp>
        <p:nvCxnSpPr>
          <p:cNvPr id="17412" name="Connector 17411"/>
          <p:cNvCxnSpPr/>
          <p:nvPr/>
        </p:nvCxnSpPr>
        <p:spPr>
          <a:xfrm flipH="1" flipV="1">
            <a:off x="1911095" y="2103120"/>
            <a:ext cx="1403605" cy="1060704"/>
          </a:xfrm>
          <a:prstGeom prst="line">
            <a:avLst/>
          </a:prstGeom>
          <a:ln w="12700">
            <a:solidFill>
              <a:srgbClr val="7FB0C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3" name="Connector 17412"/>
          <p:cNvCxnSpPr/>
          <p:nvPr/>
        </p:nvCxnSpPr>
        <p:spPr>
          <a:xfrm flipV="1">
            <a:off x="3314700" y="2103120"/>
            <a:ext cx="1403604" cy="1060704"/>
          </a:xfrm>
          <a:prstGeom prst="line">
            <a:avLst/>
          </a:prstGeom>
          <a:ln w="12700">
            <a:solidFill>
              <a:srgbClr val="7FB0C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4" name="Connector 17413"/>
          <p:cNvCxnSpPr/>
          <p:nvPr/>
        </p:nvCxnSpPr>
        <p:spPr>
          <a:xfrm flipH="1">
            <a:off x="1911095" y="3163824"/>
            <a:ext cx="1403605" cy="1042416"/>
          </a:xfrm>
          <a:prstGeom prst="line">
            <a:avLst/>
          </a:prstGeom>
          <a:ln w="12700">
            <a:solidFill>
              <a:srgbClr val="7FB0C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5" name="Connector 17414"/>
          <p:cNvCxnSpPr/>
          <p:nvPr/>
        </p:nvCxnSpPr>
        <p:spPr>
          <a:xfrm>
            <a:off x="3314700" y="3163824"/>
            <a:ext cx="1403604" cy="1042416"/>
          </a:xfrm>
          <a:prstGeom prst="line">
            <a:avLst/>
          </a:prstGeom>
          <a:ln w="12700">
            <a:solidFill>
              <a:srgbClr val="7FB0C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6" name="Connector 17415"/>
          <p:cNvCxnSpPr/>
          <p:nvPr/>
        </p:nvCxnSpPr>
        <p:spPr>
          <a:xfrm flipH="1">
            <a:off x="3310128" y="3163824"/>
            <a:ext cx="4572" cy="2048256"/>
          </a:xfrm>
          <a:prstGeom prst="line">
            <a:avLst/>
          </a:prstGeom>
          <a:ln w="12700">
            <a:solidFill>
              <a:srgbClr val="7FB0C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7" name="Rounded Rectangle 17416"/>
          <p:cNvSpPr/>
          <p:nvPr/>
        </p:nvSpPr>
        <p:spPr>
          <a:xfrm>
            <a:off x="640080" y="1645920"/>
            <a:ext cx="254203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18" name="Rounded Rectangle 17417"/>
          <p:cNvSpPr/>
          <p:nvPr/>
        </p:nvSpPr>
        <p:spPr>
          <a:xfrm>
            <a:off x="640080" y="1645920"/>
            <a:ext cx="2542032" cy="274320"/>
          </a:xfrm>
          <a:prstGeom prst="roundRect">
            <a:avLst>
              <a:gd name="adj" fmla="val 16666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2336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20" b="0" i="0">
                <a:solidFill>
                  <a:srgbClr val="FFFFFF"/>
                </a:solidFill>
                <a:latin typeface="Franklin Gothic Demi Cond"/>
              </a:rPr>
              <a:t>ISRO AND SAC</a:t>
            </a:r>
          </a:p>
        </p:txBody>
      </p:sp>
      <p:sp>
        <p:nvSpPr>
          <p:cNvPr id="17419" name="Oval 17418"/>
          <p:cNvSpPr/>
          <p:nvPr/>
        </p:nvSpPr>
        <p:spPr>
          <a:xfrm>
            <a:off x="667511" y="1627632"/>
            <a:ext cx="310896" cy="310896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20" name="Picture 17419" descr="satell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127" y="1702247"/>
            <a:ext cx="161665" cy="161665"/>
          </a:xfrm>
          <a:prstGeom prst="rect">
            <a:avLst/>
          </a:prstGeom>
        </p:spPr>
      </p:pic>
      <p:sp>
        <p:nvSpPr>
          <p:cNvPr id="17421" name="TextBox 17420"/>
          <p:cNvSpPr txBox="1"/>
          <p:nvPr/>
        </p:nvSpPr>
        <p:spPr>
          <a:xfrm>
            <a:off x="749808" y="2011680"/>
            <a:ext cx="232257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 b="0" i="0">
                <a:solidFill>
                  <a:srgbClr val="2A3540"/>
                </a:solidFill>
                <a:latin typeface="Segoe UI"/>
              </a:rPr>
              <a:t>Height from single-view Cartosat archives, no new acquisition.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3447288" y="1645920"/>
            <a:ext cx="254203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23" name="Rounded Rectangle 17422"/>
          <p:cNvSpPr/>
          <p:nvPr/>
        </p:nvSpPr>
        <p:spPr>
          <a:xfrm>
            <a:off x="3447288" y="1645920"/>
            <a:ext cx="2542032" cy="274320"/>
          </a:xfrm>
          <a:prstGeom prst="roundRect">
            <a:avLst>
              <a:gd name="adj" fmla="val 16666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2336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20" b="0" i="0">
                <a:solidFill>
                  <a:srgbClr val="FFFFFF"/>
                </a:solidFill>
                <a:latin typeface="Franklin Gothic Demi Cond"/>
              </a:rPr>
              <a:t>URBAN PLANNING</a:t>
            </a:r>
          </a:p>
        </p:txBody>
      </p:sp>
      <p:sp>
        <p:nvSpPr>
          <p:cNvPr id="17424" name="Oval 17423"/>
          <p:cNvSpPr/>
          <p:nvPr/>
        </p:nvSpPr>
        <p:spPr>
          <a:xfrm>
            <a:off x="3474720" y="1627632"/>
            <a:ext cx="310896" cy="310896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25" name="Picture 17424" descr="building-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9335" y="1702247"/>
            <a:ext cx="161665" cy="161665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3557016" y="2011680"/>
            <a:ext cx="232257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 b="0" i="0">
                <a:solidFill>
                  <a:srgbClr val="2A3540"/>
                </a:solidFill>
                <a:latin typeface="Segoe UI"/>
              </a:rPr>
              <a:t>Building heights for FSI checks and shadow studies under AMRUT.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640080" y="3749039"/>
            <a:ext cx="254203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28" name="Rounded Rectangle 17427"/>
          <p:cNvSpPr/>
          <p:nvPr/>
        </p:nvSpPr>
        <p:spPr>
          <a:xfrm>
            <a:off x="640080" y="3749039"/>
            <a:ext cx="2542032" cy="274320"/>
          </a:xfrm>
          <a:prstGeom prst="roundRect">
            <a:avLst>
              <a:gd name="adj" fmla="val 16666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2336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20" b="0" i="0">
                <a:solidFill>
                  <a:srgbClr val="FFFFFF"/>
                </a:solidFill>
                <a:latin typeface="Franklin Gothic Demi Cond"/>
              </a:rPr>
              <a:t>DISASTER RESPONSE</a:t>
            </a:r>
          </a:p>
        </p:txBody>
      </p:sp>
      <p:sp>
        <p:nvSpPr>
          <p:cNvPr id="17429" name="Oval 17428"/>
          <p:cNvSpPr/>
          <p:nvPr/>
        </p:nvSpPr>
        <p:spPr>
          <a:xfrm>
            <a:off x="667511" y="3730752"/>
            <a:ext cx="310896" cy="310896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30" name="Picture 17429" descr="sir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127" y="3805367"/>
            <a:ext cx="161665" cy="161665"/>
          </a:xfrm>
          <a:prstGeom prst="rect">
            <a:avLst/>
          </a:prstGeom>
        </p:spPr>
      </p:pic>
      <p:sp>
        <p:nvSpPr>
          <p:cNvPr id="17431" name="TextBox 17430"/>
          <p:cNvSpPr txBox="1"/>
          <p:nvPr/>
        </p:nvSpPr>
        <p:spPr>
          <a:xfrm>
            <a:off x="749808" y="4114800"/>
            <a:ext cx="232257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 b="0" i="0">
                <a:solidFill>
                  <a:srgbClr val="2A3540"/>
                </a:solidFill>
                <a:latin typeface="Segoe UI"/>
              </a:rPr>
              <a:t>Post-event surface models where a stereo pair cannot be waited for.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3447288" y="3749039"/>
            <a:ext cx="254203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33" name="Rounded Rectangle 17432"/>
          <p:cNvSpPr/>
          <p:nvPr/>
        </p:nvSpPr>
        <p:spPr>
          <a:xfrm>
            <a:off x="3447288" y="3749039"/>
            <a:ext cx="2542032" cy="274320"/>
          </a:xfrm>
          <a:prstGeom prst="roundRect">
            <a:avLst>
              <a:gd name="adj" fmla="val 16666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2336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20" b="0" i="0">
                <a:solidFill>
                  <a:srgbClr val="FFFFFF"/>
                </a:solidFill>
                <a:latin typeface="Franklin Gothic Demi Cond"/>
              </a:rPr>
              <a:t>FORESTRY</a:t>
            </a:r>
          </a:p>
        </p:txBody>
      </p:sp>
      <p:sp>
        <p:nvSpPr>
          <p:cNvPr id="17434" name="Oval 17433"/>
          <p:cNvSpPr/>
          <p:nvPr/>
        </p:nvSpPr>
        <p:spPr>
          <a:xfrm>
            <a:off x="3474720" y="3730752"/>
            <a:ext cx="310896" cy="310896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35" name="Picture 17434" descr="lea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9335" y="3805367"/>
            <a:ext cx="161665" cy="161665"/>
          </a:xfrm>
          <a:prstGeom prst="rect">
            <a:avLst/>
          </a:prstGeom>
        </p:spPr>
      </p:pic>
      <p:sp>
        <p:nvSpPr>
          <p:cNvPr id="17436" name="TextBox 17435"/>
          <p:cNvSpPr txBox="1"/>
          <p:nvPr/>
        </p:nvSpPr>
        <p:spPr>
          <a:xfrm>
            <a:off x="3557016" y="4114800"/>
            <a:ext cx="232257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 b="0" i="0">
                <a:solidFill>
                  <a:srgbClr val="2A3540"/>
                </a:solidFill>
                <a:latin typeface="Segoe UI"/>
              </a:rPr>
              <a:t>Canopy height proxies for biomass and encroachment monitoring.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2039112" y="4754880"/>
            <a:ext cx="254203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38" name="Rounded Rectangle 17437"/>
          <p:cNvSpPr/>
          <p:nvPr/>
        </p:nvSpPr>
        <p:spPr>
          <a:xfrm>
            <a:off x="2039112" y="4754880"/>
            <a:ext cx="2542032" cy="274320"/>
          </a:xfrm>
          <a:prstGeom prst="roundRect">
            <a:avLst>
              <a:gd name="adj" fmla="val 16666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2336" rIns="54864" t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20" b="0" i="0">
                <a:solidFill>
                  <a:srgbClr val="FFFFFF"/>
                </a:solidFill>
                <a:latin typeface="Franklin Gothic Demi Cond"/>
              </a:rPr>
              <a:t>TELECOM ROLLOUT</a:t>
            </a:r>
          </a:p>
        </p:txBody>
      </p:sp>
      <p:sp>
        <p:nvSpPr>
          <p:cNvPr id="17439" name="Oval 17438"/>
          <p:cNvSpPr/>
          <p:nvPr/>
        </p:nvSpPr>
        <p:spPr>
          <a:xfrm>
            <a:off x="2066544" y="4736592"/>
            <a:ext cx="310896" cy="310896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40" name="Picture 17439" descr="radio-tow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41159" y="4811207"/>
            <a:ext cx="161665" cy="161665"/>
          </a:xfrm>
          <a:prstGeom prst="rect">
            <a:avLst/>
          </a:prstGeom>
        </p:spPr>
      </p:pic>
      <p:sp>
        <p:nvSpPr>
          <p:cNvPr id="17441" name="TextBox 17440"/>
          <p:cNvSpPr txBox="1"/>
          <p:nvPr/>
        </p:nvSpPr>
        <p:spPr>
          <a:xfrm>
            <a:off x="2148840" y="5120640"/>
            <a:ext cx="232257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 b="0" i="0">
                <a:solidFill>
                  <a:srgbClr val="2A3540"/>
                </a:solidFill>
                <a:latin typeface="Segoe UI"/>
              </a:rPr>
              <a:t>Line-of-sight and tower siting without a costly LiDAR survey.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2747772" y="2596896"/>
            <a:ext cx="1133856" cy="1133856"/>
          </a:xfrm>
          <a:prstGeom prst="roundRect">
            <a:avLst>
              <a:gd name="adj" fmla="val 50000"/>
            </a:avLst>
          </a:prstGeom>
          <a:solidFill>
            <a:srgbClr val="7FB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43" name="Rounded Rectangle 17442"/>
          <p:cNvSpPr/>
          <p:nvPr/>
        </p:nvSpPr>
        <p:spPr>
          <a:xfrm>
            <a:off x="2830068" y="2679191"/>
            <a:ext cx="969264" cy="969264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44" name="TextBox 17443"/>
          <p:cNvSpPr txBox="1"/>
          <p:nvPr/>
        </p:nvSpPr>
        <p:spPr>
          <a:xfrm>
            <a:off x="2830068" y="2926080"/>
            <a:ext cx="969264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Franklin Gothic Demi"/>
              </a:rPr>
              <a:t>DEPTH
</a:t>
            </a:r>
            <a:r>
              <a:rPr sz="1250" b="0" i="0">
                <a:solidFill>
                  <a:srgbClr val="D89E3C"/>
                </a:solidFill>
                <a:latin typeface="Franklin Gothic Demi"/>
              </a:rPr>
              <a:t>WIZARD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6492240" y="1115568"/>
            <a:ext cx="5330952" cy="310896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Franklin Gothic Demi Cond"/>
              </a:rPr>
              <a:t>KEY BENEFITS</a:t>
            </a:r>
          </a:p>
        </p:txBody>
      </p:sp>
      <p:sp>
        <p:nvSpPr>
          <p:cNvPr id="17446" name="Pentagon 17445"/>
          <p:cNvSpPr/>
          <p:nvPr/>
        </p:nvSpPr>
        <p:spPr>
          <a:xfrm>
            <a:off x="6492240" y="1554480"/>
            <a:ext cx="5330952" cy="649224"/>
          </a:xfrm>
          <a:prstGeom prst="homePlate">
            <a:avLst>
              <a:gd name="adj" fmla="val 8524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93776" rIns="310896" tIns="0" bIns="0"/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90" b="0" i="0">
                <a:solidFill>
                  <a:srgbClr val="FFFFFF"/>
                </a:solidFill>
                <a:latin typeface="Segoe UI"/>
              </a:rPr>
              <a:t>One image replaces a stereo pair — no revisit wait.</a:t>
            </a:r>
          </a:p>
        </p:txBody>
      </p:sp>
      <p:sp>
        <p:nvSpPr>
          <p:cNvPr id="17447" name="Oval 17446"/>
          <p:cNvSpPr/>
          <p:nvPr/>
        </p:nvSpPr>
        <p:spPr>
          <a:xfrm>
            <a:off x="6571792" y="1684324"/>
            <a:ext cx="389534" cy="389534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48" name="Picture 17447" descr="image-u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5281" y="1777813"/>
            <a:ext cx="202557" cy="202557"/>
          </a:xfrm>
          <a:prstGeom prst="rect">
            <a:avLst/>
          </a:prstGeom>
        </p:spPr>
      </p:pic>
      <p:sp>
        <p:nvSpPr>
          <p:cNvPr id="17449" name="Pentagon 17448"/>
          <p:cNvSpPr/>
          <p:nvPr/>
        </p:nvSpPr>
        <p:spPr>
          <a:xfrm>
            <a:off x="6492240" y="2276856"/>
            <a:ext cx="5330952" cy="649224"/>
          </a:xfrm>
          <a:prstGeom prst="homePlate">
            <a:avLst>
              <a:gd name="adj" fmla="val 8524"/>
            </a:avLst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93776" rIns="310896" tIns="0" bIns="0"/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90" b="0" i="0">
                <a:solidFill>
                  <a:srgbClr val="FFFFFF"/>
                </a:solidFill>
                <a:latin typeface="Segoe UI"/>
              </a:rPr>
              <a:t>No GPU procurement: 36.8 MB runs on a field laptop.</a:t>
            </a:r>
          </a:p>
        </p:txBody>
      </p:sp>
      <p:sp>
        <p:nvSpPr>
          <p:cNvPr id="17450" name="Oval 17449"/>
          <p:cNvSpPr/>
          <p:nvPr/>
        </p:nvSpPr>
        <p:spPr>
          <a:xfrm>
            <a:off x="6571792" y="2406700"/>
            <a:ext cx="389534" cy="389534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51" name="Picture 17450" descr="cpu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65281" y="2500189"/>
            <a:ext cx="202557" cy="202557"/>
          </a:xfrm>
          <a:prstGeom prst="rect">
            <a:avLst/>
          </a:prstGeom>
        </p:spPr>
      </p:pic>
      <p:sp>
        <p:nvSpPr>
          <p:cNvPr id="17452" name="Pentagon 17451"/>
          <p:cNvSpPr/>
          <p:nvPr/>
        </p:nvSpPr>
        <p:spPr>
          <a:xfrm>
            <a:off x="6492240" y="2999232"/>
            <a:ext cx="5330952" cy="649224"/>
          </a:xfrm>
          <a:prstGeom prst="homePlate">
            <a:avLst>
              <a:gd name="adj" fmla="val 8524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93776" rIns="310896" tIns="0" bIns="0"/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90" b="0" i="0">
                <a:solidFill>
                  <a:srgbClr val="FFFFFF"/>
                </a:solidFill>
                <a:latin typeface="Segoe UI"/>
              </a:rPr>
              <a:t>Decades of existing archive gain a new product.</a:t>
            </a:r>
          </a:p>
        </p:txBody>
      </p:sp>
      <p:sp>
        <p:nvSpPr>
          <p:cNvPr id="17453" name="Oval 17452"/>
          <p:cNvSpPr/>
          <p:nvPr/>
        </p:nvSpPr>
        <p:spPr>
          <a:xfrm>
            <a:off x="6571792" y="3129076"/>
            <a:ext cx="389534" cy="389534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54" name="Picture 17453" descr="layer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65281" y="3222565"/>
            <a:ext cx="202557" cy="202557"/>
          </a:xfrm>
          <a:prstGeom prst="rect">
            <a:avLst/>
          </a:prstGeom>
        </p:spPr>
      </p:pic>
      <p:sp>
        <p:nvSpPr>
          <p:cNvPr id="17455" name="Pentagon 17454"/>
          <p:cNvSpPr/>
          <p:nvPr/>
        </p:nvSpPr>
        <p:spPr>
          <a:xfrm>
            <a:off x="6492240" y="3721608"/>
            <a:ext cx="5330952" cy="649224"/>
          </a:xfrm>
          <a:prstGeom prst="homePlate">
            <a:avLst>
              <a:gd name="adj" fmla="val 8524"/>
            </a:avLst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93776" rIns="310896" tIns="0" bIns="0"/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90" b="0" i="0">
                <a:solidFill>
                  <a:srgbClr val="FFFFFF"/>
                </a:solidFill>
                <a:latin typeface="Segoe UI"/>
              </a:rPr>
              <a:t>Municipal bodies get heights with no survey budget.</a:t>
            </a:r>
          </a:p>
        </p:txBody>
      </p:sp>
      <p:sp>
        <p:nvSpPr>
          <p:cNvPr id="17456" name="Oval 17455"/>
          <p:cNvSpPr/>
          <p:nvPr/>
        </p:nvSpPr>
        <p:spPr>
          <a:xfrm>
            <a:off x="6571792" y="3851452"/>
            <a:ext cx="389534" cy="389534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57" name="Picture 17456" descr="building-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281" y="3944941"/>
            <a:ext cx="202557" cy="202557"/>
          </a:xfrm>
          <a:prstGeom prst="rect">
            <a:avLst/>
          </a:prstGeom>
        </p:spPr>
      </p:pic>
      <p:sp>
        <p:nvSpPr>
          <p:cNvPr id="17458" name="Pentagon 17457"/>
          <p:cNvSpPr/>
          <p:nvPr/>
        </p:nvSpPr>
        <p:spPr>
          <a:xfrm>
            <a:off x="6492240" y="4443984"/>
            <a:ext cx="5330952" cy="649224"/>
          </a:xfrm>
          <a:prstGeom prst="homePlate">
            <a:avLst>
              <a:gd name="adj" fmla="val 8524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93776" rIns="310896" tIns="0" bIns="0"/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90" b="0" i="0">
                <a:solidFill>
                  <a:srgbClr val="FFFFFF"/>
                </a:solidFill>
                <a:latin typeface="Segoe UI"/>
              </a:rPr>
              <a:t>Disaster teams get a surface model in minutes.</a:t>
            </a:r>
          </a:p>
        </p:txBody>
      </p:sp>
      <p:sp>
        <p:nvSpPr>
          <p:cNvPr id="17459" name="Oval 17458"/>
          <p:cNvSpPr/>
          <p:nvPr/>
        </p:nvSpPr>
        <p:spPr>
          <a:xfrm>
            <a:off x="6571792" y="4573828"/>
            <a:ext cx="389534" cy="389534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60" name="Picture 17459" descr="sir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281" y="4667317"/>
            <a:ext cx="202557" cy="202557"/>
          </a:xfrm>
          <a:prstGeom prst="rect">
            <a:avLst/>
          </a:prstGeom>
        </p:spPr>
      </p:pic>
      <p:sp>
        <p:nvSpPr>
          <p:cNvPr id="17461" name="Pentagon 17460"/>
          <p:cNvSpPr/>
          <p:nvPr/>
        </p:nvSpPr>
        <p:spPr>
          <a:xfrm>
            <a:off x="6492240" y="5166360"/>
            <a:ext cx="5330952" cy="649224"/>
          </a:xfrm>
          <a:prstGeom prst="homePlate">
            <a:avLst>
              <a:gd name="adj" fmla="val 8524"/>
            </a:avLst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93776" rIns="310896" tIns="0" bIns="0"/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90" b="0" i="0">
                <a:solidFill>
                  <a:srgbClr val="FFFFFF"/>
                </a:solidFill>
                <a:latin typeface="Segoe UI"/>
              </a:rPr>
              <a:t>Free and open — adoptable by any state agency.</a:t>
            </a:r>
          </a:p>
        </p:txBody>
      </p:sp>
      <p:sp>
        <p:nvSpPr>
          <p:cNvPr id="17462" name="Oval 17461"/>
          <p:cNvSpPr/>
          <p:nvPr/>
        </p:nvSpPr>
        <p:spPr>
          <a:xfrm>
            <a:off x="6571792" y="5296204"/>
            <a:ext cx="389534" cy="389534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63" name="Picture 17462" descr="indian-rupe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65281" y="5389693"/>
            <a:ext cx="202557" cy="202557"/>
          </a:xfrm>
          <a:prstGeom prst="rect">
            <a:avLst/>
          </a:prstGeom>
        </p:spPr>
      </p:pic>
      <p:sp>
        <p:nvSpPr>
          <p:cNvPr id="17464" name="Rounded Rectangle 17463"/>
          <p:cNvSpPr/>
          <p:nvPr/>
        </p:nvSpPr>
        <p:spPr>
          <a:xfrm>
            <a:off x="365760" y="5852160"/>
            <a:ext cx="2782062" cy="694944"/>
          </a:xfrm>
          <a:prstGeom prst="roundRect">
            <a:avLst>
              <a:gd name="adj" fmla="val 9210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65" name="TextBox 17464"/>
          <p:cNvSpPr txBox="1"/>
          <p:nvPr/>
        </p:nvSpPr>
        <p:spPr>
          <a:xfrm>
            <a:off x="512064" y="5934456"/>
            <a:ext cx="252603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400" b="0" i="0">
                <a:solidFill>
                  <a:srgbClr val="C1440E"/>
                </a:solidFill>
                <a:latin typeface="Franklin Gothic Demi"/>
              </a:rPr>
              <a:t>1</a:t>
            </a:r>
            <a:r>
              <a:rPr sz="1100" b="0" i="0">
                <a:solidFill>
                  <a:srgbClr val="C1440E"/>
                </a:solidFill>
                <a:latin typeface="Franklin Gothic Demi"/>
              </a:rPr>
              <a:t> image</a:t>
            </a:r>
          </a:p>
        </p:txBody>
      </p:sp>
      <p:sp>
        <p:nvSpPr>
          <p:cNvPr id="17466" name="TextBox 17465"/>
          <p:cNvSpPr txBox="1"/>
          <p:nvPr/>
        </p:nvSpPr>
        <p:spPr>
          <a:xfrm>
            <a:off x="512064" y="6272784"/>
            <a:ext cx="252603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55636E"/>
                </a:solidFill>
                <a:latin typeface="Segoe UI"/>
              </a:rPr>
              <a:t>input needed, not a stereo pair</a:t>
            </a:r>
          </a:p>
        </p:txBody>
      </p:sp>
      <p:sp>
        <p:nvSpPr>
          <p:cNvPr id="17467" name="Rounded Rectangle 17466"/>
          <p:cNvSpPr/>
          <p:nvPr/>
        </p:nvSpPr>
        <p:spPr>
          <a:xfrm>
            <a:off x="3257550" y="5852160"/>
            <a:ext cx="2782062" cy="694944"/>
          </a:xfrm>
          <a:prstGeom prst="roundRect">
            <a:avLst>
              <a:gd name="adj" fmla="val 9210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68" name="TextBox 17467"/>
          <p:cNvSpPr txBox="1"/>
          <p:nvPr/>
        </p:nvSpPr>
        <p:spPr>
          <a:xfrm>
            <a:off x="3403854" y="5934456"/>
            <a:ext cx="252603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400" b="0" i="0">
                <a:solidFill>
                  <a:srgbClr val="C1440E"/>
                </a:solidFill>
                <a:latin typeface="Franklin Gothic Demi"/>
              </a:rPr>
              <a:t>0</a:t>
            </a:r>
            <a:r>
              <a:rPr sz="1100" b="0" i="0">
                <a:solidFill>
                  <a:srgbClr val="C1440E"/>
                </a:solidFill>
                <a:latin typeface="Franklin Gothic Demi"/>
              </a:rPr>
              <a:t> GPUs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3403854" y="6272784"/>
            <a:ext cx="252603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55636E"/>
                </a:solidFill>
                <a:latin typeface="Segoe UI"/>
              </a:rPr>
              <a:t>509 ms per tile on a laptop CPU</a:t>
            </a:r>
          </a:p>
        </p:txBody>
      </p:sp>
      <p:sp>
        <p:nvSpPr>
          <p:cNvPr id="17470" name="Rounded Rectangle 17469"/>
          <p:cNvSpPr/>
          <p:nvPr/>
        </p:nvSpPr>
        <p:spPr>
          <a:xfrm>
            <a:off x="6149340" y="5852160"/>
            <a:ext cx="2782062" cy="694944"/>
          </a:xfrm>
          <a:prstGeom prst="roundRect">
            <a:avLst>
              <a:gd name="adj" fmla="val 9210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71" name="TextBox 17470"/>
          <p:cNvSpPr txBox="1"/>
          <p:nvPr/>
        </p:nvSpPr>
        <p:spPr>
          <a:xfrm>
            <a:off x="6295644" y="5934456"/>
            <a:ext cx="252603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400" b="0" i="0">
                <a:solidFill>
                  <a:srgbClr val="C1440E"/>
                </a:solidFill>
                <a:latin typeface="Franklin Gothic Demi"/>
              </a:rPr>
              <a:t>36.8</a:t>
            </a:r>
            <a:r>
              <a:rPr sz="1100" b="0" i="0">
                <a:solidFill>
                  <a:srgbClr val="C1440E"/>
                </a:solidFill>
                <a:latin typeface="Franklin Gothic Demi"/>
              </a:rPr>
              <a:t> MB</a:t>
            </a:r>
          </a:p>
        </p:txBody>
      </p:sp>
      <p:sp>
        <p:nvSpPr>
          <p:cNvPr id="17472" name="TextBox 17471"/>
          <p:cNvSpPr txBox="1"/>
          <p:nvPr/>
        </p:nvSpPr>
        <p:spPr>
          <a:xfrm>
            <a:off x="6295644" y="6272784"/>
            <a:ext cx="252603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55636E"/>
                </a:solidFill>
                <a:latin typeface="Segoe UI"/>
              </a:rPr>
              <a:t>the whole model, quantised, offline</a:t>
            </a:r>
          </a:p>
        </p:txBody>
      </p:sp>
      <p:sp>
        <p:nvSpPr>
          <p:cNvPr id="17473" name="Rounded Rectangle 17472"/>
          <p:cNvSpPr/>
          <p:nvPr/>
        </p:nvSpPr>
        <p:spPr>
          <a:xfrm>
            <a:off x="9041130" y="5852160"/>
            <a:ext cx="2782062" cy="694944"/>
          </a:xfrm>
          <a:prstGeom prst="roundRect">
            <a:avLst>
              <a:gd name="adj" fmla="val 9210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74" name="TextBox 17473"/>
          <p:cNvSpPr txBox="1"/>
          <p:nvPr/>
        </p:nvSpPr>
        <p:spPr>
          <a:xfrm>
            <a:off x="9187434" y="5934456"/>
            <a:ext cx="252603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400" b="0" i="0">
                <a:solidFill>
                  <a:srgbClr val="C1440E"/>
                </a:solidFill>
                <a:latin typeface="Franklin Gothic Demi"/>
              </a:rPr>
              <a:t>4</a:t>
            </a:r>
            <a:r>
              <a:rPr sz="1100" b="0" i="0">
                <a:solidFill>
                  <a:srgbClr val="C1440E"/>
                </a:solidFill>
                <a:latin typeface="Franklin Gothic Demi"/>
              </a:rPr>
              <a:t> terrains</a:t>
            </a:r>
          </a:p>
        </p:txBody>
      </p:sp>
      <p:sp>
        <p:nvSpPr>
          <p:cNvPr id="17475" name="TextBox 17474"/>
          <p:cNvSpPr txBox="1"/>
          <p:nvPr/>
        </p:nvSpPr>
        <p:spPr>
          <a:xfrm>
            <a:off x="9187434" y="6272784"/>
            <a:ext cx="252603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 b="0" i="0">
                <a:solidFill>
                  <a:srgbClr val="55636E"/>
                </a:solidFill>
                <a:latin typeface="Segoe UI"/>
              </a:rPr>
              <a:t>scored separately, never averaged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01968"/>
            <a:ext cx="12191999" cy="256032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601968"/>
            <a:ext cx="2844800" cy="256032"/>
          </a:xfrm>
        </p:spPr>
        <p:txBody>
          <a:bodyPr anchor="ctr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 Up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15568"/>
            <a:ext cx="3639312" cy="274320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RESEARCH THAT CHANGED WHAT WE BUILT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481328"/>
            <a:ext cx="3639312" cy="22860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12" name="TextBox 17411"/>
          <p:cNvSpPr txBox="1"/>
          <p:nvPr/>
        </p:nvSpPr>
        <p:spPr>
          <a:xfrm>
            <a:off x="475488" y="1536192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141B22"/>
                </a:solidFill>
                <a:latin typeface="Segoe UI Semibold"/>
              </a:rPr>
              <a:t>Depth Anything V2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Yang et al., NeurIPS 2024. The backbone we fine-tune.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75488" y="1975104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141B22"/>
                </a:solidFill>
                <a:latin typeface="Segoe UI Semibold"/>
              </a:rPr>
              <a:t>HTC-DC Net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Chen et al., TGRS 2023. Head-tail cut, distribution constraints.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75488" y="2414016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141B22"/>
                </a:solidFill>
                <a:latin typeface="Segoe UI Semibold"/>
              </a:rPr>
              <a:t>Depth Any Canopy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Ouaknine et al., 2024. The recipe for aerial height.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75488" y="2852928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141B22"/>
                </a:solidFill>
                <a:latin typeface="Segoe UI Semibold"/>
              </a:rPr>
              <a:t>Beta-NLL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Seitzer et al., ICLR 2022. Keeps the mean head learning.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75488" y="3291840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141B22"/>
                </a:solidFill>
                <a:latin typeface="Segoe UI Semibold"/>
              </a:rPr>
              <a:t>IM2HEIGHT, TSE-Net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Prior single-view height — our baseline for the field.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65760" y="3913632"/>
            <a:ext cx="3639312" cy="274320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DATA AND REFERENCE SURFACES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65760" y="4279392"/>
            <a:ext cx="3639312" cy="22860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475488" y="4334255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141B22"/>
                </a:solidFill>
                <a:latin typeface="Segoe UI Semibold"/>
              </a:rPr>
              <a:t>DFC2019 Track 1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US3D at 0.3 m GSD with airborne LiDAR truth.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475488" y="4773167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141B22"/>
                </a:solidFill>
                <a:latin typeface="Segoe UI Semibold"/>
              </a:rPr>
              <a:t>Copernicus GLO-30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Free 30 m global DEM; the absolute metric anchor.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475488" y="5212079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141B22"/>
                </a:solidFill>
                <a:latin typeface="Segoe UI Semibold"/>
              </a:rPr>
              <a:t>GlobalBuildingAtlas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Published 5.9 m RMSE over Asia — the external bar.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475488" y="5650992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141B22"/>
                </a:solidFill>
                <a:latin typeface="Segoe UI Semibold"/>
              </a:rPr>
              <a:t>ISRO Bhoonidhi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Registered. CartoDEM 30 m and LISS-4 are the free tiers.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475488" y="6089903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141B22"/>
                </a:solidFill>
                <a:latin typeface="Segoe UI Semibold"/>
              </a:rPr>
              <a:t>Google Open Buildings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A cross-check over India, never used as truth.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4206240" y="1115568"/>
            <a:ext cx="3639312" cy="274320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TRIED, MEASURED, REJECTED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4206240" y="1481328"/>
            <a:ext cx="3639312" cy="22860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26" name="TextBox 17425"/>
          <p:cNvSpPr txBox="1"/>
          <p:nvPr/>
        </p:nvSpPr>
        <p:spPr>
          <a:xfrm>
            <a:off x="4315968" y="1536192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141B22"/>
                </a:solidFill>
                <a:latin typeface="Segoe UI Semibold"/>
              </a:rPr>
              <a:t>Ordinal / binned head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All heads land at a 0.43–0.49 slope. No gain.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4315968" y="1975104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141B22"/>
                </a:solidFill>
                <a:latin typeface="Segoe UI Semibold"/>
              </a:rPr>
              <a:t>Shadow photogrammetry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Oracle shadows reach r 0.503; the net reaches 0.787.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4315968" y="2414016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141B22"/>
                </a:solidFill>
                <a:latin typeface="Segoe UI Semibold"/>
              </a:rPr>
              <a:t>LDS tail reweighting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Pixels above 20 m are 7.5% but carry 78.8% of error.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4315968" y="2852928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141B22"/>
                </a:solidFill>
                <a:latin typeface="Segoe UI Semibold"/>
              </a:rPr>
              <a:t>Two-model ensemble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Error correlation 0.925 — averaging buys nothing.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4315968" y="3291840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141B22"/>
                </a:solidFill>
                <a:latin typeface="Segoe UI Semibold"/>
              </a:rPr>
              <a:t>Global de-compression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A rescale moves error, it does not remove it.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4206240" y="3913632"/>
            <a:ext cx="3639312" cy="274320"/>
          </a:xfrm>
          <a:prstGeom prst="roundRect">
            <a:avLst>
              <a:gd name="adj" fmla="val 50000"/>
            </a:avLst>
          </a:prstGeom>
          <a:solidFill>
            <a:srgbClr val="2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PROBES WE RAN, AND WHAT EACH CLOSED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4206240" y="4279392"/>
            <a:ext cx="3639312" cy="22860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9525">
            <a:solidFill>
              <a:srgbClr val="C7D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33" name="TextBox 17432"/>
          <p:cNvSpPr txBox="1"/>
          <p:nvPr/>
        </p:nvSpPr>
        <p:spPr>
          <a:xfrm>
            <a:off x="4315968" y="4334255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141B22"/>
                </a:solidFill>
                <a:latin typeface="Segoe UI Semibold"/>
              </a:rPr>
              <a:t>01 Tall buildings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More tall examples? No — training tops out at 82.8 m.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4315968" y="4773167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141B22"/>
                </a:solidFill>
                <a:latin typeface="Segoe UI Semibold"/>
              </a:rPr>
              <a:t>03 Guided filtering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Squaring off roofs made every metric worse.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4315968" y="5212079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141B22"/>
                </a:solidFill>
                <a:latin typeface="Segoe UI Semibold"/>
              </a:rPr>
              <a:t>04 Where detail went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Detail follows the ground area one token covers.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4315968" y="5650992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141B22"/>
                </a:solidFill>
                <a:latin typeface="Segoe UI Semibold"/>
              </a:rPr>
              <a:t>05 Eval resolution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Cartosat-class input costs 3.6% after auto-zoom.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4315968" y="6089903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 i="0">
                <a:solidFill>
                  <a:srgbClr val="141B22"/>
                </a:solidFill>
                <a:latin typeface="Segoe UI Semibold"/>
              </a:rPr>
              <a:t>06 Height compression  </a:t>
            </a:r>
            <a:r>
              <a:rPr sz="910" b="0" i="0">
                <a:solidFill>
                  <a:srgbClr val="2A3540"/>
                </a:solidFill>
                <a:latin typeface="Segoe UI"/>
              </a:rPr>
              <a:t>Measured: ours = 0.473 × truth + 2.66 m.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8046720" y="1115568"/>
            <a:ext cx="3776471" cy="274320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HOW WE COMPARE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8046720" y="1481328"/>
            <a:ext cx="1700601" cy="402336"/>
          </a:xfrm>
          <a:prstGeom prst="roundRect">
            <a:avLst>
              <a:gd name="adj" fmla="val 11363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Franklin Gothic Demi"/>
              </a:rPr>
              <a:t>PARAMETER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9783897" y="1481328"/>
            <a:ext cx="643188" cy="402336"/>
          </a:xfrm>
          <a:prstGeom prst="roundRect">
            <a:avLst>
              <a:gd name="adj" fmla="val 11363"/>
            </a:avLst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0" bIns="0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Franklin Gothic Demi Cond"/>
              </a:rPr>
              <a:t>STEREO OR LIDAR SURVEY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10463662" y="1481328"/>
            <a:ext cx="643188" cy="402336"/>
          </a:xfrm>
          <a:prstGeom prst="roundRect">
            <a:avLst>
              <a:gd name="adj" fmla="val 11363"/>
            </a:avLst>
          </a:prstGeom>
          <a:solidFill>
            <a:srgbClr val="16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0" bIns="0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Franklin Gothic Demi Cond"/>
              </a:rPr>
              <a:t>PUBLISHED SINGLE-VIEW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11143427" y="1481328"/>
            <a:ext cx="643188" cy="402336"/>
          </a:xfrm>
          <a:prstGeom prst="roundRect">
            <a:avLst>
              <a:gd name="adj" fmla="val 11363"/>
            </a:avLst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0" bIns="0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19" b="0" i="0">
                <a:solidFill>
                  <a:srgbClr val="FFFFFF"/>
                </a:solidFill>
                <a:latin typeface="Franklin Gothic Demi Cond"/>
              </a:rPr>
              <a:t>DEPTHWIZARD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8046720" y="1929384"/>
            <a:ext cx="1700601" cy="347472"/>
          </a:xfrm>
          <a:prstGeom prst="roundRect">
            <a:avLst>
              <a:gd name="adj" fmla="val 10526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44" name="TextBox 17443"/>
          <p:cNvSpPr txBox="1"/>
          <p:nvPr/>
        </p:nvSpPr>
        <p:spPr>
          <a:xfrm>
            <a:off x="8138160" y="1975103"/>
            <a:ext cx="151772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141B22"/>
                </a:solidFill>
                <a:latin typeface="Segoe UI Semibold"/>
              </a:rPr>
              <a:t>One archived image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9783897" y="1929384"/>
            <a:ext cx="643188" cy="347472"/>
          </a:xfrm>
          <a:prstGeom prst="roundRect">
            <a:avLst>
              <a:gd name="adj" fmla="val 10526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46" name="Picture 17445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2339" y="2029967"/>
            <a:ext cx="146304" cy="146304"/>
          </a:xfrm>
          <a:prstGeom prst="rect">
            <a:avLst/>
          </a:prstGeom>
        </p:spPr>
      </p:pic>
      <p:sp>
        <p:nvSpPr>
          <p:cNvPr id="17447" name="Rounded Rectangle 17446"/>
          <p:cNvSpPr/>
          <p:nvPr/>
        </p:nvSpPr>
        <p:spPr>
          <a:xfrm>
            <a:off x="10463662" y="1929384"/>
            <a:ext cx="643188" cy="347472"/>
          </a:xfrm>
          <a:prstGeom prst="roundRect">
            <a:avLst>
              <a:gd name="adj" fmla="val 10526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48" name="Picture 17447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2104" y="2029967"/>
            <a:ext cx="146304" cy="146304"/>
          </a:xfrm>
          <a:prstGeom prst="rect">
            <a:avLst/>
          </a:prstGeom>
        </p:spPr>
      </p:pic>
      <p:sp>
        <p:nvSpPr>
          <p:cNvPr id="17449" name="Rounded Rectangle 17448"/>
          <p:cNvSpPr/>
          <p:nvPr/>
        </p:nvSpPr>
        <p:spPr>
          <a:xfrm>
            <a:off x="11143427" y="1929384"/>
            <a:ext cx="643188" cy="347472"/>
          </a:xfrm>
          <a:prstGeom prst="roundRect">
            <a:avLst>
              <a:gd name="adj" fmla="val 10526"/>
            </a:avLst>
          </a:prstGeom>
          <a:solidFill>
            <a:srgbClr val="E7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50" name="Picture 17449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8153" y="2016251"/>
            <a:ext cx="173736" cy="173736"/>
          </a:xfrm>
          <a:prstGeom prst="rect">
            <a:avLst/>
          </a:prstGeom>
        </p:spPr>
      </p:pic>
      <p:sp>
        <p:nvSpPr>
          <p:cNvPr id="17451" name="Rounded Rectangle 17450"/>
          <p:cNvSpPr/>
          <p:nvPr/>
        </p:nvSpPr>
        <p:spPr>
          <a:xfrm>
            <a:off x="8046720" y="2313432"/>
            <a:ext cx="1700601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52" name="TextBox 17451"/>
          <p:cNvSpPr txBox="1"/>
          <p:nvPr/>
        </p:nvSpPr>
        <p:spPr>
          <a:xfrm>
            <a:off x="8138160" y="2359151"/>
            <a:ext cx="151772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141B22"/>
                </a:solidFill>
                <a:latin typeface="Segoe UI Semibold"/>
              </a:rPr>
              <a:t>Absolute metric height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9783897" y="2313432"/>
            <a:ext cx="643188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54" name="Picture 17453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2339" y="2414015"/>
            <a:ext cx="146304" cy="146304"/>
          </a:xfrm>
          <a:prstGeom prst="rect">
            <a:avLst/>
          </a:prstGeom>
        </p:spPr>
      </p:pic>
      <p:sp>
        <p:nvSpPr>
          <p:cNvPr id="17455" name="Rounded Rectangle 17454"/>
          <p:cNvSpPr/>
          <p:nvPr/>
        </p:nvSpPr>
        <p:spPr>
          <a:xfrm>
            <a:off x="10463662" y="2313432"/>
            <a:ext cx="643188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56" name="Picture 17455" descr="minu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2104" y="2414015"/>
            <a:ext cx="146304" cy="146304"/>
          </a:xfrm>
          <a:prstGeom prst="rect">
            <a:avLst/>
          </a:prstGeom>
        </p:spPr>
      </p:pic>
      <p:sp>
        <p:nvSpPr>
          <p:cNvPr id="17457" name="Rounded Rectangle 17456"/>
          <p:cNvSpPr/>
          <p:nvPr/>
        </p:nvSpPr>
        <p:spPr>
          <a:xfrm>
            <a:off x="11143427" y="2313432"/>
            <a:ext cx="643188" cy="347472"/>
          </a:xfrm>
          <a:prstGeom prst="roundRect">
            <a:avLst>
              <a:gd name="adj" fmla="val 10526"/>
            </a:avLst>
          </a:prstGeom>
          <a:solidFill>
            <a:srgbClr val="E7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58" name="Picture 17457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8153" y="2400299"/>
            <a:ext cx="173736" cy="173736"/>
          </a:xfrm>
          <a:prstGeom prst="rect">
            <a:avLst/>
          </a:prstGeom>
        </p:spPr>
      </p:pic>
      <p:sp>
        <p:nvSpPr>
          <p:cNvPr id="17459" name="Rounded Rectangle 17458"/>
          <p:cNvSpPr/>
          <p:nvPr/>
        </p:nvSpPr>
        <p:spPr>
          <a:xfrm>
            <a:off x="8046720" y="2697479"/>
            <a:ext cx="1700601" cy="347472"/>
          </a:xfrm>
          <a:prstGeom prst="roundRect">
            <a:avLst>
              <a:gd name="adj" fmla="val 10526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60" name="TextBox 17459"/>
          <p:cNvSpPr txBox="1"/>
          <p:nvPr/>
        </p:nvSpPr>
        <p:spPr>
          <a:xfrm>
            <a:off x="8138160" y="2743199"/>
            <a:ext cx="151772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141B22"/>
                </a:solidFill>
                <a:latin typeface="Segoe UI Semibold"/>
              </a:rPr>
              <a:t>Per-pixel uncertainty</a:t>
            </a:r>
          </a:p>
        </p:txBody>
      </p:sp>
      <p:sp>
        <p:nvSpPr>
          <p:cNvPr id="17461" name="Rounded Rectangle 17460"/>
          <p:cNvSpPr/>
          <p:nvPr/>
        </p:nvSpPr>
        <p:spPr>
          <a:xfrm>
            <a:off x="9783897" y="2697479"/>
            <a:ext cx="643188" cy="347472"/>
          </a:xfrm>
          <a:prstGeom prst="roundRect">
            <a:avLst>
              <a:gd name="adj" fmla="val 10526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62" name="Picture 17461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2339" y="2798063"/>
            <a:ext cx="146304" cy="146304"/>
          </a:xfrm>
          <a:prstGeom prst="rect">
            <a:avLst/>
          </a:prstGeom>
        </p:spPr>
      </p:pic>
      <p:sp>
        <p:nvSpPr>
          <p:cNvPr id="17463" name="Rounded Rectangle 17462"/>
          <p:cNvSpPr/>
          <p:nvPr/>
        </p:nvSpPr>
        <p:spPr>
          <a:xfrm>
            <a:off x="10463662" y="2697479"/>
            <a:ext cx="643188" cy="347472"/>
          </a:xfrm>
          <a:prstGeom prst="roundRect">
            <a:avLst>
              <a:gd name="adj" fmla="val 10526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64" name="Picture 17463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2104" y="2798063"/>
            <a:ext cx="146304" cy="146304"/>
          </a:xfrm>
          <a:prstGeom prst="rect">
            <a:avLst/>
          </a:prstGeom>
        </p:spPr>
      </p:pic>
      <p:sp>
        <p:nvSpPr>
          <p:cNvPr id="17465" name="Rounded Rectangle 17464"/>
          <p:cNvSpPr/>
          <p:nvPr/>
        </p:nvSpPr>
        <p:spPr>
          <a:xfrm>
            <a:off x="11143427" y="2697479"/>
            <a:ext cx="643188" cy="347472"/>
          </a:xfrm>
          <a:prstGeom prst="roundRect">
            <a:avLst>
              <a:gd name="adj" fmla="val 10526"/>
            </a:avLst>
          </a:prstGeom>
          <a:solidFill>
            <a:srgbClr val="E7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66" name="Picture 17465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8153" y="2784347"/>
            <a:ext cx="173736" cy="173736"/>
          </a:xfrm>
          <a:prstGeom prst="rect">
            <a:avLst/>
          </a:prstGeom>
        </p:spPr>
      </p:pic>
      <p:sp>
        <p:nvSpPr>
          <p:cNvPr id="17467" name="Rounded Rectangle 17466"/>
          <p:cNvSpPr/>
          <p:nvPr/>
        </p:nvSpPr>
        <p:spPr>
          <a:xfrm>
            <a:off x="8046720" y="3081527"/>
            <a:ext cx="1700601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68" name="TextBox 17467"/>
          <p:cNvSpPr txBox="1"/>
          <p:nvPr/>
        </p:nvSpPr>
        <p:spPr>
          <a:xfrm>
            <a:off x="8138160" y="3127247"/>
            <a:ext cx="151772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141B22"/>
                </a:solidFill>
                <a:latin typeface="Segoe UI Semibold"/>
              </a:rPr>
              <a:t>Scored per terrain</a:t>
            </a:r>
          </a:p>
        </p:txBody>
      </p:sp>
      <p:sp>
        <p:nvSpPr>
          <p:cNvPr id="17469" name="Rounded Rectangle 17468"/>
          <p:cNvSpPr/>
          <p:nvPr/>
        </p:nvSpPr>
        <p:spPr>
          <a:xfrm>
            <a:off x="9783897" y="3081527"/>
            <a:ext cx="643188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70" name="Picture 17469" descr="minu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2339" y="3182111"/>
            <a:ext cx="146304" cy="146304"/>
          </a:xfrm>
          <a:prstGeom prst="rect">
            <a:avLst/>
          </a:prstGeom>
        </p:spPr>
      </p:pic>
      <p:sp>
        <p:nvSpPr>
          <p:cNvPr id="17471" name="Rounded Rectangle 17470"/>
          <p:cNvSpPr/>
          <p:nvPr/>
        </p:nvSpPr>
        <p:spPr>
          <a:xfrm>
            <a:off x="10463662" y="3081527"/>
            <a:ext cx="643188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72" name="Picture 17471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2104" y="3182111"/>
            <a:ext cx="146304" cy="146304"/>
          </a:xfrm>
          <a:prstGeom prst="rect">
            <a:avLst/>
          </a:prstGeom>
        </p:spPr>
      </p:pic>
      <p:sp>
        <p:nvSpPr>
          <p:cNvPr id="17473" name="Rounded Rectangle 17472"/>
          <p:cNvSpPr/>
          <p:nvPr/>
        </p:nvSpPr>
        <p:spPr>
          <a:xfrm>
            <a:off x="11143427" y="3081527"/>
            <a:ext cx="643188" cy="347472"/>
          </a:xfrm>
          <a:prstGeom prst="roundRect">
            <a:avLst>
              <a:gd name="adj" fmla="val 10526"/>
            </a:avLst>
          </a:prstGeom>
          <a:solidFill>
            <a:srgbClr val="E7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74" name="Picture 17473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8153" y="3168395"/>
            <a:ext cx="173736" cy="173736"/>
          </a:xfrm>
          <a:prstGeom prst="rect">
            <a:avLst/>
          </a:prstGeom>
        </p:spPr>
      </p:pic>
      <p:sp>
        <p:nvSpPr>
          <p:cNvPr id="17475" name="Rounded Rectangle 17474"/>
          <p:cNvSpPr/>
          <p:nvPr/>
        </p:nvSpPr>
        <p:spPr>
          <a:xfrm>
            <a:off x="8046720" y="3465575"/>
            <a:ext cx="1700601" cy="347472"/>
          </a:xfrm>
          <a:prstGeom prst="roundRect">
            <a:avLst>
              <a:gd name="adj" fmla="val 10526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76" name="TextBox 17475"/>
          <p:cNvSpPr txBox="1"/>
          <p:nvPr/>
        </p:nvSpPr>
        <p:spPr>
          <a:xfrm>
            <a:off x="8138160" y="3511295"/>
            <a:ext cx="151772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141B22"/>
                </a:solidFill>
                <a:latin typeface="Segoe UI Semibold"/>
              </a:rPr>
              <a:t>Runs with no GPU</a:t>
            </a:r>
          </a:p>
        </p:txBody>
      </p:sp>
      <p:sp>
        <p:nvSpPr>
          <p:cNvPr id="17477" name="Rounded Rectangle 17476"/>
          <p:cNvSpPr/>
          <p:nvPr/>
        </p:nvSpPr>
        <p:spPr>
          <a:xfrm>
            <a:off x="9783897" y="3465575"/>
            <a:ext cx="643188" cy="347472"/>
          </a:xfrm>
          <a:prstGeom prst="roundRect">
            <a:avLst>
              <a:gd name="adj" fmla="val 10526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78" name="Picture 17477" descr="minu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2339" y="3566159"/>
            <a:ext cx="146304" cy="146304"/>
          </a:xfrm>
          <a:prstGeom prst="rect">
            <a:avLst/>
          </a:prstGeom>
        </p:spPr>
      </p:pic>
      <p:sp>
        <p:nvSpPr>
          <p:cNvPr id="17479" name="Rounded Rectangle 17478"/>
          <p:cNvSpPr/>
          <p:nvPr/>
        </p:nvSpPr>
        <p:spPr>
          <a:xfrm>
            <a:off x="10463662" y="3465575"/>
            <a:ext cx="643188" cy="347472"/>
          </a:xfrm>
          <a:prstGeom prst="roundRect">
            <a:avLst>
              <a:gd name="adj" fmla="val 10526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80" name="Picture 17479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2104" y="3566159"/>
            <a:ext cx="146304" cy="146304"/>
          </a:xfrm>
          <a:prstGeom prst="rect">
            <a:avLst/>
          </a:prstGeom>
        </p:spPr>
      </p:pic>
      <p:sp>
        <p:nvSpPr>
          <p:cNvPr id="17481" name="Rounded Rectangle 17480"/>
          <p:cNvSpPr/>
          <p:nvPr/>
        </p:nvSpPr>
        <p:spPr>
          <a:xfrm>
            <a:off x="11143427" y="3465575"/>
            <a:ext cx="643188" cy="347472"/>
          </a:xfrm>
          <a:prstGeom prst="roundRect">
            <a:avLst>
              <a:gd name="adj" fmla="val 10526"/>
            </a:avLst>
          </a:prstGeom>
          <a:solidFill>
            <a:srgbClr val="E7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82" name="Picture 17481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8153" y="3552443"/>
            <a:ext cx="173736" cy="173736"/>
          </a:xfrm>
          <a:prstGeom prst="rect">
            <a:avLst/>
          </a:prstGeom>
        </p:spPr>
      </p:pic>
      <p:sp>
        <p:nvSpPr>
          <p:cNvPr id="17483" name="Rounded Rectangle 17482"/>
          <p:cNvSpPr/>
          <p:nvPr/>
        </p:nvSpPr>
        <p:spPr>
          <a:xfrm>
            <a:off x="8046720" y="3849624"/>
            <a:ext cx="1700601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84" name="TextBox 17483"/>
          <p:cNvSpPr txBox="1"/>
          <p:nvPr/>
        </p:nvSpPr>
        <p:spPr>
          <a:xfrm>
            <a:off x="8138160" y="3895344"/>
            <a:ext cx="151772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141B22"/>
                </a:solidFill>
                <a:latin typeface="Segoe UI Semibold"/>
              </a:rPr>
              <a:t>3D viewer shipped</a:t>
            </a:r>
          </a:p>
        </p:txBody>
      </p:sp>
      <p:sp>
        <p:nvSpPr>
          <p:cNvPr id="17485" name="Rounded Rectangle 17484"/>
          <p:cNvSpPr/>
          <p:nvPr/>
        </p:nvSpPr>
        <p:spPr>
          <a:xfrm>
            <a:off x="9783897" y="3849624"/>
            <a:ext cx="643188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86" name="Picture 17485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2339" y="3950208"/>
            <a:ext cx="146304" cy="146304"/>
          </a:xfrm>
          <a:prstGeom prst="rect">
            <a:avLst/>
          </a:prstGeom>
        </p:spPr>
      </p:pic>
      <p:sp>
        <p:nvSpPr>
          <p:cNvPr id="17487" name="Rounded Rectangle 17486"/>
          <p:cNvSpPr/>
          <p:nvPr/>
        </p:nvSpPr>
        <p:spPr>
          <a:xfrm>
            <a:off x="10463662" y="3849624"/>
            <a:ext cx="643188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88" name="Picture 17487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2104" y="3950208"/>
            <a:ext cx="146304" cy="146304"/>
          </a:xfrm>
          <a:prstGeom prst="rect">
            <a:avLst/>
          </a:prstGeom>
        </p:spPr>
      </p:pic>
      <p:sp>
        <p:nvSpPr>
          <p:cNvPr id="17489" name="Rounded Rectangle 17488"/>
          <p:cNvSpPr/>
          <p:nvPr/>
        </p:nvSpPr>
        <p:spPr>
          <a:xfrm>
            <a:off x="11143427" y="3849624"/>
            <a:ext cx="643188" cy="347472"/>
          </a:xfrm>
          <a:prstGeom prst="roundRect">
            <a:avLst>
              <a:gd name="adj" fmla="val 10526"/>
            </a:avLst>
          </a:prstGeom>
          <a:solidFill>
            <a:srgbClr val="E7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90" name="Picture 17489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8153" y="3936492"/>
            <a:ext cx="173736" cy="173736"/>
          </a:xfrm>
          <a:prstGeom prst="rect">
            <a:avLst/>
          </a:prstGeom>
        </p:spPr>
      </p:pic>
      <p:sp>
        <p:nvSpPr>
          <p:cNvPr id="17491" name="Rounded Rectangle 17490"/>
          <p:cNvSpPr/>
          <p:nvPr/>
        </p:nvSpPr>
        <p:spPr>
          <a:xfrm>
            <a:off x="8046720" y="4233672"/>
            <a:ext cx="1700601" cy="347472"/>
          </a:xfrm>
          <a:prstGeom prst="roundRect">
            <a:avLst>
              <a:gd name="adj" fmla="val 10526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sp>
        <p:nvSpPr>
          <p:cNvPr id="17492" name="TextBox 17491"/>
          <p:cNvSpPr txBox="1"/>
          <p:nvPr/>
        </p:nvSpPr>
        <p:spPr>
          <a:xfrm>
            <a:off x="8138160" y="4279392"/>
            <a:ext cx="151772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 i="0">
                <a:solidFill>
                  <a:srgbClr val="141B22"/>
                </a:solidFill>
                <a:latin typeface="Segoe UI Semibold"/>
              </a:rPr>
              <a:t>Failure modes published</a:t>
            </a:r>
          </a:p>
        </p:txBody>
      </p:sp>
      <p:sp>
        <p:nvSpPr>
          <p:cNvPr id="17493" name="Rounded Rectangle 17492"/>
          <p:cNvSpPr/>
          <p:nvPr/>
        </p:nvSpPr>
        <p:spPr>
          <a:xfrm>
            <a:off x="9783897" y="4233672"/>
            <a:ext cx="643188" cy="347472"/>
          </a:xfrm>
          <a:prstGeom prst="roundRect">
            <a:avLst>
              <a:gd name="adj" fmla="val 10526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94" name="Picture 17493" descr="minu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2339" y="4334256"/>
            <a:ext cx="146304" cy="146304"/>
          </a:xfrm>
          <a:prstGeom prst="rect">
            <a:avLst/>
          </a:prstGeom>
        </p:spPr>
      </p:pic>
      <p:sp>
        <p:nvSpPr>
          <p:cNvPr id="17495" name="Rounded Rectangle 17494"/>
          <p:cNvSpPr/>
          <p:nvPr/>
        </p:nvSpPr>
        <p:spPr>
          <a:xfrm>
            <a:off x="10463662" y="4233672"/>
            <a:ext cx="643188" cy="347472"/>
          </a:xfrm>
          <a:prstGeom prst="roundRect">
            <a:avLst>
              <a:gd name="adj" fmla="val 10526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96" name="Picture 17495" descr="minu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2104" y="4334256"/>
            <a:ext cx="146304" cy="146304"/>
          </a:xfrm>
          <a:prstGeom prst="rect">
            <a:avLst/>
          </a:prstGeom>
        </p:spPr>
      </p:pic>
      <p:sp>
        <p:nvSpPr>
          <p:cNvPr id="17497" name="Rounded Rectangle 17496"/>
          <p:cNvSpPr/>
          <p:nvPr/>
        </p:nvSpPr>
        <p:spPr>
          <a:xfrm>
            <a:off x="11143427" y="4233672"/>
            <a:ext cx="643188" cy="347472"/>
          </a:xfrm>
          <a:prstGeom prst="roundRect">
            <a:avLst>
              <a:gd name="adj" fmla="val 10526"/>
            </a:avLst>
          </a:prstGeom>
          <a:solidFill>
            <a:srgbClr val="E7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/>
        </p:txBody>
      </p:sp>
      <p:pic>
        <p:nvPicPr>
          <p:cNvPr id="17498" name="Picture 17497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8153" y="4320540"/>
            <a:ext cx="173736" cy="173736"/>
          </a:xfrm>
          <a:prstGeom prst="rect">
            <a:avLst/>
          </a:prstGeom>
        </p:spPr>
      </p:pic>
      <p:pic>
        <p:nvPicPr>
          <p:cNvPr id="17499" name="Picture 17498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7867" y="4677156"/>
            <a:ext cx="155448" cy="155448"/>
          </a:xfrm>
          <a:prstGeom prst="rect">
            <a:avLst/>
          </a:prstGeom>
        </p:spPr>
      </p:pic>
      <p:sp>
        <p:nvSpPr>
          <p:cNvPr id="17500" name="TextBox 17499"/>
          <p:cNvSpPr txBox="1"/>
          <p:nvPr/>
        </p:nvSpPr>
        <p:spPr>
          <a:xfrm>
            <a:off x="8284464" y="466344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0" i="0">
                <a:solidFill>
                  <a:srgbClr val="55636E"/>
                </a:solidFill>
                <a:latin typeface="Segoe UI"/>
              </a:rPr>
              <a:t>yes</a:t>
            </a:r>
          </a:p>
        </p:txBody>
      </p:sp>
      <p:pic>
        <p:nvPicPr>
          <p:cNvPr id="17501" name="Picture 17500" descr="minu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2850" y="4677156"/>
            <a:ext cx="155448" cy="155448"/>
          </a:xfrm>
          <a:prstGeom prst="rect">
            <a:avLst/>
          </a:prstGeom>
        </p:spPr>
      </p:pic>
      <p:sp>
        <p:nvSpPr>
          <p:cNvPr id="17502" name="TextBox 17501"/>
          <p:cNvSpPr txBox="1"/>
          <p:nvPr/>
        </p:nvSpPr>
        <p:spPr>
          <a:xfrm>
            <a:off x="8829446" y="466344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0" i="0">
                <a:solidFill>
                  <a:srgbClr val="55636E"/>
                </a:solidFill>
                <a:latin typeface="Segoe UI"/>
              </a:rPr>
              <a:t>partial</a:t>
            </a:r>
          </a:p>
        </p:txBody>
      </p:sp>
      <p:pic>
        <p:nvPicPr>
          <p:cNvPr id="17503" name="Picture 17502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8028" y="4677156"/>
            <a:ext cx="155448" cy="155448"/>
          </a:xfrm>
          <a:prstGeom prst="rect">
            <a:avLst/>
          </a:prstGeom>
        </p:spPr>
      </p:pic>
      <p:sp>
        <p:nvSpPr>
          <p:cNvPr id="17504" name="TextBox 17503"/>
          <p:cNvSpPr txBox="1"/>
          <p:nvPr/>
        </p:nvSpPr>
        <p:spPr>
          <a:xfrm>
            <a:off x="9564624" y="466344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0" i="0">
                <a:solidFill>
                  <a:srgbClr val="55636E"/>
                </a:solidFill>
                <a:latin typeface="Segoe UI"/>
              </a:rPr>
              <a:t>no</a:t>
            </a:r>
          </a:p>
        </p:txBody>
      </p:sp>
      <p:sp>
        <p:nvSpPr>
          <p:cNvPr id="17505" name="Rounded Rectangle 17504"/>
          <p:cNvSpPr/>
          <p:nvPr/>
        </p:nvSpPr>
        <p:spPr>
          <a:xfrm>
            <a:off x="8046720" y="4946904"/>
            <a:ext cx="3776471" cy="274320"/>
          </a:xfrm>
          <a:prstGeom prst="roundRect">
            <a:avLst>
              <a:gd name="adj" fmla="val 50000"/>
            </a:avLst>
          </a:prstGeom>
          <a:solidFill>
            <a:srgbClr val="55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TWO ROWS THE ALTERNATIVES WIN</a:t>
            </a:r>
          </a:p>
        </p:txBody>
      </p:sp>
      <p:sp>
        <p:nvSpPr>
          <p:cNvPr id="17506" name="TextBox 17505"/>
          <p:cNvSpPr txBox="1"/>
          <p:nvPr/>
        </p:nvSpPr>
        <p:spPr>
          <a:xfrm>
            <a:off x="8101584" y="5312664"/>
            <a:ext cx="366674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40" b="0" i="0">
                <a:solidFill>
                  <a:srgbClr val="2A3540"/>
                </a:solidFill>
                <a:latin typeface="Segoe UI"/>
              </a:rPr>
              <a:t>A stereo survey gives absolute height directly and ships mature viewers. The table is only useful to a panel if the rows we lose are still in it.</a:t>
            </a:r>
          </a:p>
        </p:txBody>
      </p:sp>
      <p:sp>
        <p:nvSpPr>
          <p:cNvPr id="17507" name="Rounded Rectangle 17506"/>
          <p:cNvSpPr/>
          <p:nvPr/>
        </p:nvSpPr>
        <p:spPr>
          <a:xfrm>
            <a:off x="8046720" y="5715000"/>
            <a:ext cx="3776471" cy="274320"/>
          </a:xfrm>
          <a:prstGeom prst="roundRect">
            <a:avLst>
              <a:gd name="adj" fmla="val 50000"/>
            </a:avLst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Franklin Gothic Demi Cond"/>
              </a:rPr>
              <a:t>THE BAR WE ARE MEASURED AGAINST</a:t>
            </a:r>
          </a:p>
        </p:txBody>
      </p:sp>
      <p:sp>
        <p:nvSpPr>
          <p:cNvPr id="17508" name="TextBox 17507"/>
          <p:cNvSpPr txBox="1"/>
          <p:nvPr/>
        </p:nvSpPr>
        <p:spPr>
          <a:xfrm>
            <a:off x="8101584" y="6080760"/>
            <a:ext cx="3666743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C1440E"/>
                </a:solidFill>
                <a:latin typeface="Franklin Gothic Demi"/>
              </a:rPr>
              <a:t>3.62 m</a:t>
            </a:r>
            <a:r>
              <a:rPr sz="940" b="0" i="0">
                <a:solidFill>
                  <a:srgbClr val="2A3540"/>
                </a:solidFill>
                <a:latin typeface="Segoe UI"/>
              </a:rPr>
              <a:t>  per-building RMSE against airborne LiDAR, versus 5.9 m published for Asia. Scored on 3,090 buildings across 80 held-out tiles.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