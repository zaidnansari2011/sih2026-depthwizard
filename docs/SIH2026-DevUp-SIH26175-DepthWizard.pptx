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20624" y="2139696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00" b="1" i="0">
                <a:solidFill>
                  <a:srgbClr val="5B6670"/>
                </a:solidFill>
                <a:latin typeface="Calibri"/>
              </a:rPr>
              <a:t>PROBLEM STATEMENT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" y="2295144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250" b="1" i="0">
                <a:solidFill>
                  <a:srgbClr val="14181D"/>
                </a:solidFill>
                <a:latin typeface="Calibri"/>
              </a:rPr>
              <a:t>SIH26175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2569463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00" b="1" i="0">
                <a:solidFill>
                  <a:srgbClr val="5B6670"/>
                </a:solidFill>
                <a:latin typeface="Calibri"/>
              </a:rPr>
              <a:t>PROBLEM STATEMENT TITLE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" y="2724911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250" b="1" i="0">
                <a:solidFill>
                  <a:srgbClr val="14181D"/>
                </a:solidFill>
                <a:latin typeface="Calibri"/>
              </a:rPr>
              <a:t>Single-View Height Estimation and 3D Terrain Visualisation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" y="2999231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00" b="1" i="0">
                <a:solidFill>
                  <a:srgbClr val="5B6670"/>
                </a:solidFill>
                <a:latin typeface="Calibri"/>
              </a:rPr>
              <a:t>THEME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3154679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250" b="1" i="0">
                <a:solidFill>
                  <a:srgbClr val="14181D"/>
                </a:solidFill>
                <a:latin typeface="Calibri"/>
              </a:rPr>
              <a:t>Space Technology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" y="3428999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00" b="1" i="0">
                <a:solidFill>
                  <a:srgbClr val="5B6670"/>
                </a:solidFill>
                <a:latin typeface="Calibri"/>
              </a:rPr>
              <a:t>PS CATEGORY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" y="3584447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250" b="1" i="0">
                <a:solidFill>
                  <a:srgbClr val="14181D"/>
                </a:solidFill>
                <a:latin typeface="Calibri"/>
              </a:rPr>
              <a:t>Software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" y="3858767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00" b="1" i="0">
                <a:solidFill>
                  <a:srgbClr val="5B6670"/>
                </a:solidFill>
                <a:latin typeface="Calibri"/>
              </a:rPr>
              <a:t>TEAM 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" y="4014215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250" b="1" i="0">
                <a:solidFill>
                  <a:srgbClr val="14181D"/>
                </a:solidFill>
                <a:latin typeface="Calibri"/>
              </a:rPr>
              <a:t>&lt;fill from portal&gt;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" y="4288535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00" b="1" i="0">
                <a:solidFill>
                  <a:srgbClr val="5B6670"/>
                </a:solidFill>
                <a:latin typeface="Calibri"/>
              </a:rPr>
              <a:t>TEAM NAME (REGISTERED ON PORTAL)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" y="4443983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1250" b="1" i="0">
                <a:solidFill>
                  <a:srgbClr val="14181D"/>
                </a:solidFill>
                <a:latin typeface="Calibri"/>
              </a:rPr>
              <a:t>Dev Up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20624" y="4974336"/>
            <a:ext cx="512064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20624" y="5047488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00" b="1" i="0">
                <a:solidFill>
                  <a:srgbClr val="5B6670"/>
                </a:solidFill>
                <a:latin typeface="Calibri"/>
              </a:rPr>
              <a:t>BUILT AND MEASURED, NOT PROPOSED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" y="5285232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2700" b="0" i="0">
                <a:solidFill>
                  <a:srgbClr val="C1440E"/>
                </a:solidFill>
                <a:latin typeface="Calibri"/>
              </a:rPr>
              <a:t>3.62</a:t>
            </a:r>
            <a:r>
              <a:rPr sz="1134" b="0" i="0">
                <a:solidFill>
                  <a:srgbClr val="C1440E"/>
                </a:solidFill>
                <a:latin typeface="Calibri"/>
              </a:rPr>
              <a:t> 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" y="568756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670"/>
                </a:solidFill>
                <a:latin typeface="Calibri"/>
              </a:rPr>
              <a:t>per-building RMSE against
airborne LiDAR, 3,090 buildings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76272" y="5285232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2700" b="0" i="0">
                <a:solidFill>
                  <a:srgbClr val="C1440E"/>
                </a:solidFill>
                <a:latin typeface="Calibri"/>
              </a:rPr>
              <a:t>39</a:t>
            </a:r>
            <a:r>
              <a:rPr sz="1134" b="0" i="0">
                <a:solidFill>
                  <a:srgbClr val="C1440E"/>
                </a:solidFill>
                <a:latin typeface="Calibri"/>
              </a:rPr>
              <a:t>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76272" y="568756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670"/>
                </a:solidFill>
                <a:latin typeface="Calibri"/>
              </a:rPr>
              <a:t>better than the 5.9 m
GlobalBuildingAtlas Asia bar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5285232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2700" b="0" i="0">
                <a:solidFill>
                  <a:srgbClr val="C1440E"/>
                </a:solidFill>
                <a:latin typeface="Calibri"/>
              </a:rPr>
              <a:t>509</a:t>
            </a:r>
            <a:r>
              <a:rPr sz="1134" b="0" i="0">
                <a:solidFill>
                  <a:srgbClr val="C1440E"/>
                </a:solidFill>
                <a:latin typeface="Calibri"/>
              </a:rPr>
              <a:t> 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568756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670"/>
                </a:solidFill>
                <a:latin typeface="Calibri"/>
              </a:rPr>
              <a:t>per tile on CPU alone,
no GPU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84048" y="109728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700" b="1" i="0">
                <a:solidFill>
                  <a:srgbClr val="C1440E"/>
                </a:solidFill>
                <a:latin typeface="Calibri"/>
              </a:rPr>
              <a:t>DepthWizard</a:t>
            </a:r>
            <a:r>
              <a:rPr sz="1700" b="0" i="0">
                <a:solidFill>
                  <a:srgbClr val="14181D"/>
                </a:solidFill>
                <a:latin typeface="Calibri"/>
              </a:rPr>
              <a:t>   one satellite image in, a measurable 3D surface out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84048" y="1444752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Height from a single view. No stereo pair, no LiDAR, no second pass of the satellite. Every competing submission promises accuracy. </a:t>
            </a:r>
            <a:r>
              <a:rPr sz="1000" b="1" i="0">
                <a:solidFill>
                  <a:srgbClr val="C1440E"/>
                </a:solidFill>
                <a:latin typeface="Calibri"/>
              </a:rPr>
              <a:t>This one reports it.</a:t>
            </a:r>
          </a:p>
        </p:txBody>
      </p:sp>
      <p:cxnSp>
        <p:nvCxnSpPr>
          <p:cNvPr id="15364" name="Connector 15363"/>
          <p:cNvCxnSpPr/>
          <p:nvPr/>
        </p:nvCxnSpPr>
        <p:spPr>
          <a:xfrm>
            <a:off x="4517136" y="1810512"/>
            <a:ext cx="0" cy="2304288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5" name="TextBox 15364"/>
          <p:cNvSpPr txBox="1"/>
          <p:nvPr/>
        </p:nvSpPr>
        <p:spPr>
          <a:xfrm>
            <a:off x="384048" y="1773936"/>
            <a:ext cx="4160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THE PROBLEM</a:t>
            </a:r>
          </a:p>
        </p:txBody>
      </p:sp>
      <p:cxnSp>
        <p:nvCxnSpPr>
          <p:cNvPr id="15366" name="Connector 15365"/>
          <p:cNvCxnSpPr/>
          <p:nvPr/>
        </p:nvCxnSpPr>
        <p:spPr>
          <a:xfrm>
            <a:off x="384048" y="1956816"/>
            <a:ext cx="416052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7" name="TextBox 15366"/>
          <p:cNvSpPr txBox="1"/>
          <p:nvPr/>
        </p:nvSpPr>
        <p:spPr>
          <a:xfrm>
            <a:off x="384048" y="2007107"/>
            <a:ext cx="310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1" i="0">
                <a:solidFill>
                  <a:srgbClr val="C1440E"/>
                </a:solidFill>
                <a:latin typeface="Calibri"/>
              </a:rPr>
              <a:t>01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749808" y="2048255"/>
            <a:ext cx="37947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60" b="1" i="0">
                <a:solidFill>
                  <a:srgbClr val="14181D"/>
                </a:solidFill>
                <a:latin typeface="Calibri"/>
              </a:rPr>
              <a:t>Archives with no height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India holds decades of Cartosat single-view imagery. Stereo and LiDAR give height, but cost more and cannot be flown into the past.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384048" y="2720339"/>
            <a:ext cx="310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1" i="0">
                <a:solidFill>
                  <a:srgbClr val="C1440E"/>
                </a:solidFill>
                <a:latin typeface="Calibri"/>
              </a:rPr>
              <a:t>02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749808" y="2761487"/>
            <a:ext cx="37947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60" b="1" i="0">
                <a:solidFill>
                  <a:srgbClr val="14181D"/>
                </a:solidFill>
                <a:latin typeface="Calibri"/>
              </a:rPr>
              <a:t>Answers with no confidence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Single-view height is ill-posed. A model that emits one number implies a certainty it does not have, so an analyst cannot act on it.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384048" y="3433572"/>
            <a:ext cx="310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1" i="0">
                <a:solidFill>
                  <a:srgbClr val="C1440E"/>
                </a:solidFill>
                <a:latin typeface="Calibri"/>
              </a:rPr>
              <a:t>03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749808" y="3474720"/>
            <a:ext cx="37947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60" b="1" i="0">
                <a:solidFill>
                  <a:srgbClr val="14181D"/>
                </a:solidFill>
                <a:latin typeface="Calibri"/>
              </a:rPr>
              <a:t>Checkpoints are not products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The literature ships weights and an eval script. An analyst needs to open a scene, fly through it, and check a height against a reference.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4800600" y="1773936"/>
            <a:ext cx="70134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PROPOSED SOLUTION</a:t>
            </a:r>
          </a:p>
        </p:txBody>
      </p:sp>
      <p:cxnSp>
        <p:nvCxnSpPr>
          <p:cNvPr id="15374" name="Connector 15373"/>
          <p:cNvCxnSpPr/>
          <p:nvPr/>
        </p:nvCxnSpPr>
        <p:spPr>
          <a:xfrm>
            <a:off x="4800600" y="1956816"/>
            <a:ext cx="7013448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375" name="Picture 15374" descr="image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066543"/>
            <a:ext cx="210312" cy="210312"/>
          </a:xfrm>
          <a:prstGeom prst="rect">
            <a:avLst/>
          </a:prstGeom>
        </p:spPr>
      </p:pic>
      <p:sp>
        <p:nvSpPr>
          <p:cNvPr id="15376" name="TextBox 15375"/>
          <p:cNvSpPr txBox="1"/>
          <p:nvPr/>
        </p:nvSpPr>
        <p:spPr>
          <a:xfrm>
            <a:off x="5102352" y="2048255"/>
            <a:ext cx="306781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19" b="1" i="0">
                <a:solidFill>
                  <a:srgbClr val="14181D"/>
                </a:solidFill>
                <a:latin typeface="Calibri"/>
              </a:rPr>
              <a:t>One image to a metric DSM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5B6670"/>
                </a:solidFill>
                <a:latin typeface="Calibri"/>
              </a:rPr>
              <a:t>Depth Anything V2 fine-tuned on DFC2019 LiDAR. GeoTIFF out, or a relative DSM when the input carries no geospatial metadata.</a:t>
            </a:r>
          </a:p>
        </p:txBody>
      </p:sp>
      <p:pic>
        <p:nvPicPr>
          <p:cNvPr id="15377" name="Picture 15376" descr="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4484" y="2066543"/>
            <a:ext cx="210312" cy="210312"/>
          </a:xfrm>
          <a:prstGeom prst="rect">
            <a:avLst/>
          </a:prstGeom>
        </p:spPr>
      </p:pic>
      <p:sp>
        <p:nvSpPr>
          <p:cNvPr id="15378" name="TextBox 15377"/>
          <p:cNvSpPr txBox="1"/>
          <p:nvPr/>
        </p:nvSpPr>
        <p:spPr>
          <a:xfrm>
            <a:off x="8746236" y="2048255"/>
            <a:ext cx="306781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19" b="1" i="0">
                <a:solidFill>
                  <a:srgbClr val="14181D"/>
                </a:solidFill>
                <a:latin typeface="Calibri"/>
              </a:rPr>
              <a:t>A confidence map, not just a height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5B6670"/>
                </a:solidFill>
                <a:latin typeface="Calibri"/>
              </a:rPr>
              <a:t>A heteroscedastic head emits per-pixel sigma beside every height. Where it says it is unsure, it is wrong, monotonically.</a:t>
            </a:r>
          </a:p>
        </p:txBody>
      </p:sp>
      <p:cxnSp>
        <p:nvCxnSpPr>
          <p:cNvPr id="15379" name="Connector 15378"/>
          <p:cNvCxnSpPr/>
          <p:nvPr/>
        </p:nvCxnSpPr>
        <p:spPr>
          <a:xfrm>
            <a:off x="4800600" y="2715768"/>
            <a:ext cx="3369564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380" name="Picture 15379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834639"/>
            <a:ext cx="210312" cy="210312"/>
          </a:xfrm>
          <a:prstGeom prst="rect">
            <a:avLst/>
          </a:prstGeom>
        </p:spPr>
      </p:pic>
      <p:sp>
        <p:nvSpPr>
          <p:cNvPr id="15381" name="TextBox 15380"/>
          <p:cNvSpPr txBox="1"/>
          <p:nvPr/>
        </p:nvSpPr>
        <p:spPr>
          <a:xfrm>
            <a:off x="5102352" y="2816351"/>
            <a:ext cx="306781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19" b="1" i="0">
                <a:solidFill>
                  <a:srgbClr val="14181D"/>
                </a:solidFill>
                <a:latin typeface="Calibri"/>
              </a:rPr>
              <a:t>A navigable 3D scene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5B6670"/>
                </a:solidFill>
                <a:latin typeface="Calibri"/>
              </a:rPr>
              <a:t>three.js flythrough with the image projected onto the surface, drag-to-compare against reference, and a live error map.</a:t>
            </a:r>
          </a:p>
        </p:txBody>
      </p:sp>
      <p:cxnSp>
        <p:nvCxnSpPr>
          <p:cNvPr id="15382" name="Connector 15381"/>
          <p:cNvCxnSpPr/>
          <p:nvPr/>
        </p:nvCxnSpPr>
        <p:spPr>
          <a:xfrm>
            <a:off x="8444484" y="2715768"/>
            <a:ext cx="3369564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383" name="Picture 15382" descr="rul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4484" y="2834639"/>
            <a:ext cx="210312" cy="210312"/>
          </a:xfrm>
          <a:prstGeom prst="rect">
            <a:avLst/>
          </a:prstGeom>
        </p:spPr>
      </p:pic>
      <p:sp>
        <p:nvSpPr>
          <p:cNvPr id="15384" name="TextBox 15383"/>
          <p:cNvSpPr txBox="1"/>
          <p:nvPr/>
        </p:nvSpPr>
        <p:spPr>
          <a:xfrm>
            <a:off x="8746236" y="2816351"/>
            <a:ext cx="306781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19" b="1" i="0">
                <a:solidFill>
                  <a:srgbClr val="14181D"/>
                </a:solidFill>
                <a:latin typeface="Calibri"/>
              </a:rPr>
              <a:t>Validation built into the product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5B6670"/>
                </a:solidFill>
                <a:latin typeface="Calibri"/>
              </a:rPr>
              <a:t>RMSE, MAE and correlation against LiDAR, reported per terrain class rather than as one flattering average.</a:t>
            </a:r>
          </a:p>
        </p:txBody>
      </p:sp>
      <p:cxnSp>
        <p:nvCxnSpPr>
          <p:cNvPr id="15385" name="Connector 15384"/>
          <p:cNvCxnSpPr/>
          <p:nvPr/>
        </p:nvCxnSpPr>
        <p:spPr>
          <a:xfrm>
            <a:off x="4800600" y="3483864"/>
            <a:ext cx="3369564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386" name="Picture 15385" descr="map-pinn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602736"/>
            <a:ext cx="210312" cy="210312"/>
          </a:xfrm>
          <a:prstGeom prst="rect">
            <a:avLst/>
          </a:prstGeom>
        </p:spPr>
      </p:pic>
      <p:sp>
        <p:nvSpPr>
          <p:cNvPr id="15387" name="TextBox 15386"/>
          <p:cNvSpPr txBox="1"/>
          <p:nvPr/>
        </p:nvSpPr>
        <p:spPr>
          <a:xfrm>
            <a:off x="5102352" y="3584448"/>
            <a:ext cx="306781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19" b="1" i="0">
                <a:solidFill>
                  <a:srgbClr val="14181D"/>
                </a:solidFill>
                <a:latin typeface="Calibri"/>
              </a:rPr>
              <a:t>Absolute heights, two independent ways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5B6670"/>
                </a:solidFill>
                <a:latin typeface="Calibri"/>
              </a:rPr>
              <a:t>Copernicus GLO-30, or ground control points via a power-law fit that declines rather than degrade a scene.</a:t>
            </a:r>
          </a:p>
        </p:txBody>
      </p:sp>
      <p:cxnSp>
        <p:nvCxnSpPr>
          <p:cNvPr id="15388" name="Connector 15387"/>
          <p:cNvCxnSpPr/>
          <p:nvPr/>
        </p:nvCxnSpPr>
        <p:spPr>
          <a:xfrm>
            <a:off x="8444484" y="3483864"/>
            <a:ext cx="3369564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389" name="Picture 15388" descr="wifi-o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4484" y="3602736"/>
            <a:ext cx="210312" cy="210312"/>
          </a:xfrm>
          <a:prstGeom prst="rect">
            <a:avLst/>
          </a:prstGeom>
        </p:spPr>
      </p:pic>
      <p:sp>
        <p:nvSpPr>
          <p:cNvPr id="15390" name="TextBox 15389"/>
          <p:cNvSpPr txBox="1"/>
          <p:nvPr/>
        </p:nvSpPr>
        <p:spPr>
          <a:xfrm>
            <a:off x="8746236" y="3584448"/>
            <a:ext cx="306781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19" b="1" i="0">
                <a:solidFill>
                  <a:srgbClr val="14181D"/>
                </a:solidFill>
                <a:latin typeface="Calibri"/>
              </a:rPr>
              <a:t>Deployable, not demo-ware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00" b="0" i="0">
                <a:solidFill>
                  <a:srgbClr val="5B6670"/>
                </a:solidFill>
                <a:latin typeface="Calibri"/>
              </a:rPr>
              <a:t>The model needs no GPU: 509 ms per tile on CPU. The viewer is one 15 MB HTML file, six scenes baked in, opening straight from disk.</a:t>
            </a:r>
          </a:p>
        </p:txBody>
      </p:sp>
      <p:cxnSp>
        <p:nvCxnSpPr>
          <p:cNvPr id="15391" name="Connector 15390"/>
          <p:cNvCxnSpPr/>
          <p:nvPr/>
        </p:nvCxnSpPr>
        <p:spPr>
          <a:xfrm>
            <a:off x="384048" y="4169663"/>
            <a:ext cx="1143000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2" name="TextBox 15391"/>
          <p:cNvSpPr txBox="1"/>
          <p:nvPr/>
        </p:nvSpPr>
        <p:spPr>
          <a:xfrm>
            <a:off x="384048" y="4242816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60" b="1" i="0">
                <a:solidFill>
                  <a:srgbClr val="14181D"/>
                </a:solidFill>
                <a:latin typeface="Calibri"/>
              </a:rPr>
              <a:t>Sikkim, India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20" b="0" i="0">
                <a:solidFill>
                  <a:srgbClr val="5B6670"/>
                </a:solidFill>
                <a:latin typeface="Calibri"/>
              </a:rPr>
              <a:t>967 m of relief across 2 km. Satellite image draped on the recovered surface; terrain from Copernicus GLO-30, everything standing on it is ours.</a:t>
            </a:r>
          </a:p>
        </p:txBody>
      </p:sp>
      <p:pic>
        <p:nvPicPr>
          <p:cNvPr id="15393" name="Picture 15392" descr="sikkim_hilly_cr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" y="4590288"/>
            <a:ext cx="3456432" cy="1645920"/>
          </a:xfrm>
          <a:prstGeom prst="rect">
            <a:avLst/>
          </a:prstGeom>
          <a:ln w="9525">
            <a:solidFill>
              <a:srgbClr val="D3D8DD"/>
            </a:solidFill>
          </a:ln>
        </p:spPr>
      </p:pic>
      <p:sp>
        <p:nvSpPr>
          <p:cNvPr id="15394" name="TextBox 15393"/>
          <p:cNvSpPr txBox="1"/>
          <p:nvPr/>
        </p:nvSpPr>
        <p:spPr>
          <a:xfrm>
            <a:off x="4096511" y="4242816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60" b="1" i="0">
                <a:solidFill>
                  <a:srgbClr val="14181D"/>
                </a:solidFill>
                <a:latin typeface="Calibri"/>
              </a:rPr>
              <a:t>Omaha, height above ground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20" b="0" i="0">
                <a:solidFill>
                  <a:srgbClr val="5B6670"/>
                </a:solidFill>
                <a:latin typeface="Calibri"/>
              </a:rPr>
              <a:t>The DSM itself. Flat roofs, tree crowns and kerb lines resolved at 0.3 m.</a:t>
            </a:r>
          </a:p>
        </p:txBody>
      </p:sp>
      <p:pic>
        <p:nvPicPr>
          <p:cNvPr id="15395" name="Picture 15394" descr="urban_height_cr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6511" y="4590288"/>
            <a:ext cx="3456432" cy="1645920"/>
          </a:xfrm>
          <a:prstGeom prst="rect">
            <a:avLst/>
          </a:prstGeom>
          <a:ln w="9525">
            <a:solidFill>
              <a:srgbClr val="D3D8DD"/>
            </a:solidFill>
          </a:ln>
        </p:spPr>
      </p:pic>
      <p:sp>
        <p:nvSpPr>
          <p:cNvPr id="15396" name="TextBox 15395"/>
          <p:cNvSpPr txBox="1"/>
          <p:nvPr/>
        </p:nvSpPr>
        <p:spPr>
          <a:xfrm>
            <a:off x="7808975" y="4242816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60" b="1" i="0">
                <a:solidFill>
                  <a:srgbClr val="14181D"/>
                </a:solidFill>
                <a:latin typeface="Calibri"/>
              </a:rPr>
              <a:t>Omaha, model confidence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20" b="0" i="0">
                <a:solidFill>
                  <a:srgbClr val="5B6670"/>
                </a:solidFill>
                <a:latin typeface="Calibri"/>
              </a:rPr>
              <a:t>Per-pixel sigma. The viewer states where the estimate is weak instead of hiding it.</a:t>
            </a:r>
          </a:p>
        </p:txBody>
      </p:sp>
      <p:pic>
        <p:nvPicPr>
          <p:cNvPr id="15397" name="Picture 15396" descr="urban_sigma_cr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8975" y="4590288"/>
            <a:ext cx="3456432" cy="1645920"/>
          </a:xfrm>
          <a:prstGeom prst="rect">
            <a:avLst/>
          </a:prstGeom>
          <a:ln w="9525">
            <a:solidFill>
              <a:srgbClr val="D3D8DD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15568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A monocular depth backbone re-purposed as a metric height regressor, with calibrated uncertainty and a browser renderer.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84048" y="1389888"/>
            <a:ext cx="11430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PIPELINE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384048" y="1572768"/>
            <a:ext cx="1143000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>
            <a:off x="475488" y="1865376"/>
            <a:ext cx="11247120" cy="0"/>
          </a:xfrm>
          <a:prstGeom prst="line">
            <a:avLst/>
          </a:prstGeom>
          <a:ln w="12700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Oval 17413"/>
          <p:cNvSpPr/>
          <p:nvPr/>
        </p:nvSpPr>
        <p:spPr>
          <a:xfrm>
            <a:off x="443484" y="1833372"/>
            <a:ext cx="64008" cy="64008"/>
          </a:xfrm>
          <a:prstGeom prst="ellipse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38912" y="1984248"/>
            <a:ext cx="151529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60" b="1" i="0">
                <a:solidFill>
                  <a:srgbClr val="14181D"/>
                </a:solidFill>
                <a:latin typeface="Calibri"/>
              </a:rPr>
              <a:t>Input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30" b="0" i="0">
                <a:solidFill>
                  <a:srgbClr val="5B6670"/>
                </a:solidFill>
                <a:latin typeface="Calibri"/>
              </a:rPr>
              <a:t>GeoTIFF, or plain
PNG / JPG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2050215" y="1833372"/>
            <a:ext cx="64008" cy="64008"/>
          </a:xfrm>
          <a:prstGeom prst="ellipse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2045643" y="1984248"/>
            <a:ext cx="151529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60" b="1" i="0">
                <a:solidFill>
                  <a:srgbClr val="14181D"/>
                </a:solidFill>
                <a:latin typeface="Calibri"/>
              </a:rPr>
              <a:t>GSD normalise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30" b="0" i="0">
                <a:solidFill>
                  <a:srgbClr val="5B6670"/>
                </a:solidFill>
                <a:latin typeface="Calibri"/>
              </a:rPr>
              <a:t>auto-zoom to a
0.3 m ground scale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3656946" y="1833372"/>
            <a:ext cx="64008" cy="64008"/>
          </a:xfrm>
          <a:prstGeom prst="ellipse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3652374" y="1984248"/>
            <a:ext cx="151529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60" b="1" i="0">
                <a:solidFill>
                  <a:srgbClr val="14181D"/>
                </a:solidFill>
                <a:latin typeface="Calibri"/>
              </a:rPr>
              <a:t>DA-V2 backbone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30" b="0" i="0">
                <a:solidFill>
                  <a:srgbClr val="5B6670"/>
                </a:solidFill>
                <a:latin typeface="Calibri"/>
              </a:rPr>
              <a:t>ViT encoder, DPT
neck, fine-tuned</a:t>
            </a:r>
          </a:p>
        </p:txBody>
      </p:sp>
      <p:sp>
        <p:nvSpPr>
          <p:cNvPr id="17420" name="Oval 17419"/>
          <p:cNvSpPr/>
          <p:nvPr/>
        </p:nvSpPr>
        <p:spPr>
          <a:xfrm>
            <a:off x="5263678" y="1833372"/>
            <a:ext cx="64008" cy="64008"/>
          </a:xfrm>
          <a:prstGeom prst="ellipse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259106" y="1984248"/>
            <a:ext cx="151529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60" b="1" i="0">
                <a:solidFill>
                  <a:srgbClr val="14181D"/>
                </a:solidFill>
                <a:latin typeface="Calibri"/>
              </a:rPr>
              <a:t>Dual head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30" b="0" i="0">
                <a:solidFill>
                  <a:srgbClr val="5B6670"/>
                </a:solidFill>
                <a:latin typeface="Calibri"/>
              </a:rPr>
              <a:t>height mu and
log-variance sigma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6870409" y="1833372"/>
            <a:ext cx="64008" cy="64008"/>
          </a:xfrm>
          <a:prstGeom prst="ellipse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865837" y="1984248"/>
            <a:ext cx="151529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60" b="1" i="0">
                <a:solidFill>
                  <a:srgbClr val="14181D"/>
                </a:solidFill>
                <a:latin typeface="Calibri"/>
              </a:rPr>
              <a:t>Tiled inference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30" b="0" i="0">
                <a:solidFill>
                  <a:srgbClr val="5B6670"/>
                </a:solidFill>
                <a:latin typeface="Calibri"/>
              </a:rPr>
              <a:t>518 px sliding
window, plus TTA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8477141" y="1833372"/>
            <a:ext cx="64008" cy="64008"/>
          </a:xfrm>
          <a:prstGeom prst="ellipse">
            <a:avLst/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8472569" y="1984248"/>
            <a:ext cx="151529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60" b="1" i="0">
                <a:solidFill>
                  <a:srgbClr val="14181D"/>
                </a:solidFill>
                <a:latin typeface="Calibri"/>
              </a:rPr>
              <a:t>Scale anchor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30" b="0" i="0">
                <a:solidFill>
                  <a:srgbClr val="5B6670"/>
                </a:solidFill>
                <a:latin typeface="Calibri"/>
              </a:rPr>
              <a:t>GLO-30 DEM or
ground control</a:t>
            </a:r>
          </a:p>
        </p:txBody>
      </p:sp>
      <p:sp>
        <p:nvSpPr>
          <p:cNvPr id="17426" name="Oval 17425"/>
          <p:cNvSpPr/>
          <p:nvPr/>
        </p:nvSpPr>
        <p:spPr>
          <a:xfrm>
            <a:off x="10083872" y="1833372"/>
            <a:ext cx="64008" cy="64008"/>
          </a:xfrm>
          <a:prstGeom prst="ellipse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10079300" y="1984248"/>
            <a:ext cx="1515291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60" b="1" i="0">
                <a:solidFill>
                  <a:srgbClr val="C1440E"/>
                </a:solidFill>
                <a:latin typeface="Calibri"/>
              </a:rPr>
              <a:t>DSM and viewer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730" b="0" i="0">
                <a:solidFill>
                  <a:srgbClr val="5B6670"/>
                </a:solidFill>
                <a:latin typeface="Calibri"/>
              </a:rPr>
              <a:t>GeoTIFF, sigma map,
three.js scene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6931152" y="2706624"/>
            <a:ext cx="0" cy="3529584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TextBox 17428"/>
          <p:cNvSpPr txBox="1"/>
          <p:nvPr/>
        </p:nvSpPr>
        <p:spPr>
          <a:xfrm>
            <a:off x="384048" y="2670048"/>
            <a:ext cx="6492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TECHNOLOGY STACK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384048" y="2852928"/>
            <a:ext cx="649224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31" name="Picture 17430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944368"/>
            <a:ext cx="274320" cy="274320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384048" y="3255263"/>
            <a:ext cx="1207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80" b="0" i="0">
                <a:solidFill>
                  <a:srgbClr val="14181D"/>
                </a:solidFill>
                <a:latin typeface="Calibri"/>
              </a:rPr>
              <a:t>Python 3.11</a:t>
            </a:r>
          </a:p>
        </p:txBody>
      </p:sp>
      <p:pic>
        <p:nvPicPr>
          <p:cNvPr id="17433" name="Picture 17432" descr="pyto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495" y="2944368"/>
            <a:ext cx="274320" cy="274320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1682495" y="3255263"/>
            <a:ext cx="1207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80" b="0" i="0">
                <a:solidFill>
                  <a:srgbClr val="14181D"/>
                </a:solidFill>
                <a:latin typeface="Calibri"/>
              </a:rPr>
              <a:t>PyTorch</a:t>
            </a:r>
          </a:p>
        </p:txBody>
      </p:sp>
      <p:pic>
        <p:nvPicPr>
          <p:cNvPr id="17435" name="Picture 17434" descr="huggingf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944" y="2944368"/>
            <a:ext cx="274320" cy="27432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2980944" y="3255263"/>
            <a:ext cx="1207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80" b="0" i="0">
                <a:solidFill>
                  <a:srgbClr val="14181D"/>
                </a:solidFill>
                <a:latin typeface="Calibri"/>
              </a:rPr>
              <a:t>Transformers</a:t>
            </a:r>
          </a:p>
        </p:txBody>
      </p:sp>
      <p:pic>
        <p:nvPicPr>
          <p:cNvPr id="17437" name="Picture 17436" descr="nump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2944368"/>
            <a:ext cx="274320" cy="274320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4279392" y="3255263"/>
            <a:ext cx="1207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80" b="0" i="0">
                <a:solidFill>
                  <a:srgbClr val="14181D"/>
                </a:solidFill>
                <a:latin typeface="Calibri"/>
              </a:rPr>
              <a:t>NumPy / SciPy</a:t>
            </a:r>
          </a:p>
        </p:txBody>
      </p:sp>
      <p:pic>
        <p:nvPicPr>
          <p:cNvPr id="17439" name="Picture 17438" descr="openc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2944368"/>
            <a:ext cx="274320" cy="274320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5577840" y="3255263"/>
            <a:ext cx="1207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80" b="0" i="0">
                <a:solidFill>
                  <a:srgbClr val="14181D"/>
                </a:solidFill>
                <a:latin typeface="Calibri"/>
              </a:rPr>
              <a:t>OpenCV</a:t>
            </a:r>
          </a:p>
        </p:txBody>
      </p:sp>
      <p:pic>
        <p:nvPicPr>
          <p:cNvPr id="17441" name="Picture 17440" descr="onn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" y="3602735"/>
            <a:ext cx="274320" cy="274320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384048" y="3913631"/>
            <a:ext cx="1207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80" b="0" i="0">
                <a:solidFill>
                  <a:srgbClr val="14181D"/>
                </a:solidFill>
                <a:latin typeface="Calibri"/>
              </a:rPr>
              <a:t>ONNX Runtime</a:t>
            </a:r>
          </a:p>
        </p:txBody>
      </p:sp>
      <p:pic>
        <p:nvPicPr>
          <p:cNvPr id="17443" name="Picture 17442" descr="threedotj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2495" y="3602735"/>
            <a:ext cx="274320" cy="274320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1682495" y="3913631"/>
            <a:ext cx="1207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80" b="0" i="0">
                <a:solidFill>
                  <a:srgbClr val="14181D"/>
                </a:solidFill>
                <a:latin typeface="Calibri"/>
              </a:rPr>
              <a:t>three.js r169</a:t>
            </a:r>
          </a:p>
        </p:txBody>
      </p:sp>
      <p:pic>
        <p:nvPicPr>
          <p:cNvPr id="17445" name="Picture 17444" descr="reac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80944" y="3602735"/>
            <a:ext cx="274320" cy="274320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2980944" y="3913631"/>
            <a:ext cx="1207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80" b="0" i="0">
                <a:solidFill>
                  <a:srgbClr val="14181D"/>
                </a:solidFill>
                <a:latin typeface="Calibri"/>
              </a:rPr>
              <a:t>Web UI</a:t>
            </a:r>
          </a:p>
        </p:txBody>
      </p:sp>
      <p:pic>
        <p:nvPicPr>
          <p:cNvPr id="17447" name="Picture 17446" descr="databas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9392" y="3602735"/>
            <a:ext cx="274320" cy="274320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4279392" y="3913631"/>
            <a:ext cx="1207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80" b="0" i="0">
                <a:solidFill>
                  <a:srgbClr val="14181D"/>
                </a:solidFill>
                <a:latin typeface="Calibri"/>
              </a:rPr>
              <a:t>GDAL / rasterio</a:t>
            </a:r>
          </a:p>
        </p:txBody>
      </p:sp>
      <p:pic>
        <p:nvPicPr>
          <p:cNvPr id="17449" name="Picture 17448" descr="dock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77840" y="3602735"/>
            <a:ext cx="274320" cy="274320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5577840" y="3913631"/>
            <a:ext cx="120700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80" b="0" i="0">
                <a:solidFill>
                  <a:srgbClr val="14181D"/>
                </a:solidFill>
                <a:latin typeface="Calibri"/>
              </a:rPr>
              <a:t>Docker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384048" y="4279392"/>
            <a:ext cx="649224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TextBox 17451"/>
          <p:cNvSpPr txBox="1"/>
          <p:nvPr/>
        </p:nvSpPr>
        <p:spPr>
          <a:xfrm>
            <a:off x="384048" y="4370831"/>
            <a:ext cx="6492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00" b="1" i="0">
                <a:solidFill>
                  <a:srgbClr val="5B6670"/>
                </a:solidFill>
                <a:latin typeface="Calibri"/>
              </a:rPr>
              <a:t>HOW IT IS VALIDATED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384048" y="4590288"/>
            <a:ext cx="6492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1" i="0">
                <a:solidFill>
                  <a:srgbClr val="14181D"/>
                </a:solidFill>
                <a:latin typeface="Calibri"/>
              </a:rPr>
              <a:t>Split   </a:t>
            </a:r>
            <a:r>
              <a:rPr sz="830" b="0" i="0">
                <a:solidFill>
                  <a:srgbClr val="5B6670"/>
                </a:solidFill>
                <a:latin typeface="Calibri"/>
              </a:rPr>
              <a:t>region-disjoint, not random. Adjacent tiles share buildings, so a random split leaks and flatters the score.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1" i="0">
                <a:solidFill>
                  <a:srgbClr val="14181D"/>
                </a:solidFill>
                <a:latin typeface="Calibri"/>
              </a:rPr>
              <a:t>Scored on   </a:t>
            </a:r>
            <a:r>
              <a:rPr sz="830" b="0" i="0">
                <a:solidFill>
                  <a:srgbClr val="5B6670"/>
                </a:solidFill>
                <a:latin typeface="Calibri"/>
              </a:rPr>
              <a:t>80 whole tiles, 11,983,760 valid pixels, 3,090 buildings. Whole tiles, not crops.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1" i="0">
                <a:solidFill>
                  <a:srgbClr val="14181D"/>
                </a:solidFill>
                <a:latin typeface="Calibri"/>
              </a:rPr>
              <a:t>Reported per   </a:t>
            </a:r>
            <a:r>
              <a:rPr sz="830" b="0" i="0">
                <a:solidFill>
                  <a:srgbClr val="5B6670"/>
                </a:solidFill>
                <a:latin typeface="Calibri"/>
              </a:rPr>
              <a:t>urban / sparse / forested / mixed, plus per-building and per-height-band breakdowns.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30" b="1" i="0">
                <a:solidFill>
                  <a:srgbClr val="14181D"/>
                </a:solidFill>
                <a:latin typeface="Calibri"/>
              </a:rPr>
              <a:t>Held back   </a:t>
            </a:r>
            <a:r>
              <a:rPr sz="830" b="0" i="0">
                <a:solidFill>
                  <a:srgbClr val="5B6670"/>
                </a:solidFill>
                <a:latin typeface="Calibri"/>
              </a:rPr>
              <a:t>the test split is untouched until the very end, and holds one building above 30 m, so it will flatter us. We will say so.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7242048" y="267004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DECISIONS, AND WHY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7242048" y="2852928"/>
            <a:ext cx="457200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TextBox 17455"/>
          <p:cNvSpPr txBox="1"/>
          <p:nvPr/>
        </p:nvSpPr>
        <p:spPr>
          <a:xfrm>
            <a:off x="7242048" y="29032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1" i="0">
                <a:solidFill>
                  <a:srgbClr val="2C4A63"/>
                </a:solidFill>
                <a:latin typeface="Calibri"/>
              </a:rPr>
              <a:t>01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7571231" y="2944368"/>
            <a:ext cx="4242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60" b="1" i="0">
                <a:solidFill>
                  <a:srgbClr val="14181D"/>
                </a:solidFill>
                <a:latin typeface="Calibri"/>
              </a:rPr>
              <a:t>The head was chosen by measurement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Binned and head-tail-cut heads were both trained and scored. All three land at a 0.43-0.49 slope, so the simplest ships.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7242048" y="36896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1" i="0">
                <a:solidFill>
                  <a:srgbClr val="2C4A63"/>
                </a:solidFill>
                <a:latin typeface="Calibri"/>
              </a:rPr>
              <a:t>02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571231" y="3730752"/>
            <a:ext cx="4242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60" b="1" i="0">
                <a:solidFill>
                  <a:srgbClr val="14181D"/>
                </a:solidFill>
                <a:latin typeface="Calibri"/>
              </a:rPr>
              <a:t>Uncertainty is calibrated, not decorative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ECE 0.077, sigma-vs-error rank correlation +0.829 on held-out tiles.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7242048" y="44759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1" i="0">
                <a:solidFill>
                  <a:srgbClr val="2C4A63"/>
                </a:solidFill>
                <a:latin typeface="Calibri"/>
              </a:rPr>
              <a:t>03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7571231" y="4517136"/>
            <a:ext cx="4242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60" b="1" i="0">
                <a:solidFill>
                  <a:srgbClr val="14181D"/>
                </a:solidFill>
                <a:latin typeface="Calibri"/>
              </a:rPr>
              <a:t>Export is checked, not assumed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ONNX agrees with PyTorch to 0.0010 cm over 804,972 inputs. int8 costs 0.161 m for a 63% smaller file.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7242048" y="52623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1" i="0">
                <a:solidFill>
                  <a:srgbClr val="2C4A63"/>
                </a:solidFill>
                <a:latin typeface="Calibri"/>
              </a:rPr>
              <a:t>04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7571231" y="5303520"/>
            <a:ext cx="42428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60" b="1" i="0">
                <a:solidFill>
                  <a:srgbClr val="14181D"/>
                </a:solidFill>
                <a:latin typeface="Calibri"/>
              </a:rPr>
              <a:t>Resolution is handled explicitly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auto-zoom reads GSD from metadata and resamples, recovering all but 3.6% of the coarse-input penalty.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384048" y="5431536"/>
            <a:ext cx="649224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5" name="TextBox 17464"/>
          <p:cNvSpPr txBox="1"/>
          <p:nvPr/>
        </p:nvSpPr>
        <p:spPr>
          <a:xfrm>
            <a:off x="384048" y="5522976"/>
            <a:ext cx="6492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00" b="1" i="0">
                <a:solidFill>
                  <a:srgbClr val="5B6670"/>
                </a:solidFill>
                <a:latin typeface="Calibri"/>
              </a:rPr>
              <a:t>WHAT SHIPS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384048" y="5724144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4181D"/>
                </a:solidFill>
                <a:latin typeface="Calibri"/>
              </a:rPr>
              <a:t>An elevation module</a:t>
            </a:r>
            <a:r>
              <a:rPr sz="860" b="0" i="0">
                <a:solidFill>
                  <a:srgbClr val="5B6670"/>
                </a:solidFill>
                <a:latin typeface="Calibri"/>
              </a:rPr>
              <a:t> emitting a GeoTIFF DSM plus a per-pixel sigma map, and </a:t>
            </a:r>
            <a:r>
              <a:rPr sz="860" b="1" i="0">
                <a:solidFill>
                  <a:srgbClr val="14181D"/>
                </a:solidFill>
                <a:latin typeface="Calibri"/>
              </a:rPr>
              <a:t>a viewer</a:t>
            </a:r>
            <a:r>
              <a:rPr sz="860" b="0" i="0">
                <a:solidFill>
                  <a:srgbClr val="5B6670"/>
                </a:solidFill>
                <a:latin typeface="Calibri"/>
              </a:rPr>
              <a:t> that opens it, flies through it, and checks a height against reference data. Both run with no GPU and no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15568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The feasibility question is already answered: the system exists. What follows is where it is strong, and where it is not.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5998464" y="1517904"/>
            <a:ext cx="0" cy="466344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384048" y="1408176"/>
            <a:ext cx="5532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ACCURACY ACROSS THE FOUR LANDSCAPES ISRO NAMES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384048" y="1591056"/>
            <a:ext cx="553212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14" name="Picture 17413" descr="ter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664208"/>
            <a:ext cx="3584448" cy="1712570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384048" y="3419856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 i="0">
                <a:solidFill>
                  <a:srgbClr val="14181D"/>
                </a:solidFill>
                <a:latin typeface="Calibri"/>
              </a:rPr>
              <a:t>Three of four classes sit under 3.4 m</a:t>
            </a:r>
            <a:r>
              <a:rPr sz="860" b="0" i="0">
                <a:solidFill>
                  <a:srgbClr val="5B6670"/>
                </a:solidFill>
                <a:latin typeface="Calibri"/>
              </a:rPr>
              <a:t>, and correlation never drops below +0.58. The fourth is the honest problem, and it is one specific thing.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84048" y="3785615"/>
            <a:ext cx="5532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URBAN 13.86 M, DECOMPOSED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384048" y="3968496"/>
            <a:ext cx="553212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384048" y="4059935"/>
            <a:ext cx="5532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 i="0">
                <a:solidFill>
                  <a:srgbClr val="C1440E"/>
                </a:solidFill>
                <a:latin typeface="Calibri"/>
              </a:rPr>
              <a:t>79% of all squared error comes from 1.9% of the buildings.</a:t>
            </a:r>
            <a:r>
              <a:rPr sz="840" b="0" i="0">
                <a:solidFill>
                  <a:srgbClr val="5B6670"/>
                </a:solidFill>
                <a:latin typeface="Calibri"/>
              </a:rPr>
              <a:t>  Under 10 m, which is 94% of the stock, we are at 1.4 m. Urban RMSE is not a city problem: it is 60 tall buildings dominating a squared metric.</a:t>
            </a:r>
          </a:p>
        </p:txBody>
      </p:sp>
      <p:pic>
        <p:nvPicPr>
          <p:cNvPr id="17419" name="Picture 17418" descr="error_by_he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425696"/>
            <a:ext cx="4617720" cy="1839873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6327648" y="1408176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THE TWO REAL RISKS, AND WHAT ANSWERS THEM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6327648" y="1591056"/>
            <a:ext cx="548640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6327648" y="16413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1" i="0">
                <a:solidFill>
                  <a:srgbClr val="C1440E"/>
                </a:solidFill>
                <a:latin typeface="Calibri"/>
              </a:rPr>
              <a:t>01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656832" y="1682496"/>
            <a:ext cx="51572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60" b="1" i="0">
                <a:solidFill>
                  <a:srgbClr val="14181D"/>
                </a:solidFill>
                <a:latin typeface="Calibri"/>
              </a:rPr>
              <a:t>No Indian ground truth exists to validate against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Our only Indian check is Sikkim against Google Open Buildings: bias -6.94 m on 168 confident footprints. That is model-vs-model agreement, not accuracy, and we report it as such. Cartosat at 0.25-2.5 m is a priced product; free LISS-4 at 5.8 m spans a building in 2-3 pixels. No public Indian scene carries LiDAR truth. This is the honest limit of what we can claim today.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327648" y="30312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300" b="1" i="0">
                <a:solidFill>
                  <a:srgbClr val="C1440E"/>
                </a:solidFill>
                <a:latin typeface="Calibri"/>
              </a:rPr>
              <a:t>02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656832" y="3072384"/>
            <a:ext cx="515721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60" b="1" i="0">
                <a:solidFill>
                  <a:srgbClr val="14181D"/>
                </a:solidFill>
                <a:latin typeface="Calibri"/>
              </a:rPr>
              <a:t>Tall buildings compress toward the mean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Proven to be a data problem, not an architecture one: training tops out at 82.8 m while validation reaches 155.3 m, and fine-tuning on the few tall buildings we have moved transfer bias the wrong way (-18.22 to -19.10 m). Answered by a power-law control-point fit that cuts tall-tile RMSE 24.9%, and structurally by adding tall-building LiDAR.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6327648" y="4334256"/>
            <a:ext cx="548640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6327648" y="444398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00" b="1" i="0">
                <a:solidFill>
                  <a:srgbClr val="5B6670"/>
                </a:solidFill>
                <a:latin typeface="Calibri"/>
              </a:rPr>
              <a:t>WHAT REDUCES THE INDIAN-DOMAIN RISK BEFORE WE HAVE THE DATA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327648" y="466344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1" i="0">
                <a:solidFill>
                  <a:srgbClr val="14181D"/>
                </a:solidFill>
                <a:latin typeface="Calibri"/>
              </a:rPr>
              <a:t>Resolution   </a:t>
            </a:r>
            <a:r>
              <a:rPr sz="819" b="0" i="0">
                <a:solidFill>
                  <a:srgbClr val="5B6670"/>
                </a:solidFill>
                <a:latin typeface="Calibri"/>
              </a:rPr>
              <a:t>auto-zoom normalises GSD; measured to recover all but 3.6%.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1" i="0">
                <a:solidFill>
                  <a:srgbClr val="14181D"/>
                </a:solidFill>
                <a:latin typeface="Calibri"/>
              </a:rPr>
              <a:t>Look angle   </a:t>
            </a:r>
            <a:r>
              <a:rPr sz="819" b="0" i="0">
                <a:solidFill>
                  <a:srgbClr val="5B6670"/>
                </a:solidFill>
                <a:latin typeface="Calibri"/>
              </a:rPr>
              <a:t>off-nadir spans 4.8-28.9 degrees in DFC, so degradation vs view angle is measurable on data we already hold.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1" i="0">
                <a:solidFill>
                  <a:srgbClr val="14181D"/>
                </a:solidFill>
                <a:latin typeface="Calibri"/>
              </a:rPr>
              <a:t>Terrain   </a:t>
            </a:r>
            <a:r>
              <a:rPr sz="819" b="0" i="0">
                <a:solidFill>
                  <a:srgbClr val="5B6670"/>
                </a:solidFill>
                <a:latin typeface="Calibri"/>
              </a:rPr>
              <a:t>leakage ruled out. On 31-degree slopes, height-vs-slope correlation is -0.044.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 b="1" i="0">
                <a:solidFill>
                  <a:srgbClr val="14181D"/>
                </a:solidFill>
                <a:latin typeface="Calibri"/>
              </a:rPr>
              <a:t>Licensing   </a:t>
            </a:r>
            <a:r>
              <a:rPr sz="819" b="0" i="0">
                <a:solidFill>
                  <a:srgbClr val="5B6670"/>
                </a:solidFill>
                <a:latin typeface="Calibri"/>
              </a:rPr>
              <a:t>every dependency is free and open, so nothing blocks deployment on ISRO's own imagery once access exists.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15568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Height is the missing dimension in India's satellite archive. Recovering it from imagery that already exists is the whole point.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84048" y="1408176"/>
            <a:ext cx="11430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WHO IT SERVES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384048" y="1591056"/>
            <a:ext cx="1143000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13" name="Picture 17412" descr="satell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719072"/>
            <a:ext cx="256032" cy="25603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384048" y="2048256"/>
            <a:ext cx="19751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40" b="1" i="0">
                <a:solidFill>
                  <a:srgbClr val="14181D"/>
                </a:solidFill>
                <a:latin typeface="Calibri"/>
              </a:rPr>
              <a:t>ISRO and SAC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90" b="0" i="0">
                <a:solidFill>
                  <a:srgbClr val="5B6670"/>
                </a:solidFill>
                <a:latin typeface="Calibri"/>
              </a:rPr>
              <a:t>Height from single-view Cartosat archives with no new acquisition.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2523744" y="1700784"/>
            <a:ext cx="0" cy="896112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16" name="Picture 17415" descr="building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048" y="1719072"/>
            <a:ext cx="256032" cy="256032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2670048" y="2048256"/>
            <a:ext cx="19751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40" b="1" i="0">
                <a:solidFill>
                  <a:srgbClr val="14181D"/>
                </a:solidFill>
                <a:latin typeface="Calibri"/>
              </a:rPr>
              <a:t>Urban planning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90" b="0" i="0">
                <a:solidFill>
                  <a:srgbClr val="5B6670"/>
                </a:solidFill>
                <a:latin typeface="Calibri"/>
              </a:rPr>
              <a:t>Building heights for FSI checks, sky-view and shadow studies under AMRUT.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4809744" y="1700784"/>
            <a:ext cx="0" cy="896112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19" name="Picture 17418" descr="sir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1719072"/>
            <a:ext cx="256032" cy="256032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4956048" y="2048256"/>
            <a:ext cx="19751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40" b="1" i="0">
                <a:solidFill>
                  <a:srgbClr val="14181D"/>
                </a:solidFill>
                <a:latin typeface="Calibri"/>
              </a:rPr>
              <a:t>Disaster response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90" b="0" i="0">
                <a:solidFill>
                  <a:srgbClr val="5B6670"/>
                </a:solidFill>
                <a:latin typeface="Calibri"/>
              </a:rPr>
              <a:t>Rapid post-event surface models where a stereo pair cannot be waited for.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7095744" y="1700784"/>
            <a:ext cx="0" cy="896112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22" name="Picture 17421" descr="radio-tow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1719072"/>
            <a:ext cx="256032" cy="256032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7242048" y="2048256"/>
            <a:ext cx="19751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40" b="1" i="0">
                <a:solidFill>
                  <a:srgbClr val="14181D"/>
                </a:solidFill>
                <a:latin typeface="Calibri"/>
              </a:rPr>
              <a:t>Telecom rollout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90" b="0" i="0">
                <a:solidFill>
                  <a:srgbClr val="5B6670"/>
                </a:solidFill>
                <a:latin typeface="Calibri"/>
              </a:rPr>
              <a:t>Line-of-sight and tower siting from imagery rather than costly LiDAR survey.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9381744" y="1700784"/>
            <a:ext cx="0" cy="896112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25" name="Picture 17424" descr="le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048" y="1719072"/>
            <a:ext cx="256032" cy="256032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9528048" y="2048256"/>
            <a:ext cx="19751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940" b="1" i="0">
                <a:solidFill>
                  <a:srgbClr val="14181D"/>
                </a:solidFill>
                <a:latin typeface="Calibri"/>
              </a:rPr>
              <a:t>Forestry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90" b="0" i="0">
                <a:solidFill>
                  <a:srgbClr val="5B6670"/>
                </a:solidFill>
                <a:latin typeface="Calibri"/>
              </a:rPr>
              <a:t>Canopy height proxies for biomass estimation and encroachment monitoring.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84048" y="2816352"/>
            <a:ext cx="11430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BENEFITS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384048" y="2999232"/>
            <a:ext cx="1143000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TextBox 17428"/>
          <p:cNvSpPr txBox="1"/>
          <p:nvPr/>
        </p:nvSpPr>
        <p:spPr>
          <a:xfrm>
            <a:off x="384048" y="3090672"/>
            <a:ext cx="34076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 b="1" i="0">
                <a:solidFill>
                  <a:srgbClr val="C1440E"/>
                </a:solidFill>
                <a:latin typeface="Calibri"/>
              </a:rPr>
              <a:t>Economic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84048" y="3364991"/>
            <a:ext cx="340766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One image replaces a stereo pair: half the acquisition, none of the revisit wait.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No GPU procurement. The quantised model runs on a field laptop.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Existing archives gain a new product without re-flying anything.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3992880" y="3108960"/>
            <a:ext cx="0" cy="146304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TextBox 17431"/>
          <p:cNvSpPr txBox="1"/>
          <p:nvPr/>
        </p:nvSpPr>
        <p:spPr>
          <a:xfrm>
            <a:off x="4194048" y="3090672"/>
            <a:ext cx="34076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 b="1" i="0">
                <a:solidFill>
                  <a:srgbClr val="C1440E"/>
                </a:solidFill>
                <a:latin typeface="Calibri"/>
              </a:rPr>
              <a:t>Social and civic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194048" y="3364991"/>
            <a:ext cx="340766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Planners and municipal bodies get building heights with no survey budget.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Disaster teams get a surface model in minutes, with its uncertainty shown rather than hidden.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Open, free dependencies keep it adoptable by any state agency.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7802880" y="3108960"/>
            <a:ext cx="0" cy="146304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TextBox 17434"/>
          <p:cNvSpPr txBox="1"/>
          <p:nvPr/>
        </p:nvSpPr>
        <p:spPr>
          <a:xfrm>
            <a:off x="8004048" y="3090672"/>
            <a:ext cx="34076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40" b="1" i="0">
                <a:solidFill>
                  <a:srgbClr val="C1440E"/>
                </a:solidFill>
                <a:latin typeface="Calibri"/>
              </a:rPr>
              <a:t>Environmental and strategic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004048" y="3364991"/>
            <a:ext cx="340766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Canopy and biomass proxies from imagery already being collected.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No new flights means no additional survey emissions.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30" b="0" i="0">
                <a:solidFill>
                  <a:srgbClr val="5B6670"/>
                </a:solidFill>
                <a:latin typeface="Calibri"/>
              </a:rPr>
              <a:t>Reduces dependence on foreign commercial elevation products.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384048" y="4846320"/>
            <a:ext cx="1143000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TextBox 17437"/>
          <p:cNvSpPr txBox="1"/>
          <p:nvPr/>
        </p:nvSpPr>
        <p:spPr>
          <a:xfrm>
            <a:off x="384048" y="495604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2300" b="0" i="0">
                <a:solidFill>
                  <a:srgbClr val="C1440E"/>
                </a:solidFill>
                <a:latin typeface="Calibri"/>
              </a:rPr>
              <a:t>1</a:t>
            </a:r>
            <a:r>
              <a:rPr sz="966" b="0" i="0">
                <a:solidFill>
                  <a:srgbClr val="C1440E"/>
                </a:solidFill>
                <a:latin typeface="Calibri"/>
              </a:rPr>
              <a:t> image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384048" y="535838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670"/>
                </a:solidFill>
                <a:latin typeface="Calibri"/>
              </a:rPr>
              <a:t>input needed, where stereo
photogrammetry needs two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264408" y="495604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2300" b="0" i="0">
                <a:solidFill>
                  <a:srgbClr val="C1440E"/>
                </a:solidFill>
                <a:latin typeface="Calibri"/>
              </a:rPr>
              <a:t>0</a:t>
            </a:r>
            <a:r>
              <a:rPr sz="966" b="0" i="0">
                <a:solidFill>
                  <a:srgbClr val="C1440E"/>
                </a:solidFill>
                <a:latin typeface="Calibri"/>
              </a:rPr>
              <a:t> GPUs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3264408" y="535838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670"/>
                </a:solidFill>
                <a:latin typeface="Calibri"/>
              </a:rPr>
              <a:t>509 ms per tile on an
ordinary laptop CPU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144768" y="495604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2300" b="0" i="0">
                <a:solidFill>
                  <a:srgbClr val="C1440E"/>
                </a:solidFill>
                <a:latin typeface="Calibri"/>
              </a:rPr>
              <a:t>36.8</a:t>
            </a:r>
            <a:r>
              <a:rPr sz="966" b="0" i="0">
                <a:solidFill>
                  <a:srgbClr val="C1440E"/>
                </a:solidFill>
                <a:latin typeface="Calibri"/>
              </a:rPr>
              <a:t> MB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144768" y="535838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670"/>
                </a:solidFill>
                <a:latin typeface="Calibri"/>
              </a:rPr>
              <a:t>the entire model, quantised
and running offline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9025128" y="495604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2300" b="0" i="0">
                <a:solidFill>
                  <a:srgbClr val="C1440E"/>
                </a:solidFill>
                <a:latin typeface="Calibri"/>
              </a:rPr>
              <a:t>4</a:t>
            </a:r>
            <a:r>
              <a:rPr sz="966" b="0" i="0">
                <a:solidFill>
                  <a:srgbClr val="C1440E"/>
                </a:solidFill>
                <a:latin typeface="Calibri"/>
              </a:rPr>
              <a:t> terrains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9025128" y="535838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B6670"/>
                </a:solidFill>
                <a:latin typeface="Calibri"/>
              </a:rPr>
              <a:t>scored separately rather than
averaged into one number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01968"/>
            <a:ext cx="12191999" cy="2560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601968"/>
            <a:ext cx="2844800" cy="256032"/>
          </a:xfrm>
        </p:spPr>
        <p:txBody>
          <a:bodyPr anchor="ctr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 Up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15568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Each item below changed what we built. The note beside it says how.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84048" y="1408176"/>
            <a:ext cx="33710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RESEARCH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384048" y="1609344"/>
            <a:ext cx="3371088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TextBox 17412"/>
          <p:cNvSpPr txBox="1"/>
          <p:nvPr/>
        </p:nvSpPr>
        <p:spPr>
          <a:xfrm>
            <a:off x="384048" y="1737360"/>
            <a:ext cx="337108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Depth Anything V2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Yang et al., NeurIPS 2024. The backbone we fine-tune. arxiv.org/abs/2406.09414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HTC-DC Net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Chen et al., IEEE TGRS 2023. Head-tail cut and distribution constraints. arxiv.org/abs/2309.16486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Depth Any Canopy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Ouaknine et al., 2024. The published recipe for adapting Depth Anything to aerial height.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Beta-NLL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Seitzer et al., ICLR 2022. Keeps the mean head learning under a heteroscedastic loss. arxiv.org/abs/2203.09168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IM2HEIGHT, TSE-Net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Prior single-view height estimation. Our baseline for what the field already achieves.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3974592" y="1408176"/>
            <a:ext cx="0" cy="2615184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TextBox 17414"/>
          <p:cNvSpPr txBox="1"/>
          <p:nvPr/>
        </p:nvSpPr>
        <p:spPr>
          <a:xfrm>
            <a:off x="4194048" y="1408176"/>
            <a:ext cx="33710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DATA AND REFERENCE SURFACES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4194048" y="1609344"/>
            <a:ext cx="3371088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TextBox 17416"/>
          <p:cNvSpPr txBox="1"/>
          <p:nvPr/>
        </p:nvSpPr>
        <p:spPr>
          <a:xfrm>
            <a:off x="4194048" y="1737360"/>
            <a:ext cx="337108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IEEE GRSS DFC2019 Track 1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US3D, Jacksonville and Omaha at 0.3 m GSD with airborne LiDAR truth. Training and validation.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Copernicus GLO-30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Free 30 m global DEM, the absolute metric anchor. AWS Open Data.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GlobalBuildingAtlas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Published 5.9 m building-height RMSE over Asia. The external bar this work is measured against.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ISRO Bhoonidhi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bhoonidhi.nrsc.gov.in. Registered; CartoDEM 30 m and LISS-4 are the free tiers.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Google Open Buildings 2.5D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Sentinel-2 derived. Used only as a cross-check over India, never as truth.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7784592" y="1408176"/>
            <a:ext cx="0" cy="2615184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8004048" y="1408176"/>
            <a:ext cx="33710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C1440E"/>
                </a:solidFill>
                <a:latin typeface="Calibri"/>
              </a:rPr>
              <a:t>TRIED, MEASURED, REJECTED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8004048" y="1609344"/>
            <a:ext cx="3371088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8004048" y="1737360"/>
            <a:ext cx="337108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Ordinal / binned head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Trained and scored. All three heads land at a 0.43-0.49 slope. No gain over regression.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Shadow photogrammetry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Oracle shadows ray-cast from truth reach only r 0.503. The network already reaches r 0.787.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LDS tail reweighting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Premise fails here. Pixels above 20 m are 7.5% of building pixels but already carry 78.8% of error.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Two-model ensemble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Error correlation 0.925. The models make the same mistakes, so averaging buys nothing.</a:t>
            </a:r>
          </a:p>
          <a:p>
            <a:pPr algn="l">
              <a:lnSpc>
                <a:spcPct val="94000"/>
              </a:lnSpc>
              <a:spcAft>
                <a:spcPts val="100"/>
              </a:spcAft>
            </a:pPr>
            <a:r>
              <a:rPr sz="880" b="1" i="0">
                <a:solidFill>
                  <a:srgbClr val="14181D"/>
                </a:solidFill>
                <a:latin typeface="Calibri"/>
              </a:rPr>
              <a:t>Global de-compression</a:t>
            </a:r>
          </a:p>
          <a:p>
            <a:pPr algn="l">
              <a:lnSpc>
                <a:spcPct val="98000"/>
              </a:lnSpc>
              <a:spcAft>
                <a:spcPts val="900"/>
              </a:spcAft>
            </a:pPr>
            <a:r>
              <a:rPr sz="770" b="0" i="0">
                <a:solidFill>
                  <a:srgbClr val="5B6670"/>
                </a:solidFill>
                <a:latin typeface="Calibri"/>
              </a:rPr>
              <a:t>A linear rescale cannot change correlation by construction. It moves error, it does not remove it.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84048" y="4224528"/>
            <a:ext cx="11430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1" i="0">
                <a:solidFill>
                  <a:srgbClr val="5B6670"/>
                </a:solidFill>
                <a:latin typeface="Calibri"/>
              </a:rPr>
              <a:t>PROBES WE RAN, AND WHAT EACH ONE CLOSED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384048" y="4407408"/>
            <a:ext cx="11430000" cy="0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384048" y="4498848"/>
            <a:ext cx="197510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840" b="1" i="0">
                <a:solidFill>
                  <a:srgbClr val="C1440E"/>
                </a:solidFill>
                <a:latin typeface="Calibri"/>
              </a:rPr>
              <a:t>01  Tall-building supervision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0" i="0">
                <a:solidFill>
                  <a:srgbClr val="5B6670"/>
                </a:solidFill>
                <a:latin typeface="Calibri"/>
              </a:rPr>
              <a:t>Can more tall examples move the tail? No. Training holds 166 buildings above 30 m and tops out at 82.8 m; fine-tuning on them moved transfer bias the wrong way, -18.22 to -19.10 m.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2523744" y="4517136"/>
            <a:ext cx="0" cy="1188719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TextBox 17425"/>
          <p:cNvSpPr txBox="1"/>
          <p:nvPr/>
        </p:nvSpPr>
        <p:spPr>
          <a:xfrm>
            <a:off x="2670048" y="4498848"/>
            <a:ext cx="197510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840" b="1" i="0">
                <a:solidFill>
                  <a:srgbClr val="C1440E"/>
                </a:solidFill>
                <a:latin typeface="Calibri"/>
              </a:rPr>
              <a:t>03  Guided filtering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0" i="0">
                <a:solidFill>
                  <a:srgbClr val="5B6670"/>
                </a:solidFill>
                <a:latin typeface="Calibri"/>
              </a:rPr>
              <a:t>Can a post-process sharpen rounded roofs into blocks? No. Guided filtering and morphological toggle contrast each made every metric worse.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4809744" y="4517136"/>
            <a:ext cx="0" cy="1188719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TextBox 17427"/>
          <p:cNvSpPr txBox="1"/>
          <p:nvPr/>
        </p:nvSpPr>
        <p:spPr>
          <a:xfrm>
            <a:off x="4956048" y="4498848"/>
            <a:ext cx="197510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840" b="1" i="0">
                <a:solidFill>
                  <a:srgbClr val="C1440E"/>
                </a:solidFill>
                <a:latin typeface="Calibri"/>
              </a:rPr>
              <a:t>04  Where the detail went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0" i="0">
                <a:solidFill>
                  <a:srgbClr val="5B6670"/>
                </a:solidFill>
                <a:latin typeface="Calibri"/>
              </a:rPr>
              <a:t>What governs detail is the ground area one backbone token covers, not the post-process. That reframed the whole resolution question.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7095744" y="4517136"/>
            <a:ext cx="0" cy="1188719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TextBox 17429"/>
          <p:cNvSpPr txBox="1"/>
          <p:nvPr/>
        </p:nvSpPr>
        <p:spPr>
          <a:xfrm>
            <a:off x="7242048" y="4498848"/>
            <a:ext cx="197510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840" b="1" i="0">
                <a:solidFill>
                  <a:srgbClr val="C1440E"/>
                </a:solidFill>
                <a:latin typeface="Calibri"/>
              </a:rPr>
              <a:t>05  Evaluation resolution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0" i="0">
                <a:solidFill>
                  <a:srgbClr val="5B6670"/>
                </a:solidFill>
                <a:latin typeface="Calibri"/>
              </a:rPr>
              <a:t>Does the model survive Cartosat-class 0.6-1.0 m input? With auto-zoom, all but 3.6% of the coarse-input penalty is recovered.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9381744" y="4517136"/>
            <a:ext cx="0" cy="1188719"/>
          </a:xfrm>
          <a:prstGeom prst="line">
            <a:avLst/>
          </a:prstGeom>
          <a:ln w="9525">
            <a:solidFill>
              <a:srgbClr val="D3D8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TextBox 17431"/>
          <p:cNvSpPr txBox="1"/>
          <p:nvPr/>
        </p:nvSpPr>
        <p:spPr>
          <a:xfrm>
            <a:off x="9528048" y="4498848"/>
            <a:ext cx="197510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840" b="1" i="0">
                <a:solidFill>
                  <a:srgbClr val="C1440E"/>
                </a:solidFill>
                <a:latin typeface="Calibri"/>
              </a:rPr>
              <a:t>06  Height compression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750" b="0" i="0">
                <a:solidFill>
                  <a:srgbClr val="5B6670"/>
                </a:solidFill>
                <a:latin typeface="Calibri"/>
              </a:rPr>
              <a:t>Found by eye in the viewer, then measured: ours = 0.473 x truth + 2.66 m, and it cannot be corrected at inference time.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