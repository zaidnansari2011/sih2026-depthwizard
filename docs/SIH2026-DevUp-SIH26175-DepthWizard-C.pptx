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4.png"/><Relationship Id="rId14" Type="http://schemas.openxmlformats.org/officeDocument/2006/relationships/image" Target="../media/image5.png"/><Relationship Id="rId15" Type="http://schemas.openxmlformats.org/officeDocument/2006/relationships/image" Target="../media/image7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.png"/><Relationship Id="rId10" Type="http://schemas.openxmlformats.org/officeDocument/2006/relationships/image" Target="../media/image15.png"/><Relationship Id="rId11" Type="http://schemas.openxmlformats.org/officeDocument/2006/relationships/image" Target="../media/image14.png"/><Relationship Id="rId12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188720"/>
            <a:ext cx="5138928" cy="3255264"/>
          </a:xfrm>
          <a:prstGeom prst="roundRect">
            <a:avLst>
              <a:gd name="adj" fmla="val 2808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65760" y="1188720"/>
            <a:ext cx="5138928" cy="621792"/>
          </a:xfrm>
          <a:prstGeom prst="roundRect">
            <a:avLst>
              <a:gd name="adj" fmla="val 14705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8640" y="1298448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Franklin Gothic Demi"/>
              </a:rPr>
              <a:t>DEPTH</a:t>
            </a:r>
            <a:r>
              <a:rPr sz="2300" b="0" i="0">
                <a:solidFill>
                  <a:srgbClr val="D89E3C"/>
                </a:solidFill>
                <a:latin typeface="Franklin Gothic Demi"/>
              </a:rPr>
              <a:t>WIZARD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1938528"/>
            <a:ext cx="4773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A3540"/>
                </a:solidFill>
                <a:latin typeface="Segoe UI"/>
              </a:rPr>
              <a:t>One satellite image in, a measurable 3D surface out.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340864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96312" y="2313432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SIH26175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660904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PROBLEM STATEMENT TITLE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6312" y="2633472"/>
            <a:ext cx="2862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DepthWizard - Single-View Height Estimation and 3D Flythrough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15468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THEME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96312" y="312724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Disaster Management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47472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PS CATEGORY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96312" y="344728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Software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79476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TEAM 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96312" y="376732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47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11480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TEAM NAME (ON PORTAL)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96312" y="408736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Dev Up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590288"/>
            <a:ext cx="5138928" cy="310896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BUILT AND MEASURED, NOT PROPOSED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5029200"/>
            <a:ext cx="1639824" cy="896112"/>
          </a:xfrm>
          <a:prstGeom prst="roundRect">
            <a:avLst>
              <a:gd name="adj" fmla="val 7142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12064" y="5111496"/>
            <a:ext cx="138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3.67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" y="5449824"/>
            <a:ext cx="1383791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per-building RMSE
against airborne LiDAR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15311" y="5029200"/>
            <a:ext cx="1639824" cy="896112"/>
          </a:xfrm>
          <a:prstGeom prst="roundRect">
            <a:avLst>
              <a:gd name="adj" fmla="val 7142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261616" y="5111496"/>
            <a:ext cx="138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38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61616" y="5449824"/>
            <a:ext cx="1383791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better than the 5.9 m
GlobalBuildingAtlas bar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64864" y="5029200"/>
            <a:ext cx="1639824" cy="896112"/>
          </a:xfrm>
          <a:prstGeom prst="roundRect">
            <a:avLst>
              <a:gd name="adj" fmla="val 7142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011168" y="5111496"/>
            <a:ext cx="138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509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11168" y="5449824"/>
            <a:ext cx="1383791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per tile on CPU alone,
no GPU in the loop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053328"/>
            <a:ext cx="856488" cy="137160"/>
          </a:xfrm>
          <a:prstGeom prst="rect">
            <a:avLst/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222248" y="6053328"/>
            <a:ext cx="856488" cy="137160"/>
          </a:xfrm>
          <a:prstGeom prst="rect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2078736" y="6053328"/>
            <a:ext cx="856488" cy="137160"/>
          </a:xfrm>
          <a:prstGeom prst="rect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2935224" y="6053328"/>
            <a:ext cx="856488" cy="137160"/>
          </a:xfrm>
          <a:prstGeom prst="rect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791712" y="6053328"/>
            <a:ext cx="856488" cy="137160"/>
          </a:xfrm>
          <a:prstGeom prst="rect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4648200" y="6053328"/>
            <a:ext cx="856488" cy="13716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65760" y="6254496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The palette is the model's own output scale: 0 m at the left, 155 m at the right.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691640" y="256032"/>
            <a:ext cx="7955279" cy="768096"/>
          </a:xfrm>
          <a:prstGeom prst="roundRect">
            <a:avLst>
              <a:gd name="adj" fmla="val 11904"/>
            </a:avLst>
          </a:prstGeom>
          <a:solidFill>
            <a:srgbClr val="ECF1F5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92808" y="402336"/>
            <a:ext cx="2651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500" b="0" i="0">
                <a:solidFill>
                  <a:srgbClr val="0E2A3F"/>
                </a:solidFill>
                <a:latin typeface="Franklin Gothic Demi"/>
              </a:rPr>
              <a:t>DEPTH</a:t>
            </a:r>
            <a:r>
              <a:rPr sz="2500" b="0" i="0">
                <a:solidFill>
                  <a:srgbClr val="C1440E"/>
                </a:solidFill>
                <a:latin typeface="Franklin Gothic Demi"/>
              </a:rPr>
              <a:t>WIZARD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02336"/>
            <a:ext cx="18288" cy="493776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27448" y="384048"/>
            <a:ext cx="47000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"/>
              </a:rPr>
              <a:t>One satellite image in, a measurable 3D surface out. </a:t>
            </a:r>
            <a:r>
              <a:rPr sz="1250" b="1" i="0">
                <a:solidFill>
                  <a:srgbClr val="C1440E"/>
                </a:solidFill>
                <a:latin typeface="Segoe UI"/>
              </a:rPr>
              <a:t>Every submission promises accuracy. This one reports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115568"/>
            <a:ext cx="393192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THE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115568"/>
            <a:ext cx="7251192" cy="310896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OUR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499616"/>
            <a:ext cx="3931920" cy="2670048"/>
          </a:xfrm>
          <a:prstGeom prst="roundRect">
            <a:avLst>
              <a:gd name="adj" fmla="val 3424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57200" y="1591056"/>
            <a:ext cx="3749039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8640" y="1700784"/>
            <a:ext cx="347472" cy="310896"/>
          </a:xfrm>
          <a:prstGeom prst="roundRect">
            <a:avLst>
              <a:gd name="adj" fmla="val 14705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167335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Archives with no height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1911095"/>
            <a:ext cx="316382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Decades of Cartosat single-view imagery exist. Stereo and LiDAR cannot be flown into the past.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50591"/>
            <a:ext cx="3749039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48640" y="2560320"/>
            <a:ext cx="347472" cy="310896"/>
          </a:xfrm>
          <a:prstGeom prst="roundRect">
            <a:avLst>
              <a:gd name="adj" fmla="val 14705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532887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Answers with no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2770632"/>
            <a:ext cx="316382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Single-view height is ill-posed. One number implies a certainty the model does not have.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10128"/>
            <a:ext cx="3749039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48640" y="3419856"/>
            <a:ext cx="347472" cy="310896"/>
          </a:xfrm>
          <a:prstGeom prst="roundRect">
            <a:avLst>
              <a:gd name="adj" fmla="val 14705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3392424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Checkpoints are not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630168"/>
            <a:ext cx="316382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The literature ships weights and an eval script. An analyst needs a scene they can open and check.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1499616"/>
            <a:ext cx="7251192" cy="2670048"/>
          </a:xfrm>
          <a:prstGeom prst="roundRect">
            <a:avLst>
              <a:gd name="adj" fmla="val 3424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663440" y="1591056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3" name="Oval 32"/>
          <p:cNvSpPr/>
          <p:nvPr/>
        </p:nvSpPr>
        <p:spPr>
          <a:xfrm>
            <a:off x="4754879" y="1664208"/>
            <a:ext cx="438912" cy="438912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34" name="Picture 33" descr="image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218" y="1769546"/>
            <a:ext cx="228234" cy="2282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66944" y="173736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One image to a metric DSM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5" y="219456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Depth Anything V2 fine-tuned on DFC2019 + GAMUS LiDAR. GeoTIFF out, metadata or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6120" y="1591056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8" name="Oval 37"/>
          <p:cNvSpPr/>
          <p:nvPr/>
        </p:nvSpPr>
        <p:spPr>
          <a:xfrm>
            <a:off x="7147560" y="1664208"/>
            <a:ext cx="438912" cy="438912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39" name="Picture 38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898" y="1769546"/>
            <a:ext cx="228234" cy="22823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59624" y="173736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Confidence, not just height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84136" y="219456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A per-pixel sigma beside every height. Where it says unsure, it is wrong — monotonically.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8799" y="1591056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3" name="Oval 42"/>
          <p:cNvSpPr/>
          <p:nvPr/>
        </p:nvSpPr>
        <p:spPr>
          <a:xfrm>
            <a:off x="9540239" y="1664208"/>
            <a:ext cx="438912" cy="438912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44" name="Picture 43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5578" y="1769546"/>
            <a:ext cx="228234" cy="2282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052303" y="173736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 navigable 3D scene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6816" y="219456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three.js flythrough, drag-to-compare against reference, and a live error map.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2871215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8" name="Oval 47"/>
          <p:cNvSpPr/>
          <p:nvPr/>
        </p:nvSpPr>
        <p:spPr>
          <a:xfrm>
            <a:off x="4754879" y="2944368"/>
            <a:ext cx="438912" cy="438912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49" name="Picture 48" descr="rul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218" y="3049706"/>
            <a:ext cx="228234" cy="22823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266944" y="301752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Validation inside the 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1455" y="347472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RMSE, MAE and correlation against LiDAR — per terrain class, not one flattering average.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56120" y="2871215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3" name="Oval 52"/>
          <p:cNvSpPr/>
          <p:nvPr/>
        </p:nvSpPr>
        <p:spPr>
          <a:xfrm>
            <a:off x="7147560" y="2944368"/>
            <a:ext cx="438912" cy="438912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54" name="Picture 53" descr="map-pinn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2898" y="3049706"/>
            <a:ext cx="228234" cy="22823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59624" y="301752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Absolute heights, two ways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84136" y="347472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Copernicus GLO-30, or ground control points via a power-law fit.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48799" y="2871215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8" name="Oval 57"/>
          <p:cNvSpPr/>
          <p:nvPr/>
        </p:nvSpPr>
        <p:spPr>
          <a:xfrm>
            <a:off x="9540239" y="2944368"/>
            <a:ext cx="438912" cy="438912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59" name="Picture 58" descr="wifi-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5578" y="3049706"/>
            <a:ext cx="228234" cy="2282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052303" y="301752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Deployable, not demo-ware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6816" y="347472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No GPU: 536 ms per tile. The viewer is one 15 MB HTML file that opens from disk.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4242816"/>
            <a:ext cx="11457432" cy="274320"/>
          </a:xfrm>
          <a:prstGeom prst="roundRect">
            <a:avLst>
              <a:gd name="adj" fmla="val 50000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PRODUCT, RUNNING — CAPTURES OF THE LIVE VIEWER, NOT MOCK-UPS</a:t>
            </a:r>
          </a:p>
        </p:txBody>
      </p:sp>
      <p:pic>
        <p:nvPicPr>
          <p:cNvPr id="63" name="Picture 62" descr="sikkim_hilly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4590288"/>
            <a:ext cx="3648456" cy="1719072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64" name="Rounded Rectangle 63"/>
          <p:cNvSpPr/>
          <p:nvPr/>
        </p:nvSpPr>
        <p:spPr>
          <a:xfrm>
            <a:off x="365760" y="4590288"/>
            <a:ext cx="2048256" cy="274320"/>
          </a:xfrm>
          <a:prstGeom prst="roundRect">
            <a:avLst>
              <a:gd name="adj" fmla="val 1333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SIKKIM, INDIA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345936"/>
            <a:ext cx="3648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967 m of relief across 2 km, image draped on the surface.</a:t>
            </a:r>
          </a:p>
        </p:txBody>
      </p:sp>
      <p:pic>
        <p:nvPicPr>
          <p:cNvPr id="66" name="Picture 65" descr="urban_height_cr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0248" y="4590288"/>
            <a:ext cx="3648456" cy="1719072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67" name="Rounded Rectangle 66"/>
          <p:cNvSpPr/>
          <p:nvPr/>
        </p:nvSpPr>
        <p:spPr>
          <a:xfrm>
            <a:off x="4270248" y="4590288"/>
            <a:ext cx="2048256" cy="274320"/>
          </a:xfrm>
          <a:prstGeom prst="roundRect">
            <a:avLst>
              <a:gd name="adj" fmla="val 1333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OMAHA, HEIGHT ABOVE GROUND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70248" y="6345936"/>
            <a:ext cx="3648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Flat roofs, tree crowns and kerbs resolved at 0.3 m.</a:t>
            </a:r>
          </a:p>
        </p:txBody>
      </p:sp>
      <p:pic>
        <p:nvPicPr>
          <p:cNvPr id="69" name="Picture 68" descr="urban_sigma_cr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4736" y="4590288"/>
            <a:ext cx="3648456" cy="1719072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70" name="Rounded Rectangle 69"/>
          <p:cNvSpPr/>
          <p:nvPr/>
        </p:nvSpPr>
        <p:spPr>
          <a:xfrm>
            <a:off x="8174736" y="4590288"/>
            <a:ext cx="2048256" cy="274320"/>
          </a:xfrm>
          <a:prstGeom prst="roundRect">
            <a:avLst>
              <a:gd name="adj" fmla="val 1333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OMAHA, MODEL CONFIDENCE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74736" y="6345936"/>
            <a:ext cx="3648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Per-pixel sigma: where the estimate is weak, it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ARCHITECTURE — ONE IMAGE TO A CHECKED SURFACE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17904"/>
            <a:ext cx="5486400" cy="3986784"/>
          </a:xfrm>
          <a:prstGeom prst="roundRect">
            <a:avLst>
              <a:gd name="adj" fmla="val 2293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475488" y="1609344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INPUT LAYER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5488" y="1810512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4" name="Oval 17413"/>
          <p:cNvSpPr/>
          <p:nvPr/>
        </p:nvSpPr>
        <p:spPr>
          <a:xfrm>
            <a:off x="548640" y="187451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5" name="Picture 17414" descr="file-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" y="1927189"/>
            <a:ext cx="114117" cy="114117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804672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GeoTIFF with
geo metadata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2231136" y="1865376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8" name="Oval 17417"/>
          <p:cNvSpPr/>
          <p:nvPr/>
        </p:nvSpPr>
        <p:spPr>
          <a:xfrm>
            <a:off x="2304288" y="187451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9" name="Picture 17418" descr="image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957" y="1927189"/>
            <a:ext cx="114117" cy="114117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2560320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Plain PNG / JPG,
no metadata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986783" y="1865376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4059935" y="187451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3" name="Picture 17422" descr="satel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605" y="1927189"/>
            <a:ext cx="114117" cy="114117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4315968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Cartosat single-view
archive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3035808" y="2176272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6" name="Rounded Rectangle 17425"/>
          <p:cNvSpPr/>
          <p:nvPr/>
        </p:nvSpPr>
        <p:spPr>
          <a:xfrm>
            <a:off x="475488" y="2276856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NORMALISATION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75488" y="2478024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548640" y="2542032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9" name="Picture 17428" descr="rul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309" y="2594701"/>
            <a:ext cx="114117" cy="114117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804672" y="252374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Ground sample distance
read from metadata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3108960" y="2532888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3182112" y="2542032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3" name="Picture 17432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4781" y="2594701"/>
            <a:ext cx="114117" cy="114117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3438144" y="252374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Auto-zoom and resample
to a 0.3 m scale</a:t>
            </a:r>
          </a:p>
        </p:txBody>
      </p:sp>
      <p:sp>
        <p:nvSpPr>
          <p:cNvPr id="17435" name="Down Arrow 17434"/>
          <p:cNvSpPr/>
          <p:nvPr/>
        </p:nvSpPr>
        <p:spPr>
          <a:xfrm>
            <a:off x="3035808" y="2843784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6" name="Rounded Rectangle 17435"/>
          <p:cNvSpPr/>
          <p:nvPr/>
        </p:nvSpPr>
        <p:spPr>
          <a:xfrm>
            <a:off x="475488" y="2944368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MODEL CORE — DEPTH ANYTHING V2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75488" y="3145536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8" name="Oval 17437"/>
          <p:cNvSpPr/>
          <p:nvPr/>
        </p:nvSpPr>
        <p:spPr>
          <a:xfrm>
            <a:off x="548640" y="3209544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9" name="Picture 17438" descr="cp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309" y="3262213"/>
            <a:ext cx="114117" cy="114117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804672" y="31912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ViT encoder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2231136" y="3200400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2" name="Oval 17441"/>
          <p:cNvSpPr/>
          <p:nvPr/>
        </p:nvSpPr>
        <p:spPr>
          <a:xfrm>
            <a:off x="2304288" y="3209544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3" name="Picture 17442" descr="workflo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6957" y="3262213"/>
            <a:ext cx="114117" cy="114117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2560320" y="31912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DPT neck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3986783" y="3200400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4059935" y="3209544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7" name="Picture 17446" descr="datab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2605" y="3262213"/>
            <a:ext cx="114117" cy="114117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315968" y="31912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Fine-tuned on
DFC2019 + GAMUS</a:t>
            </a:r>
          </a:p>
        </p:txBody>
      </p:sp>
      <p:sp>
        <p:nvSpPr>
          <p:cNvPr id="17449" name="Down Arrow 17448"/>
          <p:cNvSpPr/>
          <p:nvPr/>
        </p:nvSpPr>
        <p:spPr>
          <a:xfrm>
            <a:off x="3035808" y="3511296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0" name="Rounded Rectangle 17449"/>
          <p:cNvSpPr/>
          <p:nvPr/>
        </p:nvSpPr>
        <p:spPr>
          <a:xfrm>
            <a:off x="475488" y="3611879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DUAL HEAD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75488" y="3813048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2" name="Oval 17451"/>
          <p:cNvSpPr/>
          <p:nvPr/>
        </p:nvSpPr>
        <p:spPr>
          <a:xfrm>
            <a:off x="548640" y="3877056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3" name="Picture 17452" descr="mountain-sn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309" y="3929725"/>
            <a:ext cx="114117" cy="114117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04672" y="385876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Height mu,
per pixel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3108960" y="3867911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3182112" y="3877056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7" name="Picture 17456" descr="shield-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4781" y="3929725"/>
            <a:ext cx="114117" cy="114117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3438144" y="385876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Log-variance sigma,
per pixel</a:t>
            </a:r>
          </a:p>
        </p:txBody>
      </p:sp>
      <p:sp>
        <p:nvSpPr>
          <p:cNvPr id="17459" name="Down Arrow 17458"/>
          <p:cNvSpPr/>
          <p:nvPr/>
        </p:nvSpPr>
        <p:spPr>
          <a:xfrm>
            <a:off x="3035808" y="4178807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0" name="Rounded Rectangle 17459"/>
          <p:cNvSpPr/>
          <p:nvPr/>
        </p:nvSpPr>
        <p:spPr>
          <a:xfrm>
            <a:off x="475488" y="4279391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POST-PROCESS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475488" y="4480559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2" name="Oval 17461"/>
          <p:cNvSpPr/>
          <p:nvPr/>
        </p:nvSpPr>
        <p:spPr>
          <a:xfrm>
            <a:off x="548640" y="4544567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3" name="Picture 17462" descr="box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309" y="4597237"/>
            <a:ext cx="114117" cy="114117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804672" y="4526279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518 px tiling,
overlap blend, TTA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3108960" y="4535423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6" name="Oval 17465"/>
          <p:cNvSpPr/>
          <p:nvPr/>
        </p:nvSpPr>
        <p:spPr>
          <a:xfrm>
            <a:off x="3182112" y="4544567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7" name="Picture 17466" descr="map-pinn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781" y="4597237"/>
            <a:ext cx="114117" cy="114117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3438144" y="4526279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Scale anchor: GLO-30
or ground control</a:t>
            </a:r>
          </a:p>
        </p:txBody>
      </p:sp>
      <p:sp>
        <p:nvSpPr>
          <p:cNvPr id="17469" name="Down Arrow 17468"/>
          <p:cNvSpPr/>
          <p:nvPr/>
        </p:nvSpPr>
        <p:spPr>
          <a:xfrm>
            <a:off x="3035808" y="4846319"/>
            <a:ext cx="146304" cy="82296"/>
          </a:xfrm>
          <a:prstGeom prst="downArrow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0" name="Rounded Rectangle 17469"/>
          <p:cNvSpPr/>
          <p:nvPr/>
        </p:nvSpPr>
        <p:spPr>
          <a:xfrm>
            <a:off x="475488" y="4946903"/>
            <a:ext cx="5266944" cy="201168"/>
          </a:xfrm>
          <a:prstGeom prst="roundRect">
            <a:avLst>
              <a:gd name="adj" fmla="val 18181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Franklin Gothic Demi Cond"/>
              </a:rPr>
              <a:t>OUTPUT LAYER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475488" y="5148071"/>
            <a:ext cx="5266944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2" name="Oval 17471"/>
          <p:cNvSpPr/>
          <p:nvPr/>
        </p:nvSpPr>
        <p:spPr>
          <a:xfrm>
            <a:off x="548640" y="521207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3" name="Picture 17472" descr="file-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" y="5264749"/>
            <a:ext cx="114117" cy="114117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804672" y="5193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GeoTIFF DSM</a:t>
            </a:r>
          </a:p>
        </p:txBody>
      </p:sp>
      <p:sp>
        <p:nvSpPr>
          <p:cNvPr id="17475" name="Rectangle 17474"/>
          <p:cNvSpPr/>
          <p:nvPr/>
        </p:nvSpPr>
        <p:spPr>
          <a:xfrm>
            <a:off x="2231136" y="5202935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6" name="Oval 17475"/>
          <p:cNvSpPr/>
          <p:nvPr/>
        </p:nvSpPr>
        <p:spPr>
          <a:xfrm>
            <a:off x="2304288" y="521207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7" name="Picture 17476" descr="gau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56957" y="5264749"/>
            <a:ext cx="114117" cy="114117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2560320" y="5193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Sigma map</a:t>
            </a:r>
          </a:p>
        </p:txBody>
      </p:sp>
      <p:sp>
        <p:nvSpPr>
          <p:cNvPr id="17479" name="Rectangle 17478"/>
          <p:cNvSpPr/>
          <p:nvPr/>
        </p:nvSpPr>
        <p:spPr>
          <a:xfrm>
            <a:off x="3986783" y="5202935"/>
            <a:ext cx="9144" cy="237744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0" name="Oval 17479"/>
          <p:cNvSpPr/>
          <p:nvPr/>
        </p:nvSpPr>
        <p:spPr>
          <a:xfrm>
            <a:off x="4059935" y="5212079"/>
            <a:ext cx="219456" cy="219456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1" name="Picture 17480" descr="monito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2605" y="5264749"/>
            <a:ext cx="114117" cy="114117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4315968" y="5193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2A3540"/>
                </a:solidFill>
                <a:latin typeface="Segoe UI"/>
              </a:rPr>
              <a:t>three.js scene,
live error map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6126480" y="1115568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DEPLOYMENT AND ADOPTION PATH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6126480" y="1517904"/>
            <a:ext cx="2697480" cy="3986784"/>
          </a:xfrm>
          <a:prstGeom prst="roundRect">
            <a:avLst>
              <a:gd name="adj" fmla="val 3389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5" name="Rounded Rectangle 17484"/>
          <p:cNvSpPr/>
          <p:nvPr/>
        </p:nvSpPr>
        <p:spPr>
          <a:xfrm>
            <a:off x="6236208" y="1627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1</a:t>
            </a:r>
          </a:p>
        </p:txBody>
      </p:sp>
      <p:sp>
        <p:nvSpPr>
          <p:cNvPr id="17486" name="Rectangle 17485"/>
          <p:cNvSpPr/>
          <p:nvPr/>
        </p:nvSpPr>
        <p:spPr>
          <a:xfrm>
            <a:off x="6373368" y="1938528"/>
            <a:ext cx="18288" cy="640080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7" name="TextBox 17486"/>
          <p:cNvSpPr txBox="1"/>
          <p:nvPr/>
        </p:nvSpPr>
        <p:spPr>
          <a:xfrm>
            <a:off x="6638544" y="164592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Pilot on what is already open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6638544" y="190195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Run over Bhoonidhi CartoDEM and LISS-4 tiles we can access today, and publish per-terrain metrics rather than one average.</a:t>
            </a:r>
          </a:p>
        </p:txBody>
      </p:sp>
      <p:sp>
        <p:nvSpPr>
          <p:cNvPr id="17489" name="Rounded Rectangle 17488"/>
          <p:cNvSpPr/>
          <p:nvPr/>
        </p:nvSpPr>
        <p:spPr>
          <a:xfrm>
            <a:off x="6236208" y="25968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2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6373368" y="2907791"/>
            <a:ext cx="18288" cy="640080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6638544" y="26151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Validate on Indian truth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6638544" y="2871215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With SAC-held Cartosat stereo or DGPS control points, the Sikkim model-vs-model check becomes a real accuracy number.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6236208" y="356616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3</a:t>
            </a:r>
          </a:p>
        </p:txBody>
      </p:sp>
      <p:sp>
        <p:nvSpPr>
          <p:cNvPr id="17494" name="Rectangle 17493"/>
          <p:cNvSpPr/>
          <p:nvPr/>
        </p:nvSpPr>
        <p:spPr>
          <a:xfrm>
            <a:off x="6373368" y="3877056"/>
            <a:ext cx="18288" cy="640080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6638544" y="358444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Integrate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6638544" y="38404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Ships as a container behind an internal API. The viewer needs no server and opens from disk on an analyst's own machine.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6236208" y="45354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4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6638544" y="455371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Scale across the archive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6638544" y="4809744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Batch the back catalogue. Every new acquisition gains a height layer at no extra tasking cost.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9098280" y="1115568"/>
            <a:ext cx="2724912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DECISIONS, AND WHY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9098280" y="1517904"/>
            <a:ext cx="2724912" cy="3986784"/>
          </a:xfrm>
          <a:prstGeom prst="roundRect">
            <a:avLst>
              <a:gd name="adj" fmla="val 335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2" name="Rounded Rectangle 17501"/>
          <p:cNvSpPr/>
          <p:nvPr/>
        </p:nvSpPr>
        <p:spPr>
          <a:xfrm>
            <a:off x="9189719" y="1627632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3" name="Oval 17502"/>
          <p:cNvSpPr/>
          <p:nvPr/>
        </p:nvSpPr>
        <p:spPr>
          <a:xfrm>
            <a:off x="9281160" y="1682496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04" name="Picture 17503" descr="gau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8942" y="1770278"/>
            <a:ext cx="190195" cy="190195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9720072" y="172821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The head was chosen by measurement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9281159" y="204825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Regression, binned and head-tail-cut heads were all scored. All three land at a 0.43–0.49 slope, so the simplest ships.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9189719" y="2596896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8" name="Oval 17507"/>
          <p:cNvSpPr/>
          <p:nvPr/>
        </p:nvSpPr>
        <p:spPr>
          <a:xfrm>
            <a:off x="9281160" y="2651759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09" name="Picture 17508" descr="shield-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8942" y="2739542"/>
            <a:ext cx="190195" cy="190195"/>
          </a:xfrm>
          <a:prstGeom prst="rect">
            <a:avLst/>
          </a:prstGeom>
        </p:spPr>
      </p:pic>
      <p:sp>
        <p:nvSpPr>
          <p:cNvPr id="17510" name="TextBox 17509"/>
          <p:cNvSpPr txBox="1"/>
          <p:nvPr/>
        </p:nvSpPr>
        <p:spPr>
          <a:xfrm>
            <a:off x="9720072" y="2697479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Uncertainty is calibrated</a:t>
            </a:r>
          </a:p>
        </p:txBody>
      </p:sp>
      <p:sp>
        <p:nvSpPr>
          <p:cNvPr id="17511" name="TextBox 17510"/>
          <p:cNvSpPr txBox="1"/>
          <p:nvPr/>
        </p:nvSpPr>
        <p:spPr>
          <a:xfrm>
            <a:off x="9281159" y="3017520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ECE 0.063, sigma-vs-error rank correlation +0.866 on held-out tiles.</a:t>
            </a:r>
          </a:p>
        </p:txBody>
      </p:sp>
      <p:sp>
        <p:nvSpPr>
          <p:cNvPr id="17512" name="Rounded Rectangle 17511"/>
          <p:cNvSpPr/>
          <p:nvPr/>
        </p:nvSpPr>
        <p:spPr>
          <a:xfrm>
            <a:off x="9189719" y="3566160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13" name="Oval 17512"/>
          <p:cNvSpPr/>
          <p:nvPr/>
        </p:nvSpPr>
        <p:spPr>
          <a:xfrm>
            <a:off x="9281160" y="3621024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14" name="Picture 17513" descr="cp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942" y="3708806"/>
            <a:ext cx="190195" cy="190195"/>
          </a:xfrm>
          <a:prstGeom prst="rect">
            <a:avLst/>
          </a:prstGeom>
        </p:spPr>
      </p:pic>
      <p:sp>
        <p:nvSpPr>
          <p:cNvPr id="17515" name="TextBox 17514"/>
          <p:cNvSpPr txBox="1"/>
          <p:nvPr/>
        </p:nvSpPr>
        <p:spPr>
          <a:xfrm>
            <a:off x="9720072" y="366674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Export is checked, not assumed</a:t>
            </a:r>
          </a:p>
        </p:txBody>
      </p:sp>
      <p:sp>
        <p:nvSpPr>
          <p:cNvPr id="17516" name="TextBox 17515"/>
          <p:cNvSpPr txBox="1"/>
          <p:nvPr/>
        </p:nvSpPr>
        <p:spPr>
          <a:xfrm>
            <a:off x="9281159" y="3986784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ONNX agrees with PyTorch to 0.0007 cm over 804,972 inputs; int8 costs 0.030 m.</a:t>
            </a:r>
          </a:p>
        </p:txBody>
      </p:sp>
      <p:sp>
        <p:nvSpPr>
          <p:cNvPr id="17517" name="Rounded Rectangle 17516"/>
          <p:cNvSpPr/>
          <p:nvPr/>
        </p:nvSpPr>
        <p:spPr>
          <a:xfrm>
            <a:off x="9189719" y="4535424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18" name="Oval 17517"/>
          <p:cNvSpPr/>
          <p:nvPr/>
        </p:nvSpPr>
        <p:spPr>
          <a:xfrm>
            <a:off x="9281160" y="4590288"/>
            <a:ext cx="365760" cy="365760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519" name="Picture 17518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942" y="4678070"/>
            <a:ext cx="190195" cy="190195"/>
          </a:xfrm>
          <a:prstGeom prst="rect">
            <a:avLst/>
          </a:prstGeom>
        </p:spPr>
      </p:pic>
      <p:sp>
        <p:nvSpPr>
          <p:cNvPr id="17520" name="TextBox 17519"/>
          <p:cNvSpPr txBox="1"/>
          <p:nvPr/>
        </p:nvSpPr>
        <p:spPr>
          <a:xfrm>
            <a:off x="9720072" y="463600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141B22"/>
                </a:solidFill>
                <a:latin typeface="Segoe UI Semibold"/>
              </a:rPr>
              <a:t>Resolution is handled explicitly</a:t>
            </a:r>
          </a:p>
        </p:txBody>
      </p:sp>
      <p:sp>
        <p:nvSpPr>
          <p:cNvPr id="17521" name="TextBox 17520"/>
          <p:cNvSpPr txBox="1"/>
          <p:nvPr/>
        </p:nvSpPr>
        <p:spPr>
          <a:xfrm>
            <a:off x="9281159" y="4956048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 i="0">
                <a:solidFill>
                  <a:srgbClr val="2A3540"/>
                </a:solidFill>
                <a:latin typeface="Segoe UI"/>
              </a:rPr>
              <a:t>Auto-zoom resamples by GSD, recovering all but 3.6% of the coarse-input penalty.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365760" y="5541264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HOW IT IS VALIDATED</a:t>
            </a:r>
          </a:p>
        </p:txBody>
      </p:sp>
      <p:sp>
        <p:nvSpPr>
          <p:cNvPr id="17523" name="TextBox 17522"/>
          <p:cNvSpPr txBox="1"/>
          <p:nvPr/>
        </p:nvSpPr>
        <p:spPr>
          <a:xfrm>
            <a:off x="420624" y="5870448"/>
            <a:ext cx="53766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Split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region-disjoint, not random — adjacent tiles share buildings.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Scored 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80 whole tiles, 11,983,760 pixels, 3,090 buildings.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Reported per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urban / sparse / forested / mixed, and per height band.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10" b="1" i="0">
                <a:solidFill>
                  <a:srgbClr val="141B22"/>
                </a:solidFill>
                <a:latin typeface="Segoe UI Semibold"/>
              </a:rPr>
              <a:t>Held back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the test split is untouched until the very end.</a:t>
            </a:r>
          </a:p>
        </p:txBody>
      </p:sp>
      <p:sp>
        <p:nvSpPr>
          <p:cNvPr id="17524" name="Rounded Rectangle 17523"/>
          <p:cNvSpPr/>
          <p:nvPr/>
        </p:nvSpPr>
        <p:spPr>
          <a:xfrm>
            <a:off x="6126480" y="5541264"/>
            <a:ext cx="5696712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TECHNOLOGY STACK — EVERY DEPENDENCY FREE AND OPEN</a:t>
            </a:r>
          </a:p>
        </p:txBody>
      </p:sp>
      <p:pic>
        <p:nvPicPr>
          <p:cNvPr id="17525" name="Picture 17524" descr="pyth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6220" y="5888736"/>
            <a:ext cx="292608" cy="292608"/>
          </a:xfrm>
          <a:prstGeom prst="rect">
            <a:avLst/>
          </a:prstGeom>
        </p:spPr>
      </p:pic>
      <p:sp>
        <p:nvSpPr>
          <p:cNvPr id="17526" name="TextBox 17525"/>
          <p:cNvSpPr txBox="1"/>
          <p:nvPr/>
        </p:nvSpPr>
        <p:spPr>
          <a:xfrm>
            <a:off x="6126480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Python 3.10</a:t>
            </a:r>
          </a:p>
        </p:txBody>
      </p:sp>
      <p:pic>
        <p:nvPicPr>
          <p:cNvPr id="17527" name="Picture 17526" descr="pytorch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8309" y="5888736"/>
            <a:ext cx="292608" cy="292608"/>
          </a:xfrm>
          <a:prstGeom prst="rect">
            <a:avLst/>
          </a:prstGeom>
        </p:spPr>
      </p:pic>
      <p:sp>
        <p:nvSpPr>
          <p:cNvPr id="17528" name="TextBox 17527"/>
          <p:cNvSpPr txBox="1"/>
          <p:nvPr/>
        </p:nvSpPr>
        <p:spPr>
          <a:xfrm>
            <a:off x="6838569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PyTorch</a:t>
            </a:r>
          </a:p>
        </p:txBody>
      </p:sp>
      <p:pic>
        <p:nvPicPr>
          <p:cNvPr id="17529" name="Picture 17528" descr="huggingfac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60398" y="5888736"/>
            <a:ext cx="292608" cy="292608"/>
          </a:xfrm>
          <a:prstGeom prst="rect">
            <a:avLst/>
          </a:prstGeom>
        </p:spPr>
      </p:pic>
      <p:sp>
        <p:nvSpPr>
          <p:cNvPr id="17530" name="TextBox 17529"/>
          <p:cNvSpPr txBox="1"/>
          <p:nvPr/>
        </p:nvSpPr>
        <p:spPr>
          <a:xfrm>
            <a:off x="7550658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Hugging Face</a:t>
            </a:r>
          </a:p>
        </p:txBody>
      </p:sp>
      <p:pic>
        <p:nvPicPr>
          <p:cNvPr id="17531" name="Picture 17530" descr="onnx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72487" y="5888736"/>
            <a:ext cx="292608" cy="292608"/>
          </a:xfrm>
          <a:prstGeom prst="rect">
            <a:avLst/>
          </a:prstGeom>
        </p:spPr>
      </p:pic>
      <p:sp>
        <p:nvSpPr>
          <p:cNvPr id="17532" name="TextBox 17531"/>
          <p:cNvSpPr txBox="1"/>
          <p:nvPr/>
        </p:nvSpPr>
        <p:spPr>
          <a:xfrm>
            <a:off x="8262746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ONNX Runtime</a:t>
            </a:r>
          </a:p>
        </p:txBody>
      </p:sp>
      <p:pic>
        <p:nvPicPr>
          <p:cNvPr id="17533" name="Picture 17532" descr="nump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4576" y="5888736"/>
            <a:ext cx="292608" cy="292608"/>
          </a:xfrm>
          <a:prstGeom prst="rect">
            <a:avLst/>
          </a:prstGeom>
        </p:spPr>
      </p:pic>
      <p:sp>
        <p:nvSpPr>
          <p:cNvPr id="17534" name="TextBox 17533"/>
          <p:cNvSpPr txBox="1"/>
          <p:nvPr/>
        </p:nvSpPr>
        <p:spPr>
          <a:xfrm>
            <a:off x="8974836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NumPy / SciPy</a:t>
            </a:r>
          </a:p>
        </p:txBody>
      </p:sp>
      <p:pic>
        <p:nvPicPr>
          <p:cNvPr id="17535" name="Picture 17534" descr="databas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96665" y="5888736"/>
            <a:ext cx="292608" cy="292608"/>
          </a:xfrm>
          <a:prstGeom prst="rect">
            <a:avLst/>
          </a:prstGeom>
        </p:spPr>
      </p:pic>
      <p:sp>
        <p:nvSpPr>
          <p:cNvPr id="17536" name="TextBox 17535"/>
          <p:cNvSpPr txBox="1"/>
          <p:nvPr/>
        </p:nvSpPr>
        <p:spPr>
          <a:xfrm>
            <a:off x="9686925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GDAL / rasterio</a:t>
            </a:r>
          </a:p>
        </p:txBody>
      </p:sp>
      <p:pic>
        <p:nvPicPr>
          <p:cNvPr id="17537" name="Picture 17536" descr="threedotj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08754" y="5888736"/>
            <a:ext cx="292608" cy="292608"/>
          </a:xfrm>
          <a:prstGeom prst="rect">
            <a:avLst/>
          </a:prstGeom>
        </p:spPr>
      </p:pic>
      <p:sp>
        <p:nvSpPr>
          <p:cNvPr id="17538" name="TextBox 17537"/>
          <p:cNvSpPr txBox="1"/>
          <p:nvPr/>
        </p:nvSpPr>
        <p:spPr>
          <a:xfrm>
            <a:off x="10399013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three.js</a:t>
            </a:r>
          </a:p>
        </p:txBody>
      </p:sp>
      <p:pic>
        <p:nvPicPr>
          <p:cNvPr id="17539" name="Picture 17538" descr="docker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320843" y="5888736"/>
            <a:ext cx="292608" cy="292608"/>
          </a:xfrm>
          <a:prstGeom prst="rect">
            <a:avLst/>
          </a:prstGeom>
        </p:spPr>
      </p:pic>
      <p:sp>
        <p:nvSpPr>
          <p:cNvPr id="17540" name="TextBox 17539"/>
          <p:cNvSpPr txBox="1"/>
          <p:nvPr/>
        </p:nvSpPr>
        <p:spPr>
          <a:xfrm>
            <a:off x="11111103" y="6236208"/>
            <a:ext cx="71208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141B22"/>
                </a:solidFill>
                <a:latin typeface="Segoe UI Semibold"/>
              </a:rPr>
              <a:t>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1" name="Oval 17410"/>
          <p:cNvSpPr/>
          <p:nvPr/>
        </p:nvSpPr>
        <p:spPr>
          <a:xfrm>
            <a:off x="49377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2" name="Picture 17411" descr="circle-check-b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" y="1303934"/>
            <a:ext cx="190195" cy="190195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95097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TECHNICALLY PROVEN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5097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Built and measured, not proposed.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5755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3385565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7" name="Picture 17416" descr="wifi-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348" y="1303934"/>
            <a:ext cx="190195" cy="19019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842765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OPERATIONALLY SIMPLE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842765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One image in. No GPU, no network.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4934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627735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2" name="Picture 17421" descr="indian-rup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138" y="1303934"/>
            <a:ext cx="190195" cy="190195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73455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ECONOMICALLY VIABLE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73455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Every dependency free and open.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904113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916914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7" name="Picture 17426" descr="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6928" y="1303934"/>
            <a:ext cx="190195" cy="190195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962634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SOCIALLY USEFUL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62634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Planning, disaster and forestry use height.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65760" y="1792224"/>
            <a:ext cx="5577840" cy="292608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ACCURACY ACROSS THE FOUR LANDSCAPES ISRO NAMES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65760" y="2157984"/>
            <a:ext cx="5577840" cy="2084831"/>
          </a:xfrm>
          <a:prstGeom prst="roundRect">
            <a:avLst>
              <a:gd name="adj" fmla="val 438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2" name="Picture 17431" descr="ter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2267712"/>
            <a:ext cx="3182112" cy="1520359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3785616" y="2286000"/>
            <a:ext cx="2011679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Three of four classes sit under 3.4 m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, and correlation never drops below +0.58. The fourth is the honest problem, and it is one specific thing.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65760" y="4352544"/>
            <a:ext cx="5577840" cy="292608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URBAN 13.86 M, DECOMPOSED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4718304"/>
            <a:ext cx="5577840" cy="1810512"/>
          </a:xfrm>
          <a:prstGeom prst="roundRect">
            <a:avLst>
              <a:gd name="adj" fmla="val 505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6" name="Picture 17435" descr="error_by_he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4901184"/>
            <a:ext cx="3054096" cy="1216771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3657600" y="4809744"/>
            <a:ext cx="2139696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1" i="0">
                <a:solidFill>
                  <a:srgbClr val="C1440E"/>
                </a:solidFill>
                <a:latin typeface="Segoe UI Semibold"/>
              </a:rPr>
              <a:t>79% of squared error comes from 1.9% of buildings.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  Under 10 m — 94% of the stock — we are at 1.4 m. Urban RMSE is 60 tall buildings dominating a squared metric.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272784" y="1792224"/>
            <a:ext cx="5550407" cy="292608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TWO REAL RISKS, AND WHAT ANSWERS THEM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272784" y="2212848"/>
            <a:ext cx="5550407" cy="365760"/>
          </a:xfrm>
          <a:prstGeom prst="roundRect">
            <a:avLst>
              <a:gd name="adj" fmla="val 125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0" name="Oval 17439"/>
          <p:cNvSpPr/>
          <p:nvPr/>
        </p:nvSpPr>
        <p:spPr>
          <a:xfrm>
            <a:off x="6391656" y="2258568"/>
            <a:ext cx="274320" cy="274320"/>
          </a:xfrm>
          <a:prstGeom prst="ellipse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1" name="Picture 17440" descr="triangle-al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492" y="2324404"/>
            <a:ext cx="142646" cy="142646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6766560" y="2295144"/>
            <a:ext cx="4928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Segoe UI Semibold"/>
              </a:rPr>
              <a:t>No Indian ground truth exists to validate against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510528" y="2633472"/>
            <a:ext cx="5312664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Rectangle 17443"/>
          <p:cNvSpPr/>
          <p:nvPr/>
        </p:nvSpPr>
        <p:spPr>
          <a:xfrm>
            <a:off x="6510528" y="2688336"/>
            <a:ext cx="64008" cy="7863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6729984" y="2724912"/>
            <a:ext cx="496519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Our only Indian check is Sikkim against Google Open Buildings: bias −6.94 m on 168 footprints. That is model-vs-model agreement, not accuracy, and we report it as such. No public Indian scene carries LiDAR truth.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272784" y="3639312"/>
            <a:ext cx="5550407" cy="365760"/>
          </a:xfrm>
          <a:prstGeom prst="roundRect">
            <a:avLst>
              <a:gd name="adj" fmla="val 125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7" name="Oval 17446"/>
          <p:cNvSpPr/>
          <p:nvPr/>
        </p:nvSpPr>
        <p:spPr>
          <a:xfrm>
            <a:off x="6391656" y="3685031"/>
            <a:ext cx="274320" cy="274320"/>
          </a:xfrm>
          <a:prstGeom prst="ellipse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8" name="Picture 17447" descr="triangle-al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492" y="3750868"/>
            <a:ext cx="142646" cy="142646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6766560" y="3721608"/>
            <a:ext cx="4928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Segoe UI Semibold"/>
              </a:rPr>
              <a:t>Tall buildings compress toward the mean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510528" y="4059936"/>
            <a:ext cx="5312664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1" name="Rectangle 17450"/>
          <p:cNvSpPr/>
          <p:nvPr/>
        </p:nvSpPr>
        <p:spPr>
          <a:xfrm>
            <a:off x="6510528" y="4114800"/>
            <a:ext cx="64008" cy="7863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6729984" y="4151376"/>
            <a:ext cx="496519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A data problem, not an architecture one: training tops out at 82.8 m while validation reaches 155.3 m. Answered by a power-law control-point fit that cuts tall-tile RMSE 24.9%, and structurally by adding tall-building LiDAR.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272784" y="5138928"/>
            <a:ext cx="5550407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WHAT REDUCES THE INDIAN-DOMAIN RISK BEFORE WE HAVE THE DATA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327648" y="5486400"/>
            <a:ext cx="5440679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Resolution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auto-zoom normalises GSD; measured to recover all but 3.6%.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Look angle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off-nadir spans 4.8 to 28.9 degrees in DFC, so degradation is measurable on data we hold.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Terrain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leakage ruled out — on 31-degree slopes, height-vs-slope correlation is −0.044.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Licensing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every dependency is free and open, so nothing blocks deployment on ISRO imagery.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89788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WHO IT SERVES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17904"/>
            <a:ext cx="5897880" cy="4133087"/>
          </a:xfrm>
          <a:prstGeom prst="roundRect">
            <a:avLst>
              <a:gd name="adj" fmla="val 2212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cxnSp>
        <p:nvCxnSpPr>
          <p:cNvPr id="17412" name="Connector 17411"/>
          <p:cNvCxnSpPr/>
          <p:nvPr/>
        </p:nvCxnSpPr>
        <p:spPr>
          <a:xfrm flipH="1" flipV="1">
            <a:off x="1911095" y="2075688"/>
            <a:ext cx="1403605" cy="1033272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 flipV="1">
            <a:off x="3314700" y="2075688"/>
            <a:ext cx="1403604" cy="1033272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 flipH="1">
            <a:off x="1911095" y="3108960"/>
            <a:ext cx="1403605" cy="978408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3314700" y="3108960"/>
            <a:ext cx="1403604" cy="978408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 flipH="1">
            <a:off x="3310128" y="3108960"/>
            <a:ext cx="4572" cy="1947672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640080" y="1627632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8" name="Rounded Rectangle 17417"/>
          <p:cNvSpPr/>
          <p:nvPr/>
        </p:nvSpPr>
        <p:spPr>
          <a:xfrm>
            <a:off x="640080" y="1627632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ISRO AND SAC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667511" y="1609344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0" name="Picture 17419" descr="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7" y="1683959"/>
            <a:ext cx="161665" cy="161665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749808" y="1993392"/>
            <a:ext cx="23225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Height from single-view Cartosat archives, no new acquisition.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447288" y="1627632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3447288" y="1627632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URBAN PLANNING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3474720" y="1609344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5" name="Picture 17424" descr="building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335" y="1683959"/>
            <a:ext cx="161665" cy="161665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3557016" y="1993392"/>
            <a:ext cx="23225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Building heights for FSI checks and shadow studies under AMRUT.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40080" y="3639312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8" name="Rounded Rectangle 17427"/>
          <p:cNvSpPr/>
          <p:nvPr/>
        </p:nvSpPr>
        <p:spPr>
          <a:xfrm>
            <a:off x="640080" y="3639312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DISASTER RESPONSE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667511" y="3621024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0" name="Picture 17429" descr="sir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27" y="3695639"/>
            <a:ext cx="161665" cy="161665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49808" y="4005072"/>
            <a:ext cx="23225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Post-event surface models where a stereo pair cannot be waited for.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447288" y="3639312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3447288" y="3639312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FORESTRY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3474720" y="3621024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5" name="Picture 17434" descr="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335" y="3695639"/>
            <a:ext cx="161665" cy="161665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3557016" y="4005072"/>
            <a:ext cx="23225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Canopy height proxies for biomass and encroachment monitoring.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039112" y="4608576"/>
            <a:ext cx="2542032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8" name="Rounded Rectangle 17437"/>
          <p:cNvSpPr/>
          <p:nvPr/>
        </p:nvSpPr>
        <p:spPr>
          <a:xfrm>
            <a:off x="2039112" y="4608576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TELECOM ROLLOUT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2066544" y="4590288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0" name="Picture 17439" descr="radio-tow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1159" y="4664903"/>
            <a:ext cx="161665" cy="161665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2148840" y="4974336"/>
            <a:ext cx="23225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Line-of-sight and tower siting without a costly LiDAR survey.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756916" y="2551176"/>
            <a:ext cx="1115568" cy="1115568"/>
          </a:xfrm>
          <a:prstGeom prst="roundRect">
            <a:avLst>
              <a:gd name="adj" fmla="val 50000"/>
            </a:avLst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2839212" y="2633472"/>
            <a:ext cx="950976" cy="95097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2839212" y="2871215"/>
            <a:ext cx="9509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"/>
              </a:rPr>
              <a:t>DEPTH
</a:t>
            </a:r>
            <a:r>
              <a:rPr sz="1250" b="0" i="0">
                <a:solidFill>
                  <a:srgbClr val="D89E3C"/>
                </a:solidFill>
                <a:latin typeface="Franklin Gothic Demi"/>
              </a:rPr>
              <a:t>WIZARD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492240" y="1115568"/>
            <a:ext cx="5330952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KEY BENEFITS</a:t>
            </a:r>
          </a:p>
        </p:txBody>
      </p:sp>
      <p:sp>
        <p:nvSpPr>
          <p:cNvPr id="17446" name="Pentagon 17445"/>
          <p:cNvSpPr/>
          <p:nvPr/>
        </p:nvSpPr>
        <p:spPr>
          <a:xfrm>
            <a:off x="6492240" y="1554480"/>
            <a:ext cx="5330952" cy="621792"/>
          </a:xfrm>
          <a:prstGeom prst="homePlate">
            <a:avLst>
              <a:gd name="adj" fmla="val 816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One image replaces a stereo pair — no revisit wait.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6580022" y="1678838"/>
            <a:ext cx="373075" cy="373075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8" name="Picture 17447" descr="image-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9560" y="1768376"/>
            <a:ext cx="193999" cy="193999"/>
          </a:xfrm>
          <a:prstGeom prst="rect">
            <a:avLst/>
          </a:prstGeom>
        </p:spPr>
      </p:pic>
      <p:sp>
        <p:nvSpPr>
          <p:cNvPr id="17449" name="Pentagon 17448"/>
          <p:cNvSpPr/>
          <p:nvPr/>
        </p:nvSpPr>
        <p:spPr>
          <a:xfrm>
            <a:off x="6492240" y="2249424"/>
            <a:ext cx="5330952" cy="621792"/>
          </a:xfrm>
          <a:prstGeom prst="homePlate">
            <a:avLst>
              <a:gd name="adj" fmla="val 816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No GPU procurement: 36.8 MB runs on a field laptop.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6580022" y="2373782"/>
            <a:ext cx="373075" cy="373075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1" name="Picture 17450" descr="c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9560" y="2463320"/>
            <a:ext cx="193999" cy="193999"/>
          </a:xfrm>
          <a:prstGeom prst="rect">
            <a:avLst/>
          </a:prstGeom>
        </p:spPr>
      </p:pic>
      <p:sp>
        <p:nvSpPr>
          <p:cNvPr id="17452" name="Pentagon 17451"/>
          <p:cNvSpPr/>
          <p:nvPr/>
        </p:nvSpPr>
        <p:spPr>
          <a:xfrm>
            <a:off x="6492240" y="2944368"/>
            <a:ext cx="5330952" cy="621792"/>
          </a:xfrm>
          <a:prstGeom prst="homePlate">
            <a:avLst>
              <a:gd name="adj" fmla="val 816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Decades of existing archive gain a new product.</a:t>
            </a:r>
          </a:p>
        </p:txBody>
      </p:sp>
      <p:sp>
        <p:nvSpPr>
          <p:cNvPr id="17453" name="Oval 17452"/>
          <p:cNvSpPr/>
          <p:nvPr/>
        </p:nvSpPr>
        <p:spPr>
          <a:xfrm>
            <a:off x="6580022" y="3068726"/>
            <a:ext cx="373075" cy="373075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4" name="Picture 17453" descr="lay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9560" y="3158264"/>
            <a:ext cx="193999" cy="193999"/>
          </a:xfrm>
          <a:prstGeom prst="rect">
            <a:avLst/>
          </a:prstGeom>
        </p:spPr>
      </p:pic>
      <p:sp>
        <p:nvSpPr>
          <p:cNvPr id="17455" name="Pentagon 17454"/>
          <p:cNvSpPr/>
          <p:nvPr/>
        </p:nvSpPr>
        <p:spPr>
          <a:xfrm>
            <a:off x="6492240" y="3639312"/>
            <a:ext cx="5330952" cy="621792"/>
          </a:xfrm>
          <a:prstGeom prst="homePlate">
            <a:avLst>
              <a:gd name="adj" fmla="val 816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Municipal bodies get heights with no survey budget.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6580022" y="3763670"/>
            <a:ext cx="373075" cy="373075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7" name="Picture 17456" descr="building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560" y="3853208"/>
            <a:ext cx="193999" cy="193999"/>
          </a:xfrm>
          <a:prstGeom prst="rect">
            <a:avLst/>
          </a:prstGeom>
        </p:spPr>
      </p:pic>
      <p:sp>
        <p:nvSpPr>
          <p:cNvPr id="17458" name="Pentagon 17457"/>
          <p:cNvSpPr/>
          <p:nvPr/>
        </p:nvSpPr>
        <p:spPr>
          <a:xfrm>
            <a:off x="6492240" y="4334256"/>
            <a:ext cx="5330952" cy="621792"/>
          </a:xfrm>
          <a:prstGeom prst="homePlate">
            <a:avLst>
              <a:gd name="adj" fmla="val 816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Disaster teams get a surface model in minutes.</a:t>
            </a:r>
          </a:p>
        </p:txBody>
      </p:sp>
      <p:sp>
        <p:nvSpPr>
          <p:cNvPr id="17459" name="Oval 17458"/>
          <p:cNvSpPr/>
          <p:nvPr/>
        </p:nvSpPr>
        <p:spPr>
          <a:xfrm>
            <a:off x="6580022" y="4458614"/>
            <a:ext cx="373075" cy="373075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0" name="Picture 17459" descr="sir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560" y="4548152"/>
            <a:ext cx="193999" cy="193999"/>
          </a:xfrm>
          <a:prstGeom prst="rect">
            <a:avLst/>
          </a:prstGeom>
        </p:spPr>
      </p:pic>
      <p:sp>
        <p:nvSpPr>
          <p:cNvPr id="17461" name="Pentagon 17460"/>
          <p:cNvSpPr/>
          <p:nvPr/>
        </p:nvSpPr>
        <p:spPr>
          <a:xfrm>
            <a:off x="6492240" y="5029200"/>
            <a:ext cx="5330952" cy="621792"/>
          </a:xfrm>
          <a:prstGeom prst="homePlate">
            <a:avLst>
              <a:gd name="adj" fmla="val 816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Free and open — adoptable by any state agency.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6580022" y="5153558"/>
            <a:ext cx="373075" cy="373075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3" name="Picture 17462" descr="indian-rupe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9560" y="5243096"/>
            <a:ext cx="193999" cy="193999"/>
          </a:xfrm>
          <a:prstGeom prst="rect">
            <a:avLst/>
          </a:prstGeom>
        </p:spPr>
      </p:pic>
      <p:sp>
        <p:nvSpPr>
          <p:cNvPr id="17464" name="Rounded Rectangle 17463"/>
          <p:cNvSpPr/>
          <p:nvPr/>
        </p:nvSpPr>
        <p:spPr>
          <a:xfrm>
            <a:off x="365760" y="5724144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512064" y="580644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1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image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512064" y="6144768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input needed, not a stereo pair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3257550" y="5724144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3403854" y="580644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0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GPUs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3403854" y="6144768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536 ms per tile on a laptop CPU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149340" y="5724144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6295644" y="580644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36.8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MB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295644" y="6144768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the whole model, quantised, offline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9041130" y="5724144"/>
            <a:ext cx="2782062" cy="658368"/>
          </a:xfrm>
          <a:prstGeom prst="roundRect">
            <a:avLst>
              <a:gd name="adj" fmla="val 9722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9187434" y="580644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4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terrains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9187434" y="6144768"/>
            <a:ext cx="252603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scored separately, never averaged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365760" y="6400800"/>
            <a:ext cx="11457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41B22"/>
                </a:solidFill>
                <a:latin typeface="Segoe UI Semibold"/>
              </a:rPr>
              <a:t>Every one of these runs on imagery that has already been flown and already been paid for.</a:t>
            </a:r>
            <a:r>
              <a:rPr sz="860" b="0" i="0">
                <a:solidFill>
                  <a:srgbClr val="55636E"/>
                </a:solidFill>
                <a:latin typeface="Segoe UI"/>
              </a:rPr>
              <a:t>  The cost avoided is the second acquisition, not the first.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RESEARCH THAT CHANGED WHAT WE BUILT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81328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75488" y="15361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Depth Anything V2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Yang et al., NeurIPS 2024. The backbone we fine-tune.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5488" y="1975104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HTC-DC Net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Chen et al., TGRS 2023. Head-tail cut, distribution constraints.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75488" y="2414016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Depth Any Canopy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Ouaknine et al., 2024. The recipe for aerial height.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2852928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Beta-NLL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Seitzer et al., ICLR 2022. Keeps the mean head learning.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5488" y="3291840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IM2HEIGHT, TSE-Net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Prior single-view height — our baseline for the field.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913632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DATA AND REFERENCE SURFACES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4279392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75488" y="4334255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DFC2019 Track 1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US3D at 0.3 m GSD with airborne LiDAR truth.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75488" y="4773167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Copernicus GLO-30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Free 30 m global DEM; the absolute metric anchor.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75488" y="5212079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GlobalBuildingAtlas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Published 5.9 m RMSE over Asia — the external bar.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75488" y="56509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GAMUS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ISRO's recommended set. 6,204 tiles, 0.33 m, DC and Philadelphia.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75488" y="6089903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Google Open Buildings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A cross-check over India, never used as truth.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06240" y="1115568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TRIED, MEASURED, REJECTED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206240" y="1481328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4315968" y="15361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Ordinal / binned head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All heads land at a 0.43–0.49 slope. No gain.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315968" y="1975104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Shadow photogrammetry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Oracle shadows reach r 0.503; the net reaches 0.787.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315968" y="2414016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LDS tail reweighting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Pixels above 20 m are 7.5% but carry 78.8% of error.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315968" y="2852928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Two-model ensemble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Error correlation 0.925 — averaging buys nothing.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315968" y="3291840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Global de-compression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A rescale moves error, it does not remove it.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206240" y="3913632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PROBES WE RAN, AND WHAT EACH CLOSED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206240" y="4279392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315968" y="4334255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01 Tall buildings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Data, not capacity — and GAMUS then proved it.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315968" y="4773167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03 Guided filtering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Squaring off roofs made every metric worse.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315968" y="5212079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04 Where detail went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Detail follows the ground area one token covers.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315968" y="56509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05 Eval resolution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Cartosat-class input costs 3.6% after auto-zoom.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315968" y="6089903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06 Height compression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Measured: ours = 0.473 × truth + 2.66 m.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8046720" y="1115568"/>
            <a:ext cx="3776471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HOW WE COMPARE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046720" y="1481328"/>
            <a:ext cx="1700601" cy="402336"/>
          </a:xfrm>
          <a:prstGeom prst="roundRect">
            <a:avLst>
              <a:gd name="adj" fmla="val 1136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Franklin Gothic Demi"/>
              </a:rPr>
              <a:t>PARAMETER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783897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STEREO OR LIDAR SURVEY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0463662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PUBLISHED SINGLE-VIEW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1143427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Franklin Gothic Demi Cond"/>
              </a:rPr>
              <a:t>DEPTHWIZARD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046720" y="1929384"/>
            <a:ext cx="1700601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8138160" y="1975103"/>
            <a:ext cx="151772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One archived image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783897" y="1929384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6" name="Picture 17445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339" y="2011679"/>
            <a:ext cx="146304" cy="146304"/>
          </a:xfrm>
          <a:prstGeom prst="rect">
            <a:avLst/>
          </a:prstGeom>
        </p:spPr>
      </p:pic>
      <p:sp>
        <p:nvSpPr>
          <p:cNvPr id="17447" name="Rounded Rectangle 17446"/>
          <p:cNvSpPr/>
          <p:nvPr/>
        </p:nvSpPr>
        <p:spPr>
          <a:xfrm>
            <a:off x="10463662" y="1929384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8" name="Picture 17447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2104" y="2011679"/>
            <a:ext cx="146304" cy="146304"/>
          </a:xfrm>
          <a:prstGeom prst="rect">
            <a:avLst/>
          </a:prstGeom>
        </p:spPr>
      </p:pic>
      <p:sp>
        <p:nvSpPr>
          <p:cNvPr id="17449" name="Rounded Rectangle 17448"/>
          <p:cNvSpPr/>
          <p:nvPr/>
        </p:nvSpPr>
        <p:spPr>
          <a:xfrm>
            <a:off x="11143427" y="1929384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0" name="Picture 17449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1997963"/>
            <a:ext cx="173736" cy="173736"/>
          </a:xfrm>
          <a:prstGeom prst="rect">
            <a:avLst/>
          </a:prstGeom>
        </p:spPr>
      </p:pic>
      <p:sp>
        <p:nvSpPr>
          <p:cNvPr id="17451" name="Rounded Rectangle 17450"/>
          <p:cNvSpPr/>
          <p:nvPr/>
        </p:nvSpPr>
        <p:spPr>
          <a:xfrm>
            <a:off x="8046720" y="2276856"/>
            <a:ext cx="1700601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8138160" y="2322575"/>
            <a:ext cx="151772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Absolute metric height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9783897" y="2276856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4" name="Picture 1745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339" y="2359151"/>
            <a:ext cx="146304" cy="146304"/>
          </a:xfrm>
          <a:prstGeom prst="rect">
            <a:avLst/>
          </a:prstGeom>
        </p:spPr>
      </p:pic>
      <p:sp>
        <p:nvSpPr>
          <p:cNvPr id="17455" name="Rounded Rectangle 17454"/>
          <p:cNvSpPr/>
          <p:nvPr/>
        </p:nvSpPr>
        <p:spPr>
          <a:xfrm>
            <a:off x="10463662" y="2276856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6" name="Picture 17455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104" y="2359151"/>
            <a:ext cx="146304" cy="146304"/>
          </a:xfrm>
          <a:prstGeom prst="rect">
            <a:avLst/>
          </a:prstGeom>
        </p:spPr>
      </p:pic>
      <p:sp>
        <p:nvSpPr>
          <p:cNvPr id="17457" name="Rounded Rectangle 17456"/>
          <p:cNvSpPr/>
          <p:nvPr/>
        </p:nvSpPr>
        <p:spPr>
          <a:xfrm>
            <a:off x="11143427" y="2276856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8" name="Picture 17457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345435"/>
            <a:ext cx="173736" cy="173736"/>
          </a:xfrm>
          <a:prstGeom prst="rect">
            <a:avLst/>
          </a:prstGeom>
        </p:spPr>
      </p:pic>
      <p:sp>
        <p:nvSpPr>
          <p:cNvPr id="17459" name="Rounded Rectangle 17458"/>
          <p:cNvSpPr/>
          <p:nvPr/>
        </p:nvSpPr>
        <p:spPr>
          <a:xfrm>
            <a:off x="8046720" y="2624327"/>
            <a:ext cx="1700601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8138160" y="2670047"/>
            <a:ext cx="151772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Per-pixel uncertainty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9783897" y="2624327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2" name="Picture 17461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339" y="2706623"/>
            <a:ext cx="146304" cy="146304"/>
          </a:xfrm>
          <a:prstGeom prst="rect">
            <a:avLst/>
          </a:prstGeom>
        </p:spPr>
      </p:pic>
      <p:sp>
        <p:nvSpPr>
          <p:cNvPr id="17463" name="Rounded Rectangle 17462"/>
          <p:cNvSpPr/>
          <p:nvPr/>
        </p:nvSpPr>
        <p:spPr>
          <a:xfrm>
            <a:off x="10463662" y="2624327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4" name="Picture 1746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2706623"/>
            <a:ext cx="146304" cy="146304"/>
          </a:xfrm>
          <a:prstGeom prst="rect">
            <a:avLst/>
          </a:prstGeom>
        </p:spPr>
      </p:pic>
      <p:sp>
        <p:nvSpPr>
          <p:cNvPr id="17465" name="Rounded Rectangle 17464"/>
          <p:cNvSpPr/>
          <p:nvPr/>
        </p:nvSpPr>
        <p:spPr>
          <a:xfrm>
            <a:off x="11143427" y="2624327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6" name="Picture 17465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692907"/>
            <a:ext cx="173736" cy="173736"/>
          </a:xfrm>
          <a:prstGeom prst="rect">
            <a:avLst/>
          </a:prstGeom>
        </p:spPr>
      </p:pic>
      <p:sp>
        <p:nvSpPr>
          <p:cNvPr id="17467" name="Rounded Rectangle 17466"/>
          <p:cNvSpPr/>
          <p:nvPr/>
        </p:nvSpPr>
        <p:spPr>
          <a:xfrm>
            <a:off x="8046720" y="2971799"/>
            <a:ext cx="1700601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8138160" y="3017519"/>
            <a:ext cx="151772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Scored per terrain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9783897" y="2971799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0" name="Picture 17469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3054095"/>
            <a:ext cx="146304" cy="146304"/>
          </a:xfrm>
          <a:prstGeom prst="rect">
            <a:avLst/>
          </a:prstGeom>
        </p:spPr>
      </p:pic>
      <p:sp>
        <p:nvSpPr>
          <p:cNvPr id="17471" name="Rounded Rectangle 17470"/>
          <p:cNvSpPr/>
          <p:nvPr/>
        </p:nvSpPr>
        <p:spPr>
          <a:xfrm>
            <a:off x="10463662" y="2971799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2" name="Picture 17471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054095"/>
            <a:ext cx="146304" cy="146304"/>
          </a:xfrm>
          <a:prstGeom prst="rect">
            <a:avLst/>
          </a:prstGeom>
        </p:spPr>
      </p:pic>
      <p:sp>
        <p:nvSpPr>
          <p:cNvPr id="17473" name="Rounded Rectangle 17472"/>
          <p:cNvSpPr/>
          <p:nvPr/>
        </p:nvSpPr>
        <p:spPr>
          <a:xfrm>
            <a:off x="11143427" y="2971799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4" name="Picture 1747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040379"/>
            <a:ext cx="173736" cy="173736"/>
          </a:xfrm>
          <a:prstGeom prst="rect">
            <a:avLst/>
          </a:prstGeom>
        </p:spPr>
      </p:pic>
      <p:sp>
        <p:nvSpPr>
          <p:cNvPr id="17475" name="Rounded Rectangle 17474"/>
          <p:cNvSpPr/>
          <p:nvPr/>
        </p:nvSpPr>
        <p:spPr>
          <a:xfrm>
            <a:off x="8046720" y="3319271"/>
            <a:ext cx="1700601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6" name="TextBox 17475"/>
          <p:cNvSpPr txBox="1"/>
          <p:nvPr/>
        </p:nvSpPr>
        <p:spPr>
          <a:xfrm>
            <a:off x="8138160" y="3364991"/>
            <a:ext cx="151772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Runs with no GPU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9783897" y="3319271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8" name="Picture 17477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3401567"/>
            <a:ext cx="146304" cy="146304"/>
          </a:xfrm>
          <a:prstGeom prst="rect">
            <a:avLst/>
          </a:prstGeom>
        </p:spPr>
      </p:pic>
      <p:sp>
        <p:nvSpPr>
          <p:cNvPr id="17479" name="Rounded Rectangle 17478"/>
          <p:cNvSpPr/>
          <p:nvPr/>
        </p:nvSpPr>
        <p:spPr>
          <a:xfrm>
            <a:off x="10463662" y="3319271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0" name="Picture 17479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401567"/>
            <a:ext cx="146304" cy="146304"/>
          </a:xfrm>
          <a:prstGeom prst="rect">
            <a:avLst/>
          </a:prstGeom>
        </p:spPr>
      </p:pic>
      <p:sp>
        <p:nvSpPr>
          <p:cNvPr id="17481" name="Rounded Rectangle 17480"/>
          <p:cNvSpPr/>
          <p:nvPr/>
        </p:nvSpPr>
        <p:spPr>
          <a:xfrm>
            <a:off x="11143427" y="3319271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2" name="Picture 17481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387851"/>
            <a:ext cx="173736" cy="173736"/>
          </a:xfrm>
          <a:prstGeom prst="rect">
            <a:avLst/>
          </a:prstGeom>
        </p:spPr>
      </p:pic>
      <p:sp>
        <p:nvSpPr>
          <p:cNvPr id="17483" name="Rounded Rectangle 17482"/>
          <p:cNvSpPr/>
          <p:nvPr/>
        </p:nvSpPr>
        <p:spPr>
          <a:xfrm>
            <a:off x="8046720" y="3666744"/>
            <a:ext cx="1700601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4" name="TextBox 17483"/>
          <p:cNvSpPr txBox="1"/>
          <p:nvPr/>
        </p:nvSpPr>
        <p:spPr>
          <a:xfrm>
            <a:off x="8138160" y="3712463"/>
            <a:ext cx="151772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3D viewer shipped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9783897" y="3666744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6" name="Picture 17485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339" y="3749039"/>
            <a:ext cx="146304" cy="146304"/>
          </a:xfrm>
          <a:prstGeom prst="rect">
            <a:avLst/>
          </a:prstGeom>
        </p:spPr>
      </p:pic>
      <p:sp>
        <p:nvSpPr>
          <p:cNvPr id="17487" name="Rounded Rectangle 17486"/>
          <p:cNvSpPr/>
          <p:nvPr/>
        </p:nvSpPr>
        <p:spPr>
          <a:xfrm>
            <a:off x="10463662" y="3666744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8" name="Picture 17487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749039"/>
            <a:ext cx="146304" cy="146304"/>
          </a:xfrm>
          <a:prstGeom prst="rect">
            <a:avLst/>
          </a:prstGeom>
        </p:spPr>
      </p:pic>
      <p:sp>
        <p:nvSpPr>
          <p:cNvPr id="17489" name="Rounded Rectangle 17488"/>
          <p:cNvSpPr/>
          <p:nvPr/>
        </p:nvSpPr>
        <p:spPr>
          <a:xfrm>
            <a:off x="11143427" y="3666744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0" name="Picture 17489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735324"/>
            <a:ext cx="173736" cy="173736"/>
          </a:xfrm>
          <a:prstGeom prst="rect">
            <a:avLst/>
          </a:prstGeom>
        </p:spPr>
      </p:pic>
      <p:sp>
        <p:nvSpPr>
          <p:cNvPr id="17491" name="Rounded Rectangle 17490"/>
          <p:cNvSpPr/>
          <p:nvPr/>
        </p:nvSpPr>
        <p:spPr>
          <a:xfrm>
            <a:off x="8046720" y="4014215"/>
            <a:ext cx="1700601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2" name="TextBox 17491"/>
          <p:cNvSpPr txBox="1"/>
          <p:nvPr/>
        </p:nvSpPr>
        <p:spPr>
          <a:xfrm>
            <a:off x="8138160" y="4059935"/>
            <a:ext cx="151772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Failure modes published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9783897" y="4014215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4" name="Picture 17493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4096511"/>
            <a:ext cx="146304" cy="146304"/>
          </a:xfrm>
          <a:prstGeom prst="rect">
            <a:avLst/>
          </a:prstGeom>
        </p:spPr>
      </p:pic>
      <p:sp>
        <p:nvSpPr>
          <p:cNvPr id="17495" name="Rounded Rectangle 17494"/>
          <p:cNvSpPr/>
          <p:nvPr/>
        </p:nvSpPr>
        <p:spPr>
          <a:xfrm>
            <a:off x="10463662" y="4014215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6" name="Picture 17495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104" y="4096511"/>
            <a:ext cx="146304" cy="146304"/>
          </a:xfrm>
          <a:prstGeom prst="rect">
            <a:avLst/>
          </a:prstGeom>
        </p:spPr>
      </p:pic>
      <p:sp>
        <p:nvSpPr>
          <p:cNvPr id="17497" name="Rounded Rectangle 17496"/>
          <p:cNvSpPr/>
          <p:nvPr/>
        </p:nvSpPr>
        <p:spPr>
          <a:xfrm>
            <a:off x="11143427" y="4014215"/>
            <a:ext cx="643188" cy="310896"/>
          </a:xfrm>
          <a:prstGeom prst="roundRect">
            <a:avLst>
              <a:gd name="adj" fmla="val 11764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8" name="Picture 17497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4082796"/>
            <a:ext cx="173736" cy="173736"/>
          </a:xfrm>
          <a:prstGeom prst="rect">
            <a:avLst/>
          </a:prstGeom>
        </p:spPr>
      </p:pic>
      <p:pic>
        <p:nvPicPr>
          <p:cNvPr id="17499" name="Picture 1749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7" y="4421124"/>
            <a:ext cx="155448" cy="155448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8284464" y="4407407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yes</a:t>
            </a:r>
          </a:p>
        </p:txBody>
      </p:sp>
      <p:pic>
        <p:nvPicPr>
          <p:cNvPr id="17501" name="Picture 17500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2850" y="4421124"/>
            <a:ext cx="155448" cy="155448"/>
          </a:xfrm>
          <a:prstGeom prst="rect">
            <a:avLst/>
          </a:prstGeom>
        </p:spPr>
      </p:pic>
      <p:sp>
        <p:nvSpPr>
          <p:cNvPr id="17502" name="TextBox 17501"/>
          <p:cNvSpPr txBox="1"/>
          <p:nvPr/>
        </p:nvSpPr>
        <p:spPr>
          <a:xfrm>
            <a:off x="8829446" y="4407407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partial</a:t>
            </a:r>
          </a:p>
        </p:txBody>
      </p:sp>
      <p:pic>
        <p:nvPicPr>
          <p:cNvPr id="17503" name="Picture 17502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028" y="4421124"/>
            <a:ext cx="155448" cy="155448"/>
          </a:xfrm>
          <a:prstGeom prst="rect">
            <a:avLst/>
          </a:prstGeom>
        </p:spPr>
      </p:pic>
      <p:sp>
        <p:nvSpPr>
          <p:cNvPr id="17504" name="TextBox 17503"/>
          <p:cNvSpPr txBox="1"/>
          <p:nvPr/>
        </p:nvSpPr>
        <p:spPr>
          <a:xfrm>
            <a:off x="9564624" y="4407407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no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8101584" y="4663440"/>
            <a:ext cx="36667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60" b="1" i="0">
                <a:solidFill>
                  <a:srgbClr val="141B22"/>
                </a:solidFill>
                <a:latin typeface="Segoe UI Semibold"/>
              </a:rPr>
              <a:t>Two rows the alternatives win. </a:t>
            </a:r>
            <a:r>
              <a:rPr sz="860" b="0" i="0">
                <a:solidFill>
                  <a:srgbClr val="2A3540"/>
                </a:solidFill>
                <a:latin typeface="Segoe UI"/>
              </a:rPr>
              <a:t>A stereo survey gives absolute height directly and ships mature viewers — the table is only useful to a panel if the rows we lose are still in it.</a:t>
            </a:r>
          </a:p>
        </p:txBody>
      </p:sp>
      <p:sp>
        <p:nvSpPr>
          <p:cNvPr id="17506" name="Rounded Rectangle 17505"/>
          <p:cNvSpPr/>
          <p:nvPr/>
        </p:nvSpPr>
        <p:spPr>
          <a:xfrm>
            <a:off x="8046720" y="5065775"/>
            <a:ext cx="3776471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BAR WE ARE MEASURED AGAINST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8101584" y="5413248"/>
            <a:ext cx="2569463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1" i="0">
                <a:solidFill>
                  <a:srgbClr val="C1440E"/>
                </a:solidFill>
                <a:latin typeface="Franklin Gothic Demi"/>
              </a:rPr>
              <a:t>3.464 m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  per-building RMSE against airborne LiDAR, versus 5.9 m published for Asia. Scored on 3,090 buildings across 80 held-out tiles.
</a:t>
            </a:r>
            <a:r>
              <a:rPr sz="910" b="1" i="0">
                <a:solidFill>
                  <a:srgbClr val="141B22"/>
                </a:solidFill>
                <a:latin typeface="Segoe UI Semibold"/>
              </a:rPr>
              <a:t>Where it fails: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buildings above 20 m are under-called by 15.6 m. We pre-registered −13 m and missed it. GAMUS improved it significantly (p = 0.0002); no open data at this resolution reaches 50 m.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10890504" y="5413248"/>
            <a:ext cx="932688" cy="932688"/>
          </a:xfrm>
          <a:prstGeom prst="roundRect">
            <a:avLst>
              <a:gd name="adj" fmla="val 4901"/>
            </a:avLst>
          </a:prstGeom>
          <a:solidFill>
            <a:srgbClr val="ECF1F5"/>
          </a:solidFill>
          <a:ln w="12700">
            <a:solidFill>
              <a:srgbClr val="55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509" name="TextBox 17508"/>
          <p:cNvSpPr txBox="1"/>
          <p:nvPr/>
        </p:nvSpPr>
        <p:spPr>
          <a:xfrm>
            <a:off x="10890504" y="5724144"/>
            <a:ext cx="9326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55636E"/>
                </a:solidFill>
                <a:latin typeface="Franklin Gothic Demi Cond"/>
              </a:rPr>
              <a:t>PITCH
VIDEO
QR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