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19.png"/><Relationship Id="rId17" Type="http://schemas.openxmlformats.org/officeDocument/2006/relationships/image" Target="../media/image20.png"/><Relationship Id="rId18" Type="http://schemas.openxmlformats.org/officeDocument/2006/relationships/image" Target="../media/image21.png"/><Relationship Id="rId19" Type="http://schemas.openxmlformats.org/officeDocument/2006/relationships/image" Target="../media/image22.png"/><Relationship Id="rId20" Type="http://schemas.openxmlformats.org/officeDocument/2006/relationships/image" Target="../media/image23.png"/><Relationship Id="rId21" Type="http://schemas.openxmlformats.org/officeDocument/2006/relationships/image" Target="../media/image24.png"/><Relationship Id="rId22" Type="http://schemas.openxmlformats.org/officeDocument/2006/relationships/image" Target="../media/image25.png"/><Relationship Id="rId23" Type="http://schemas.openxmlformats.org/officeDocument/2006/relationships/image" Target="../media/image26.png"/><Relationship Id="rId24" Type="http://schemas.openxmlformats.org/officeDocument/2006/relationships/image" Target="../media/image27.png"/><Relationship Id="rId25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8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.png"/><Relationship Id="rId10" Type="http://schemas.openxmlformats.org/officeDocument/2006/relationships/image" Target="../media/image15.png"/><Relationship Id="rId11" Type="http://schemas.openxmlformats.org/officeDocument/2006/relationships/image" Target="../media/image14.png"/><Relationship Id="rId12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188720"/>
            <a:ext cx="5138928" cy="3255264"/>
          </a:xfrm>
          <a:prstGeom prst="roundRect">
            <a:avLst>
              <a:gd name="adj" fmla="val 2808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365760" y="1188720"/>
            <a:ext cx="5138928" cy="621792"/>
          </a:xfrm>
          <a:prstGeom prst="roundRect">
            <a:avLst>
              <a:gd name="adj" fmla="val 1470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1298448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300" b="0" i="0">
                <a:solidFill>
                  <a:srgbClr val="FFFFFF"/>
                </a:solidFill>
                <a:latin typeface="Franklin Gothic Demi"/>
              </a:rPr>
              <a:t>DEPTH</a:t>
            </a:r>
            <a:r>
              <a:rPr sz="2300" b="0" i="0">
                <a:solidFill>
                  <a:srgbClr val="D89E3C"/>
                </a:solidFill>
                <a:latin typeface="Franklin Gothic Demi"/>
              </a:rPr>
              <a:t>WIZARD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1938528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A3540"/>
                </a:solidFill>
                <a:latin typeface="Segoe UI"/>
              </a:rPr>
              <a:t>One satellite image in, a measurable 3D surface out.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34086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96312" y="2313432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SIH26175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66090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TITLE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2633472"/>
            <a:ext cx="2862072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DepthWizard - Single-View Height Estimation and 3D Flythrough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5468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96312" y="312724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Disaster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347472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PS CATEGORY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6312" y="344728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Software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379476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96312" y="376732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47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11480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NAME (ON PORTAL)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96312" y="408736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Dev Up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4590288"/>
            <a:ext cx="5138928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MEASURED, NOT PROPOSED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5029200"/>
            <a:ext cx="1639824" cy="896112"/>
          </a:xfrm>
          <a:prstGeom prst="roundRect">
            <a:avLst>
              <a:gd name="adj" fmla="val 7142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2064" y="5111496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3.67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5449824"/>
            <a:ext cx="138379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
against airborne LiDAR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115311" y="5029200"/>
            <a:ext cx="1639824" cy="896112"/>
          </a:xfrm>
          <a:prstGeom prst="roundRect">
            <a:avLst>
              <a:gd name="adj" fmla="val 7142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261616" y="5111496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61616" y="5449824"/>
            <a:ext cx="138379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better than the 5.9 m
GlobalBuildingAtlas bar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64864" y="5029200"/>
            <a:ext cx="1639824" cy="896112"/>
          </a:xfrm>
          <a:prstGeom prst="roundRect">
            <a:avLst>
              <a:gd name="adj" fmla="val 7142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011168" y="5111496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509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11168" y="5449824"/>
            <a:ext cx="138379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 tile on CPU alone,
no GPU in the loop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053328"/>
            <a:ext cx="856488" cy="137160"/>
          </a:xfrm>
          <a:prstGeom prst="rect">
            <a:avLst/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222248" y="6053328"/>
            <a:ext cx="856488" cy="137160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2078736" y="6053328"/>
            <a:ext cx="856488" cy="137160"/>
          </a:xfrm>
          <a:prstGeom prst="rect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2935224" y="6053328"/>
            <a:ext cx="856488" cy="137160"/>
          </a:xfrm>
          <a:prstGeom prst="rect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3791712" y="6053328"/>
            <a:ext cx="856488" cy="13716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4648200" y="6053328"/>
            <a:ext cx="856488" cy="13716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65760" y="625449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The palette is the model's own output scale: 0 m at the left, 155 m at the right.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Every submission promises accuracy. This one reports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670048"/>
          </a:xfrm>
          <a:prstGeom prst="roundRect">
            <a:avLst>
              <a:gd name="adj" fmla="val 3424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57200" y="1591056"/>
            <a:ext cx="3749039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48640" y="1700784"/>
            <a:ext cx="347472" cy="310896"/>
          </a:xfrm>
          <a:prstGeom prst="roundRect">
            <a:avLst>
              <a:gd name="adj" fmla="val 14705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1673352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1911095"/>
            <a:ext cx="316382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Decades of Cartosat single-view imagery exist. Stereo and LiDAR cannot be flown into the past.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50591"/>
            <a:ext cx="3749039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48640" y="2560320"/>
            <a:ext cx="347472" cy="310896"/>
          </a:xfrm>
          <a:prstGeom prst="roundRect">
            <a:avLst>
              <a:gd name="adj" fmla="val 14705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2532887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Answers with no confidence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2770632"/>
            <a:ext cx="316382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Single-view height is ill-posed. One number implies a certainty the model does not have.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310128"/>
            <a:ext cx="3749039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8640" y="3419856"/>
            <a:ext cx="347472" cy="310896"/>
          </a:xfrm>
          <a:prstGeom prst="roundRect">
            <a:avLst>
              <a:gd name="adj" fmla="val 14705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339242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Checkpoints are not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630168"/>
            <a:ext cx="316382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The literature ships weights and an eval script. An analyst needs a scene they can open and check.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1499616"/>
            <a:ext cx="7251192" cy="2670048"/>
          </a:xfrm>
          <a:prstGeom prst="roundRect">
            <a:avLst>
              <a:gd name="adj" fmla="val 3424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663440" y="1591056"/>
            <a:ext cx="2282952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3" name="Oval 32"/>
          <p:cNvSpPr/>
          <p:nvPr/>
        </p:nvSpPr>
        <p:spPr>
          <a:xfrm>
            <a:off x="4754879" y="1664208"/>
            <a:ext cx="438912" cy="438912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4" name="Picture 33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218" y="1769546"/>
            <a:ext cx="228234" cy="22823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266944" y="1737360"/>
            <a:ext cx="156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91455" y="2194560"/>
            <a:ext cx="20269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Depth Anything V2 fine-tuned on DFC2019 LiDAR. GeoTIFF out, metadata or not.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6120" y="1591056"/>
            <a:ext cx="2282952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8" name="Oval 37"/>
          <p:cNvSpPr/>
          <p:nvPr/>
        </p:nvSpPr>
        <p:spPr>
          <a:xfrm>
            <a:off x="7147560" y="1664208"/>
            <a:ext cx="438912" cy="438912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9" name="Picture 38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2898" y="1769546"/>
            <a:ext cx="228234" cy="22823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659624" y="1737360"/>
            <a:ext cx="156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84136" y="2194560"/>
            <a:ext cx="20269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A per-pixel sigma beside every height. Where it says unsure, it is wrong — monotonically.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8799" y="1591056"/>
            <a:ext cx="2282952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3" name="Oval 42"/>
          <p:cNvSpPr/>
          <p:nvPr/>
        </p:nvSpPr>
        <p:spPr>
          <a:xfrm>
            <a:off x="9540239" y="1664208"/>
            <a:ext cx="438912" cy="438912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4" name="Picture 43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5578" y="1769546"/>
            <a:ext cx="228234" cy="22823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052303" y="1737360"/>
            <a:ext cx="156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76816" y="2194560"/>
            <a:ext cx="20269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three.js flythrough, drag-to-compare against reference, and a live error map.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2871215"/>
            <a:ext cx="2282952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8" name="Oval 47"/>
          <p:cNvSpPr/>
          <p:nvPr/>
        </p:nvSpPr>
        <p:spPr>
          <a:xfrm>
            <a:off x="4754879" y="2944368"/>
            <a:ext cx="438912" cy="438912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9" name="Picture 4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218" y="3049706"/>
            <a:ext cx="228234" cy="22823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266944" y="3017520"/>
            <a:ext cx="156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91455" y="3474720"/>
            <a:ext cx="20269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56120" y="2871215"/>
            <a:ext cx="2282952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3" name="Oval 52"/>
          <p:cNvSpPr/>
          <p:nvPr/>
        </p:nvSpPr>
        <p:spPr>
          <a:xfrm>
            <a:off x="7147560" y="2944368"/>
            <a:ext cx="438912" cy="438912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4" name="Picture 53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2898" y="3049706"/>
            <a:ext cx="228234" cy="22823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659624" y="3017520"/>
            <a:ext cx="156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84136" y="3474720"/>
            <a:ext cx="20269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Copernicus GLO-30, or ground control points via a power-law fit.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448799" y="2871215"/>
            <a:ext cx="2282952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8" name="Oval 57"/>
          <p:cNvSpPr/>
          <p:nvPr/>
        </p:nvSpPr>
        <p:spPr>
          <a:xfrm>
            <a:off x="9540239" y="2944368"/>
            <a:ext cx="438912" cy="438912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9" name="Picture 58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5578" y="3049706"/>
            <a:ext cx="228234" cy="22823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052303" y="3017520"/>
            <a:ext cx="156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demo-ware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76816" y="3474720"/>
            <a:ext cx="20269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No GPU: 509 ms per tile. The viewer is one 15 MB HTML file that opens from disk.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5760" y="4242816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PRODUCT, RUNNING — CAPTURES OF THE LIVE VIEWER, NOT MOCK-UPS</a:t>
            </a:r>
          </a:p>
        </p:txBody>
      </p:sp>
      <p:pic>
        <p:nvPicPr>
          <p:cNvPr id="63" name="Picture 62" descr="sikkim_hilly_cro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590288"/>
            <a:ext cx="3648456" cy="1719072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64" name="Rounded Rectangle 63"/>
          <p:cNvSpPr/>
          <p:nvPr/>
        </p:nvSpPr>
        <p:spPr>
          <a:xfrm>
            <a:off x="365760" y="4590288"/>
            <a:ext cx="2048256" cy="274320"/>
          </a:xfrm>
          <a:prstGeom prst="roundRect">
            <a:avLst>
              <a:gd name="adj" fmla="val 1333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345936"/>
            <a:ext cx="36484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km, image draped on the surface.</a:t>
            </a:r>
          </a:p>
        </p:txBody>
      </p:sp>
      <p:pic>
        <p:nvPicPr>
          <p:cNvPr id="66" name="Picture 65" descr="urban_height_cro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0248" y="4590288"/>
            <a:ext cx="3648456" cy="1719072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67" name="Rounded Rectangle 66"/>
          <p:cNvSpPr/>
          <p:nvPr/>
        </p:nvSpPr>
        <p:spPr>
          <a:xfrm>
            <a:off x="4270248" y="4590288"/>
            <a:ext cx="2048256" cy="274320"/>
          </a:xfrm>
          <a:prstGeom prst="roundRect">
            <a:avLst>
              <a:gd name="adj" fmla="val 1333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OMAHA, HEIGHT ABOVE GROUND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70248" y="6345936"/>
            <a:ext cx="36484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Flat roofs, tree crowns and kerbs resolved at 0.3 m.</a:t>
            </a:r>
          </a:p>
        </p:txBody>
      </p:sp>
      <p:pic>
        <p:nvPicPr>
          <p:cNvPr id="69" name="Picture 68" descr="urban_sigma_cro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4736" y="4590288"/>
            <a:ext cx="3648456" cy="1719072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0" name="Rounded Rectangle 69"/>
          <p:cNvSpPr/>
          <p:nvPr/>
        </p:nvSpPr>
        <p:spPr>
          <a:xfrm>
            <a:off x="8174736" y="4590288"/>
            <a:ext cx="2048256" cy="274320"/>
          </a:xfrm>
          <a:prstGeom prst="roundRect">
            <a:avLst>
              <a:gd name="adj" fmla="val 1333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OMAHA, MODEL CONFIDENCE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74736" y="6345936"/>
            <a:ext cx="36484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Per-pixel sigma: where the estimate is weak, it says 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 single-view
archive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LiDAR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DEPLOYMENT AND ADOPTION PATH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 on what is already open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Run over Bhoonidhi CartoDEM and LISS-4 tiles we can access today, and publish per-terrain metrics rather than one average.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 on Indian truth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With SAC-held Cartosat stereo or DGPS control points, the Sikkim model-vs-model check becomes a real accuracy number.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Ships as a container behind an internal API. The viewer needs no server and opens from disk on an analyst's own machine.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 across the archive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Batch the back catalogue. Every new acquisition gains a height layer at no extra tasking cost.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DECISIONS,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The head was chosen by measurement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Regression, binned and head-tail-cut heads were all scored. All three land at a 0.43–0.49 slope, so the simplest ships.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is calibrated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ECE 0.077, sigma-vs-error rank correlation +0.829 on held-out tiles.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 is checked, not assumed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ONNX agrees with PyTorch to 0.0010 cm over 804,972 inputs; int8 costs 0.161 m.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Resolution is handled explicitly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0" b="0" i="0">
                <a:solidFill>
                  <a:srgbClr val="2A3540"/>
                </a:solidFill>
                <a:latin typeface="Segoe UI"/>
              </a:rPr>
              <a:t>Auto-zoom resamples by GSD, recovering all but 3.6% of the coarse-input penalty.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80 whole tiles, 11,983,760 pixels, 3,090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the test split is untouched until the very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56967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6220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309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838569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6039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550658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72487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8262746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84576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974836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96665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686925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608754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10399013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32084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1111103" y="6236208"/>
            <a:ext cx="71208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measured, not proposed.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 in. No GPU, no network.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Every dependency free and open.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us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SOCIALLY USEFUL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Planning, disaster and forestry use height.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2084831"/>
          </a:xfrm>
          <a:prstGeom prst="roundRect">
            <a:avLst>
              <a:gd name="adj" fmla="val 438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2" name="Picture 17431" descr="terra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" y="2267712"/>
            <a:ext cx="3182112" cy="1520359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3785616" y="2286000"/>
            <a:ext cx="2011679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40" b="1" i="0">
                <a:solidFill>
                  <a:srgbClr val="141B22"/>
                </a:solidFill>
                <a:latin typeface="Segoe UI Semibold"/>
              </a:rPr>
              <a:t>Three of four classes sit under 3.4 m</a:t>
            </a:r>
            <a:r>
              <a:rPr sz="940" b="0" i="0">
                <a:solidFill>
                  <a:srgbClr val="2A3540"/>
                </a:solidFill>
                <a:latin typeface="Segoe UI"/>
              </a:rPr>
              <a:t>, and correlation never drops below +0.58. The fourth is the honest problem, and it is one specific thing.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65760" y="435254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URBAN 13.86 M, DECOMPOSED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4718304"/>
            <a:ext cx="5577840" cy="1810512"/>
          </a:xfrm>
          <a:prstGeom prst="roundRect">
            <a:avLst>
              <a:gd name="adj" fmla="val 50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6" name="Picture 17435" descr="error_by_he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" y="4901184"/>
            <a:ext cx="3054096" cy="1216771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3657600" y="4809744"/>
            <a:ext cx="2139696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40" b="1" i="0">
                <a:solidFill>
                  <a:srgbClr val="C1440E"/>
                </a:solidFill>
                <a:latin typeface="Segoe UI Semibold"/>
              </a:rPr>
              <a:t>79% of squared error comes from 1.9% of buildings.</a:t>
            </a:r>
            <a:r>
              <a:rPr sz="940" b="0" i="0">
                <a:solidFill>
                  <a:srgbClr val="2A3540"/>
                </a:solidFill>
                <a:latin typeface="Segoe UI"/>
              </a:rPr>
              <a:t>  Under 10 m — 94% of the stock — we are at 1.4 m. Urban RMSE is 60 tall buildings dominating a squared metric.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TWO REAL RISKS, AND WHAT ANSWERS THEM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272784" y="2212848"/>
            <a:ext cx="5550407" cy="365760"/>
          </a:xfrm>
          <a:prstGeom prst="roundRect">
            <a:avLst>
              <a:gd name="adj" fmla="val 125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Oval 17439"/>
          <p:cNvSpPr/>
          <p:nvPr/>
        </p:nvSpPr>
        <p:spPr>
          <a:xfrm>
            <a:off x="6391656" y="2258568"/>
            <a:ext cx="274320" cy="274320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1" name="Picture 17440" descr="triangle-ale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7492" y="2324404"/>
            <a:ext cx="142646" cy="142646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6766560" y="2295144"/>
            <a:ext cx="49286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Segoe UI Semibold"/>
              </a:rPr>
              <a:t>No Indian ground truth exists to validate against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510528" y="2633472"/>
            <a:ext cx="5312664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6510528" y="2688336"/>
            <a:ext cx="64008" cy="78638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6729984" y="2724912"/>
            <a:ext cx="496519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Our only Indian check is Sikkim against Google Open Buildings: bias −6.94 m on 168 footprints. That is model-vs-model agreement, not accuracy, and we report it as such. No public Indian scene carries LiDAR truth.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272784" y="3639312"/>
            <a:ext cx="5550407" cy="365760"/>
          </a:xfrm>
          <a:prstGeom prst="roundRect">
            <a:avLst>
              <a:gd name="adj" fmla="val 125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7" name="Oval 17446"/>
          <p:cNvSpPr/>
          <p:nvPr/>
        </p:nvSpPr>
        <p:spPr>
          <a:xfrm>
            <a:off x="6391656" y="3685031"/>
            <a:ext cx="274320" cy="274320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8" name="Picture 17447" descr="triangle-ale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7492" y="3750868"/>
            <a:ext cx="142646" cy="142646"/>
          </a:xfrm>
          <a:prstGeom prst="rect">
            <a:avLst/>
          </a:prstGeom>
        </p:spPr>
      </p:pic>
      <p:sp>
        <p:nvSpPr>
          <p:cNvPr id="17449" name="TextBox 17448"/>
          <p:cNvSpPr txBox="1"/>
          <p:nvPr/>
        </p:nvSpPr>
        <p:spPr>
          <a:xfrm>
            <a:off x="6766560" y="3721608"/>
            <a:ext cx="49286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6510528" y="4059936"/>
            <a:ext cx="5312664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1" name="Rectangle 17450"/>
          <p:cNvSpPr/>
          <p:nvPr/>
        </p:nvSpPr>
        <p:spPr>
          <a:xfrm>
            <a:off x="6510528" y="4114800"/>
            <a:ext cx="64008" cy="78638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729984" y="4151376"/>
            <a:ext cx="496519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A data problem, not an architecture one: training tops out at 82.8 m while validation reaches 155.3 m. Answered by a power-law control-point fit that cuts tall-tile RMSE 24.9%, and structurally by adding tall-building LiDAR.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6272784" y="513892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WHAT REDUCES THE INDIAN-DOMAIN RISK BEFORE WE HAVE THE DATA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6327648" y="5486400"/>
            <a:ext cx="5440679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40" b="1" i="0">
                <a:solidFill>
                  <a:srgbClr val="141B22"/>
                </a:solidFill>
                <a:latin typeface="Segoe UI Semibold"/>
              </a:rPr>
              <a:t>Resolution  </a:t>
            </a:r>
            <a:r>
              <a:rPr sz="940" b="0" i="0">
                <a:solidFill>
                  <a:srgbClr val="2A3540"/>
                </a:solidFill>
                <a:latin typeface="Segoe UI"/>
              </a:rPr>
              <a:t>auto-zoom normalises GSD; measured to recover all but 3.6%.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40" b="1" i="0">
                <a:solidFill>
                  <a:srgbClr val="141B22"/>
                </a:solidFill>
                <a:latin typeface="Segoe UI Semibold"/>
              </a:rPr>
              <a:t>Look angle  </a:t>
            </a:r>
            <a:r>
              <a:rPr sz="940" b="0" i="0">
                <a:solidFill>
                  <a:srgbClr val="2A3540"/>
                </a:solidFill>
                <a:latin typeface="Segoe UI"/>
              </a:rPr>
              <a:t>off-nadir spans 4.8 to 28.9 degrees in DFC, so degradation is measurable on data we hold.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40" b="1" i="0">
                <a:solidFill>
                  <a:srgbClr val="141B22"/>
                </a:solidFill>
                <a:latin typeface="Segoe UI Semibold"/>
              </a:rPr>
              <a:t>Terrain  </a:t>
            </a:r>
            <a:r>
              <a:rPr sz="940" b="0" i="0">
                <a:solidFill>
                  <a:srgbClr val="2A3540"/>
                </a:solidFill>
                <a:latin typeface="Segoe UI"/>
              </a:rPr>
              <a:t>leakage ruled out — on 31-degree slopes, height-vs-slope correlation is −0.044.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40" b="1" i="0">
                <a:solidFill>
                  <a:srgbClr val="141B22"/>
                </a:solidFill>
                <a:latin typeface="Segoe UI Semibold"/>
              </a:rPr>
              <a:t>Licensing  </a:t>
            </a:r>
            <a:r>
              <a:rPr sz="940" b="0" i="0">
                <a:solidFill>
                  <a:srgbClr val="2A3540"/>
                </a:solidFill>
                <a:latin typeface="Segoe UI"/>
              </a:rPr>
              <a:t>every dependency is free and open, so nothing blocks deployment on ISRO imagery.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8978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897880" cy="4133087"/>
          </a:xfrm>
          <a:prstGeom prst="roundRect">
            <a:avLst>
              <a:gd name="adj" fmla="val 2212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cxnSp>
        <p:nvCxnSpPr>
          <p:cNvPr id="17412" name="Connector 17411"/>
          <p:cNvCxnSpPr/>
          <p:nvPr/>
        </p:nvCxnSpPr>
        <p:spPr>
          <a:xfrm flipH="1" flipV="1">
            <a:off x="1911095" y="2075688"/>
            <a:ext cx="1403605" cy="1033272"/>
          </a:xfrm>
          <a:prstGeom prst="line">
            <a:avLst/>
          </a:prstGeom>
          <a:ln w="12700">
            <a:solidFill>
              <a:srgbClr val="7FB0C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 flipV="1">
            <a:off x="3314700" y="2075688"/>
            <a:ext cx="1403604" cy="1033272"/>
          </a:xfrm>
          <a:prstGeom prst="line">
            <a:avLst/>
          </a:prstGeom>
          <a:ln w="12700">
            <a:solidFill>
              <a:srgbClr val="7FB0C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 flipH="1">
            <a:off x="1911095" y="3108960"/>
            <a:ext cx="1403605" cy="978408"/>
          </a:xfrm>
          <a:prstGeom prst="line">
            <a:avLst/>
          </a:prstGeom>
          <a:ln w="12700">
            <a:solidFill>
              <a:srgbClr val="7FB0C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3314700" y="3108960"/>
            <a:ext cx="1403604" cy="978408"/>
          </a:xfrm>
          <a:prstGeom prst="line">
            <a:avLst/>
          </a:prstGeom>
          <a:ln w="12700">
            <a:solidFill>
              <a:srgbClr val="7FB0C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6" name="Connector 17415"/>
          <p:cNvCxnSpPr/>
          <p:nvPr/>
        </p:nvCxnSpPr>
        <p:spPr>
          <a:xfrm flipH="1">
            <a:off x="3310128" y="3108960"/>
            <a:ext cx="4572" cy="1947672"/>
          </a:xfrm>
          <a:prstGeom prst="line">
            <a:avLst/>
          </a:prstGeom>
          <a:ln w="12700">
            <a:solidFill>
              <a:srgbClr val="7FB0C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640080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Rounded Rectangle 17417"/>
          <p:cNvSpPr/>
          <p:nvPr/>
        </p:nvSpPr>
        <p:spPr>
          <a:xfrm>
            <a:off x="640080" y="1627632"/>
            <a:ext cx="2542032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FFFFFF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667511" y="1609344"/>
            <a:ext cx="310896" cy="310896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0" name="Picture 17419" descr="satell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27" y="1683959"/>
            <a:ext cx="161665" cy="161665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49808" y="1993392"/>
            <a:ext cx="23225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Height from single-view Cartosat archives, no new acquisition.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447288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3" name="Rounded Rectangle 17422"/>
          <p:cNvSpPr/>
          <p:nvPr/>
        </p:nvSpPr>
        <p:spPr>
          <a:xfrm>
            <a:off x="3447288" y="1627632"/>
            <a:ext cx="2542032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FFFFFF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3474720" y="1609344"/>
            <a:ext cx="310896" cy="310896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5" name="Picture 17424" descr="building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9335" y="1683959"/>
            <a:ext cx="161665" cy="161665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3557016" y="1993392"/>
            <a:ext cx="23225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Building heights for FSI checks and shadow studies under AMRUT.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40080" y="363931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640080" y="3639312"/>
            <a:ext cx="2542032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FFFFFF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667511" y="3621024"/>
            <a:ext cx="310896" cy="310896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0" name="Picture 17429" descr="sir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27" y="3695639"/>
            <a:ext cx="161665" cy="161665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49808" y="4005072"/>
            <a:ext cx="23225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Post-event surface models where a stereo pair cannot be waited for.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447288" y="363931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Rounded Rectangle 17432"/>
          <p:cNvSpPr/>
          <p:nvPr/>
        </p:nvSpPr>
        <p:spPr>
          <a:xfrm>
            <a:off x="3447288" y="3639312"/>
            <a:ext cx="2542032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FFFFFF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3474720" y="3621024"/>
            <a:ext cx="310896" cy="310896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5" name="Picture 17434" descr="lea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9335" y="3695639"/>
            <a:ext cx="161665" cy="161665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3557016" y="4005072"/>
            <a:ext cx="23225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Canopy height proxies for biomass and encroachment monitoring.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039112" y="460857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Rounded Rectangle 17437"/>
          <p:cNvSpPr/>
          <p:nvPr/>
        </p:nvSpPr>
        <p:spPr>
          <a:xfrm>
            <a:off x="2039112" y="4608576"/>
            <a:ext cx="2542032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02336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FFFFFF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2066544" y="4590288"/>
            <a:ext cx="310896" cy="310896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0" name="Picture 17439" descr="radio-tow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1159" y="4664903"/>
            <a:ext cx="161665" cy="161665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2148840" y="4974336"/>
            <a:ext cx="23225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2A3540"/>
                </a:solidFill>
                <a:latin typeface="Segoe UI"/>
              </a:rPr>
              <a:t>Line-of-sight and tower siting without a costly LiDAR survey.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2756916" y="2551176"/>
            <a:ext cx="1115568" cy="1115568"/>
          </a:xfrm>
          <a:prstGeom prst="roundRect">
            <a:avLst>
              <a:gd name="adj" fmla="val 50000"/>
            </a:avLst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2839212" y="2633472"/>
            <a:ext cx="950976" cy="95097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2839212" y="2871215"/>
            <a:ext cx="950976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"/>
              </a:rPr>
              <a:t>DEPTH
</a:t>
            </a:r>
            <a:r>
              <a:rPr sz="1250" b="0" i="0">
                <a:solidFill>
                  <a:srgbClr val="D89E3C"/>
                </a:solidFill>
                <a:latin typeface="Franklin Gothic Demi"/>
              </a:rPr>
              <a:t>WIZARD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492240" y="1115568"/>
            <a:ext cx="533095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KEY BENEFITS</a:t>
            </a:r>
          </a:p>
        </p:txBody>
      </p:sp>
      <p:sp>
        <p:nvSpPr>
          <p:cNvPr id="17446" name="Pentagon 17445"/>
          <p:cNvSpPr/>
          <p:nvPr/>
        </p:nvSpPr>
        <p:spPr>
          <a:xfrm>
            <a:off x="6492240" y="1554480"/>
            <a:ext cx="5330952" cy="621792"/>
          </a:xfrm>
          <a:prstGeom prst="homePlate">
            <a:avLst>
              <a:gd name="adj" fmla="val 816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3776" rIns="310896" tIns="0" bIns="0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Segoe UI"/>
              </a:rPr>
              <a:t>One image replaces a stereo pair — no revisit wait.</a:t>
            </a:r>
          </a:p>
        </p:txBody>
      </p:sp>
      <p:sp>
        <p:nvSpPr>
          <p:cNvPr id="17447" name="Oval 17446"/>
          <p:cNvSpPr/>
          <p:nvPr/>
        </p:nvSpPr>
        <p:spPr>
          <a:xfrm>
            <a:off x="6580022" y="1678838"/>
            <a:ext cx="373075" cy="373075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8" name="Picture 17447" descr="image-u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9560" y="1768376"/>
            <a:ext cx="193999" cy="193999"/>
          </a:xfrm>
          <a:prstGeom prst="rect">
            <a:avLst/>
          </a:prstGeom>
        </p:spPr>
      </p:pic>
      <p:sp>
        <p:nvSpPr>
          <p:cNvPr id="17449" name="Pentagon 17448"/>
          <p:cNvSpPr/>
          <p:nvPr/>
        </p:nvSpPr>
        <p:spPr>
          <a:xfrm>
            <a:off x="6492240" y="2249424"/>
            <a:ext cx="5330952" cy="621792"/>
          </a:xfrm>
          <a:prstGeom prst="homePlate">
            <a:avLst>
              <a:gd name="adj" fmla="val 816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3776" rIns="310896" tIns="0" bIns="0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Segoe UI"/>
              </a:rPr>
              <a:t>No GPU procurement: 36.8 MB runs on a field laptop.</a:t>
            </a:r>
          </a:p>
        </p:txBody>
      </p:sp>
      <p:sp>
        <p:nvSpPr>
          <p:cNvPr id="17450" name="Oval 17449"/>
          <p:cNvSpPr/>
          <p:nvPr/>
        </p:nvSpPr>
        <p:spPr>
          <a:xfrm>
            <a:off x="6580022" y="2373782"/>
            <a:ext cx="373075" cy="373075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p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69560" y="2463320"/>
            <a:ext cx="193999" cy="193999"/>
          </a:xfrm>
          <a:prstGeom prst="rect">
            <a:avLst/>
          </a:prstGeom>
        </p:spPr>
      </p:pic>
      <p:sp>
        <p:nvSpPr>
          <p:cNvPr id="17452" name="Pentagon 17451"/>
          <p:cNvSpPr/>
          <p:nvPr/>
        </p:nvSpPr>
        <p:spPr>
          <a:xfrm>
            <a:off x="6492240" y="2944368"/>
            <a:ext cx="5330952" cy="621792"/>
          </a:xfrm>
          <a:prstGeom prst="homePlate">
            <a:avLst>
              <a:gd name="adj" fmla="val 816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3776" rIns="310896" tIns="0" bIns="0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Segoe UI"/>
              </a:rPr>
              <a:t>Decades of existing archive gain a new product.</a:t>
            </a:r>
          </a:p>
        </p:txBody>
      </p:sp>
      <p:sp>
        <p:nvSpPr>
          <p:cNvPr id="17453" name="Oval 17452"/>
          <p:cNvSpPr/>
          <p:nvPr/>
        </p:nvSpPr>
        <p:spPr>
          <a:xfrm>
            <a:off x="6580022" y="3068726"/>
            <a:ext cx="373075" cy="373075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lay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9560" y="3158264"/>
            <a:ext cx="193999" cy="193999"/>
          </a:xfrm>
          <a:prstGeom prst="rect">
            <a:avLst/>
          </a:prstGeom>
        </p:spPr>
      </p:pic>
      <p:sp>
        <p:nvSpPr>
          <p:cNvPr id="17455" name="Pentagon 17454"/>
          <p:cNvSpPr/>
          <p:nvPr/>
        </p:nvSpPr>
        <p:spPr>
          <a:xfrm>
            <a:off x="6492240" y="3639312"/>
            <a:ext cx="5330952" cy="621792"/>
          </a:xfrm>
          <a:prstGeom prst="homePlate">
            <a:avLst>
              <a:gd name="adj" fmla="val 816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3776" rIns="310896" tIns="0" bIns="0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Segoe UI"/>
              </a:rPr>
              <a:t>Municipal bodies get heights with no survey budget.</a:t>
            </a:r>
          </a:p>
        </p:txBody>
      </p:sp>
      <p:sp>
        <p:nvSpPr>
          <p:cNvPr id="17456" name="Oval 17455"/>
          <p:cNvSpPr/>
          <p:nvPr/>
        </p:nvSpPr>
        <p:spPr>
          <a:xfrm>
            <a:off x="6580022" y="3763670"/>
            <a:ext cx="373075" cy="373075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building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9560" y="3853208"/>
            <a:ext cx="193999" cy="193999"/>
          </a:xfrm>
          <a:prstGeom prst="rect">
            <a:avLst/>
          </a:prstGeom>
        </p:spPr>
      </p:pic>
      <p:sp>
        <p:nvSpPr>
          <p:cNvPr id="17458" name="Pentagon 17457"/>
          <p:cNvSpPr/>
          <p:nvPr/>
        </p:nvSpPr>
        <p:spPr>
          <a:xfrm>
            <a:off x="6492240" y="4334256"/>
            <a:ext cx="5330952" cy="621792"/>
          </a:xfrm>
          <a:prstGeom prst="homePlate">
            <a:avLst>
              <a:gd name="adj" fmla="val 816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3776" rIns="310896" tIns="0" bIns="0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Segoe UI"/>
              </a:rPr>
              <a:t>Disaster teams get a surface model in minutes.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6580022" y="4458614"/>
            <a:ext cx="373075" cy="373075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0" name="Picture 17459" descr="sir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9560" y="4548152"/>
            <a:ext cx="193999" cy="193999"/>
          </a:xfrm>
          <a:prstGeom prst="rect">
            <a:avLst/>
          </a:prstGeom>
        </p:spPr>
      </p:pic>
      <p:sp>
        <p:nvSpPr>
          <p:cNvPr id="17461" name="Pentagon 17460"/>
          <p:cNvSpPr/>
          <p:nvPr/>
        </p:nvSpPr>
        <p:spPr>
          <a:xfrm>
            <a:off x="6492240" y="5029200"/>
            <a:ext cx="5330952" cy="621792"/>
          </a:xfrm>
          <a:prstGeom prst="homePlate">
            <a:avLst>
              <a:gd name="adj" fmla="val 816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3776" rIns="310896" tIns="0" bIns="0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Segoe UI"/>
              </a:rPr>
              <a:t>Free and open — adoptable by any state agency.</a:t>
            </a:r>
          </a:p>
        </p:txBody>
      </p:sp>
      <p:sp>
        <p:nvSpPr>
          <p:cNvPr id="17462" name="Oval 17461"/>
          <p:cNvSpPr/>
          <p:nvPr/>
        </p:nvSpPr>
        <p:spPr>
          <a:xfrm>
            <a:off x="6580022" y="5153558"/>
            <a:ext cx="373075" cy="373075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indian-rupe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9560" y="5243096"/>
            <a:ext cx="193999" cy="193999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365760" y="5724144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512064" y="580644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512064" y="6144768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needed, not a stereo pair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3257550" y="5724144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3403854" y="580644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GPUs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3403854" y="6144768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509 ms per tile on a laptop CPU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49340" y="5724144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TextBox 17470"/>
          <p:cNvSpPr txBox="1"/>
          <p:nvPr/>
        </p:nvSpPr>
        <p:spPr>
          <a:xfrm>
            <a:off x="6295644" y="580644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36.8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MB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295644" y="6144768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the whole model, quantised, offline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9041130" y="5724144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9187434" y="580644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4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terrains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9187434" y="6144768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scored separately, never averaged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365760" y="6400800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 i="0">
                <a:solidFill>
                  <a:srgbClr val="141B22"/>
                </a:solidFill>
                <a:latin typeface="Segoe UI Semibold"/>
              </a:rPr>
              <a:t>Every one of these runs on imagery that has already been flown and already been paid for.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  The cost avoided is the second acquisition, not the first.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28600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36192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75104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414016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Ouaknine et al.,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852928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291840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Prior single-view height — our baseline for the field.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91363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279392"/>
            <a:ext cx="3639312" cy="228600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334255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773167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5212079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650992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ISRO Bhoonidhi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Registered. CartoDEM 30 m and LISS-4 are the free tiers.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6089903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481328"/>
            <a:ext cx="3639312" cy="228600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4315968" y="1536192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315968" y="1975104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Oracle shadows reach r 0.503; the net reaches 0.787.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2414016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852928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3291840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206240" y="391363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4279392"/>
            <a:ext cx="3639312" cy="228600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4315968" y="4334255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More tall examples? No — training tops out at 82.8 m.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315968" y="4773167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5212079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5650992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05 Eval resolution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Cartosat-class input costs 3.6% after auto-zoom.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6089903"/>
            <a:ext cx="341985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Measured: ours = 0.473 × truth + 2.66 m.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8046720" y="1929384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8138160" y="1975103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783897" y="1929384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6" name="Picture 17445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11679"/>
            <a:ext cx="146304" cy="146304"/>
          </a:xfrm>
          <a:prstGeom prst="rect">
            <a:avLst/>
          </a:prstGeom>
        </p:spPr>
      </p:pic>
      <p:sp>
        <p:nvSpPr>
          <p:cNvPr id="17447" name="Rounded Rectangle 17446"/>
          <p:cNvSpPr/>
          <p:nvPr/>
        </p:nvSpPr>
        <p:spPr>
          <a:xfrm>
            <a:off x="10463662" y="1929384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8" name="Picture 1744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11679"/>
            <a:ext cx="146304" cy="146304"/>
          </a:xfrm>
          <a:prstGeom prst="rect">
            <a:avLst/>
          </a:prstGeom>
        </p:spPr>
      </p:pic>
      <p:sp>
        <p:nvSpPr>
          <p:cNvPr id="17449" name="Rounded Rectangle 17448"/>
          <p:cNvSpPr/>
          <p:nvPr/>
        </p:nvSpPr>
        <p:spPr>
          <a:xfrm>
            <a:off x="11143427" y="1929384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0" name="Picture 1744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97963"/>
            <a:ext cx="173736" cy="173736"/>
          </a:xfrm>
          <a:prstGeom prst="rect">
            <a:avLst/>
          </a:prstGeom>
        </p:spPr>
      </p:pic>
      <p:sp>
        <p:nvSpPr>
          <p:cNvPr id="17451" name="Rounded Rectangle 17450"/>
          <p:cNvSpPr/>
          <p:nvPr/>
        </p:nvSpPr>
        <p:spPr>
          <a:xfrm>
            <a:off x="8046720" y="2276856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8138160" y="2322575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9783897" y="2276856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59151"/>
            <a:ext cx="146304" cy="146304"/>
          </a:xfrm>
          <a:prstGeom prst="rect">
            <a:avLst/>
          </a:prstGeom>
        </p:spPr>
      </p:pic>
      <p:sp>
        <p:nvSpPr>
          <p:cNvPr id="17455" name="Rounded Rectangle 17454"/>
          <p:cNvSpPr/>
          <p:nvPr/>
        </p:nvSpPr>
        <p:spPr>
          <a:xfrm>
            <a:off x="10463662" y="2276856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6" name="Picture 17455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59151"/>
            <a:ext cx="146304" cy="146304"/>
          </a:xfrm>
          <a:prstGeom prst="rect">
            <a:avLst/>
          </a:prstGeom>
        </p:spPr>
      </p:pic>
      <p:sp>
        <p:nvSpPr>
          <p:cNvPr id="17457" name="Rounded Rectangle 17456"/>
          <p:cNvSpPr/>
          <p:nvPr/>
        </p:nvSpPr>
        <p:spPr>
          <a:xfrm>
            <a:off x="11143427" y="2276856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8" name="Picture 1745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45435"/>
            <a:ext cx="173736" cy="173736"/>
          </a:xfrm>
          <a:prstGeom prst="rect">
            <a:avLst/>
          </a:prstGeom>
        </p:spPr>
      </p:pic>
      <p:sp>
        <p:nvSpPr>
          <p:cNvPr id="17459" name="Rounded Rectangle 17458"/>
          <p:cNvSpPr/>
          <p:nvPr/>
        </p:nvSpPr>
        <p:spPr>
          <a:xfrm>
            <a:off x="8046720" y="2624327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8138160" y="2670047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783897" y="2624327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706623"/>
            <a:ext cx="146304" cy="146304"/>
          </a:xfrm>
          <a:prstGeom prst="rect">
            <a:avLst/>
          </a:prstGeom>
        </p:spPr>
      </p:pic>
      <p:sp>
        <p:nvSpPr>
          <p:cNvPr id="17463" name="Rounded Rectangle 17462"/>
          <p:cNvSpPr/>
          <p:nvPr/>
        </p:nvSpPr>
        <p:spPr>
          <a:xfrm>
            <a:off x="10463662" y="2624327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4" name="Picture 1746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706623"/>
            <a:ext cx="146304" cy="146304"/>
          </a:xfrm>
          <a:prstGeom prst="rect">
            <a:avLst/>
          </a:prstGeom>
        </p:spPr>
      </p:pic>
      <p:sp>
        <p:nvSpPr>
          <p:cNvPr id="17465" name="Rounded Rectangle 17464"/>
          <p:cNvSpPr/>
          <p:nvPr/>
        </p:nvSpPr>
        <p:spPr>
          <a:xfrm>
            <a:off x="11143427" y="2624327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6" name="Picture 17465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92907"/>
            <a:ext cx="173736" cy="173736"/>
          </a:xfrm>
          <a:prstGeom prst="rect">
            <a:avLst/>
          </a:prstGeom>
        </p:spPr>
      </p:pic>
      <p:sp>
        <p:nvSpPr>
          <p:cNvPr id="17467" name="Rounded Rectangle 17466"/>
          <p:cNvSpPr/>
          <p:nvPr/>
        </p:nvSpPr>
        <p:spPr>
          <a:xfrm>
            <a:off x="8046720" y="2971799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8138160" y="3017519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9783897" y="2971799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0" name="Picture 17469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054095"/>
            <a:ext cx="146304" cy="146304"/>
          </a:xfrm>
          <a:prstGeom prst="rect">
            <a:avLst/>
          </a:prstGeom>
        </p:spPr>
      </p:pic>
      <p:sp>
        <p:nvSpPr>
          <p:cNvPr id="17471" name="Rounded Rectangle 17470"/>
          <p:cNvSpPr/>
          <p:nvPr/>
        </p:nvSpPr>
        <p:spPr>
          <a:xfrm>
            <a:off x="10463662" y="2971799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2" name="Picture 17471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054095"/>
            <a:ext cx="146304" cy="146304"/>
          </a:xfrm>
          <a:prstGeom prst="rect">
            <a:avLst/>
          </a:prstGeom>
        </p:spPr>
      </p:pic>
      <p:sp>
        <p:nvSpPr>
          <p:cNvPr id="17473" name="Rounded Rectangle 17472"/>
          <p:cNvSpPr/>
          <p:nvPr/>
        </p:nvSpPr>
        <p:spPr>
          <a:xfrm>
            <a:off x="11143427" y="2971799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040379"/>
            <a:ext cx="173736" cy="173736"/>
          </a:xfrm>
          <a:prstGeom prst="rect">
            <a:avLst/>
          </a:prstGeom>
        </p:spPr>
      </p:pic>
      <p:sp>
        <p:nvSpPr>
          <p:cNvPr id="17475" name="Rounded Rectangle 17474"/>
          <p:cNvSpPr/>
          <p:nvPr/>
        </p:nvSpPr>
        <p:spPr>
          <a:xfrm>
            <a:off x="8046720" y="3319271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8138160" y="3364991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9783897" y="3319271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8" name="Picture 17477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401567"/>
            <a:ext cx="146304" cy="146304"/>
          </a:xfrm>
          <a:prstGeom prst="rect">
            <a:avLst/>
          </a:prstGeom>
        </p:spPr>
      </p:pic>
      <p:sp>
        <p:nvSpPr>
          <p:cNvPr id="17479" name="Rounded Rectangle 17478"/>
          <p:cNvSpPr/>
          <p:nvPr/>
        </p:nvSpPr>
        <p:spPr>
          <a:xfrm>
            <a:off x="10463662" y="3319271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0" name="Picture 17479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401567"/>
            <a:ext cx="146304" cy="146304"/>
          </a:xfrm>
          <a:prstGeom prst="rect">
            <a:avLst/>
          </a:prstGeom>
        </p:spPr>
      </p:pic>
      <p:sp>
        <p:nvSpPr>
          <p:cNvPr id="17481" name="Rounded Rectangle 17480"/>
          <p:cNvSpPr/>
          <p:nvPr/>
        </p:nvSpPr>
        <p:spPr>
          <a:xfrm>
            <a:off x="11143427" y="3319271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2" name="Picture 1748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87851"/>
            <a:ext cx="173736" cy="173736"/>
          </a:xfrm>
          <a:prstGeom prst="rect">
            <a:avLst/>
          </a:prstGeom>
        </p:spPr>
      </p:pic>
      <p:sp>
        <p:nvSpPr>
          <p:cNvPr id="17483" name="Rounded Rectangle 17482"/>
          <p:cNvSpPr/>
          <p:nvPr/>
        </p:nvSpPr>
        <p:spPr>
          <a:xfrm>
            <a:off x="8046720" y="3666744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4" name="TextBox 17483"/>
          <p:cNvSpPr txBox="1"/>
          <p:nvPr/>
        </p:nvSpPr>
        <p:spPr>
          <a:xfrm>
            <a:off x="8138160" y="3712463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5" name="Rounded Rectangle 17484"/>
          <p:cNvSpPr/>
          <p:nvPr/>
        </p:nvSpPr>
        <p:spPr>
          <a:xfrm>
            <a:off x="9783897" y="3666744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6" name="Picture 17485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749039"/>
            <a:ext cx="146304" cy="146304"/>
          </a:xfrm>
          <a:prstGeom prst="rect">
            <a:avLst/>
          </a:prstGeom>
        </p:spPr>
      </p:pic>
      <p:sp>
        <p:nvSpPr>
          <p:cNvPr id="17487" name="Rounded Rectangle 17486"/>
          <p:cNvSpPr/>
          <p:nvPr/>
        </p:nvSpPr>
        <p:spPr>
          <a:xfrm>
            <a:off x="10463662" y="3666744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8" name="Picture 17487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749039"/>
            <a:ext cx="146304" cy="146304"/>
          </a:xfrm>
          <a:prstGeom prst="rect">
            <a:avLst/>
          </a:prstGeom>
        </p:spPr>
      </p:pic>
      <p:sp>
        <p:nvSpPr>
          <p:cNvPr id="17489" name="Rounded Rectangle 17488"/>
          <p:cNvSpPr/>
          <p:nvPr/>
        </p:nvSpPr>
        <p:spPr>
          <a:xfrm>
            <a:off x="11143427" y="3666744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0" name="Picture 1748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735324"/>
            <a:ext cx="173736" cy="173736"/>
          </a:xfrm>
          <a:prstGeom prst="rect">
            <a:avLst/>
          </a:prstGeom>
        </p:spPr>
      </p:pic>
      <p:sp>
        <p:nvSpPr>
          <p:cNvPr id="17491" name="Rounded Rectangle 17490"/>
          <p:cNvSpPr/>
          <p:nvPr/>
        </p:nvSpPr>
        <p:spPr>
          <a:xfrm>
            <a:off x="8046720" y="4014215"/>
            <a:ext cx="1700601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8138160" y="4059935"/>
            <a:ext cx="151772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9783897" y="4014215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4" name="Picture 17493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4096511"/>
            <a:ext cx="146304" cy="146304"/>
          </a:xfrm>
          <a:prstGeom prst="rect">
            <a:avLst/>
          </a:prstGeom>
        </p:spPr>
      </p:pic>
      <p:sp>
        <p:nvSpPr>
          <p:cNvPr id="17495" name="Rounded Rectangle 17494"/>
          <p:cNvSpPr/>
          <p:nvPr/>
        </p:nvSpPr>
        <p:spPr>
          <a:xfrm>
            <a:off x="10463662" y="4014215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6" name="Picture 17495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4096511"/>
            <a:ext cx="146304" cy="146304"/>
          </a:xfrm>
          <a:prstGeom prst="rect">
            <a:avLst/>
          </a:prstGeom>
        </p:spPr>
      </p:pic>
      <p:sp>
        <p:nvSpPr>
          <p:cNvPr id="17497" name="Rounded Rectangle 17496"/>
          <p:cNvSpPr/>
          <p:nvPr/>
        </p:nvSpPr>
        <p:spPr>
          <a:xfrm>
            <a:off x="11143427" y="4014215"/>
            <a:ext cx="643188" cy="310896"/>
          </a:xfrm>
          <a:prstGeom prst="roundRect">
            <a:avLst>
              <a:gd name="adj" fmla="val 1176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8" name="Picture 1749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4082796"/>
            <a:ext cx="173736" cy="173736"/>
          </a:xfrm>
          <a:prstGeom prst="rect">
            <a:avLst/>
          </a:prstGeom>
        </p:spPr>
      </p:pic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421124"/>
            <a:ext cx="155448" cy="155448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8284464" y="4407407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1" name="Picture 1750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421124"/>
            <a:ext cx="155448" cy="155448"/>
          </a:xfrm>
          <a:prstGeom prst="rect">
            <a:avLst/>
          </a:prstGeom>
        </p:spPr>
      </p:pic>
      <p:sp>
        <p:nvSpPr>
          <p:cNvPr id="17502" name="TextBox 17501"/>
          <p:cNvSpPr txBox="1"/>
          <p:nvPr/>
        </p:nvSpPr>
        <p:spPr>
          <a:xfrm>
            <a:off x="8829446" y="4407407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3" name="Picture 1750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421124"/>
            <a:ext cx="155448" cy="155448"/>
          </a:xfrm>
          <a:prstGeom prst="rect">
            <a:avLst/>
          </a:prstGeom>
        </p:spPr>
      </p:pic>
      <p:sp>
        <p:nvSpPr>
          <p:cNvPr id="17504" name="TextBox 17503"/>
          <p:cNvSpPr txBox="1"/>
          <p:nvPr/>
        </p:nvSpPr>
        <p:spPr>
          <a:xfrm>
            <a:off x="9564624" y="4407407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8101584" y="4663440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6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6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6" name="Rounded Rectangle 17505"/>
          <p:cNvSpPr/>
          <p:nvPr/>
        </p:nvSpPr>
        <p:spPr>
          <a:xfrm>
            <a:off x="8046720" y="5065775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BAR WE ARE MEASURED AGAINST</a:t>
            </a:r>
          </a:p>
        </p:txBody>
      </p:sp>
      <p:sp>
        <p:nvSpPr>
          <p:cNvPr id="17507" name="TextBox 17506"/>
          <p:cNvSpPr txBox="1"/>
          <p:nvPr/>
        </p:nvSpPr>
        <p:spPr>
          <a:xfrm>
            <a:off x="8101584" y="5413248"/>
            <a:ext cx="2569463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C1440E"/>
                </a:solidFill>
                <a:latin typeface="Franklin Gothic Demi"/>
              </a:rPr>
              <a:t>3.667 m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  per-building RMSE against airborne LiDAR, versus 5.9 m published for Asia. Scored on 3,090 buildings across 80 held-out tiles.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10890504" y="5413248"/>
            <a:ext cx="932688" cy="932688"/>
          </a:xfrm>
          <a:prstGeom prst="roundRect">
            <a:avLst>
              <a:gd name="adj" fmla="val 4901"/>
            </a:avLst>
          </a:prstGeom>
          <a:solidFill>
            <a:srgbClr val="ECF1F5"/>
          </a:solidFill>
          <a:ln w="12700">
            <a:solidFill>
              <a:srgbClr val="55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10890504" y="5724144"/>
            <a:ext cx="9326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55636E"/>
                </a:solidFill>
                <a:latin typeface="Franklin Gothic Demi Cond"/>
              </a:rPr>
              <a:t>PITCH
VIDEO
QR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